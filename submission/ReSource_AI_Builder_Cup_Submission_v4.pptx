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jpeg" ContentType="image/jpeg"/>
  <Default Extension="bin" ContentType="image/webp"/>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0cba05953d24148" /><Relationship Type="http://schemas.openxmlformats.org/officeDocument/2006/relationships/extended-properties" Target="/docProps/app.xml" Id="R20128ba15330412b" /><Relationship Type="http://schemas.openxmlformats.org/officeDocument/2006/relationships/officeDocument" Target="/ppt/presentation.xml" Id="R692559af771e4f47"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a64880346d2f443a"/>
  </p:sldMasterIdLst>
  <p:notesMasterIdLst>
    <p:notesMasterId xmlns:r="http://schemas.openxmlformats.org/officeDocument/2006/relationships" r:id="Rdecaf797990a4b10"/>
  </p:notesMasterIdLst>
  <p:sldIdLst>
    <p:sldId xmlns:r="http://schemas.openxmlformats.org/officeDocument/2006/relationships" id="256" r:id="R25cc449004774824"/>
    <p:sldId xmlns:r="http://schemas.openxmlformats.org/officeDocument/2006/relationships" id="257" r:id="R2f1df4ca8c2d44c7"/>
    <p:sldId xmlns:r="http://schemas.openxmlformats.org/officeDocument/2006/relationships" id="258" r:id="R928704342a494267"/>
    <p:sldId xmlns:r="http://schemas.openxmlformats.org/officeDocument/2006/relationships" id="259" r:id="R6f6e2e45b9ca4232"/>
    <p:sldId xmlns:r="http://schemas.openxmlformats.org/officeDocument/2006/relationships" id="260" r:id="Re4f192c605cc4641"/>
    <p:sldId xmlns:r="http://schemas.openxmlformats.org/officeDocument/2006/relationships" id="261" r:id="R2c5131560d554422"/>
    <p:sldId xmlns:r="http://schemas.openxmlformats.org/officeDocument/2006/relationships" id="262" r:id="Rb0b56824fe1c4634"/>
    <p:sldId xmlns:r="http://schemas.openxmlformats.org/officeDocument/2006/relationships" id="263" r:id="R8127129f5d2441ee"/>
    <p:sldId xmlns:r="http://schemas.openxmlformats.org/officeDocument/2006/relationships" id="264" r:id="R35f932ab2f9b401d"/>
    <p:sldId xmlns:r="http://schemas.openxmlformats.org/officeDocument/2006/relationships" id="265" r:id="Re697d139557a43df"/>
    <p:sldId xmlns:r="http://schemas.openxmlformats.org/officeDocument/2006/relationships" id="266" r:id="Rbddb1cce54ca4931"/>
    <p:sldId xmlns:r="http://schemas.openxmlformats.org/officeDocument/2006/relationships" id="267" r:id="Re646fae59879490c"/>
    <p:sldId xmlns:r="http://schemas.openxmlformats.org/officeDocument/2006/relationships" id="268" r:id="R96eed6245bb947d8"/>
    <p:sldId xmlns:r="http://schemas.openxmlformats.org/officeDocument/2006/relationships" id="269" r:id="R68365db9f6a94a5f"/>
    <p:sldId xmlns:r="http://schemas.openxmlformats.org/officeDocument/2006/relationships" id="270" r:id="R095996bad4694081"/>
    <p:sldId xmlns:r="http://schemas.openxmlformats.org/officeDocument/2006/relationships" id="271" r:id="Rfe080181a2b34933"/>
  </p:sldIdLst>
  <p:sldSz cx="9144000" cy="5143500"/>
  <p:notesSz cx="6858000" cy="9144000"/>
  <p:embeddedFontLst>
    <p:embeddedFont>
      <p:font typeface="Google Sans Flex Medium"/>
      <p:regular xmlns:r="http://schemas.openxmlformats.org/officeDocument/2006/relationships" r:id="R59fa3d9762454ad4"/>
      <p:bold xmlns:r="http://schemas.openxmlformats.org/officeDocument/2006/relationships" r:id="R7423293efa784ce5"/>
    </p:embeddedFont>
    <p:embeddedFont>
      <p:font typeface="Google Sans Flex"/>
      <p:regular xmlns:r="http://schemas.openxmlformats.org/officeDocument/2006/relationships" r:id="Rdb041526eeaf4a6d"/>
      <p:bold xmlns:r="http://schemas.openxmlformats.org/officeDocument/2006/relationships" r:id="Rbcefad02bf4944a9"/>
    </p:embeddedFont>
    <p:embeddedFont>
      <p:font typeface="Google Sans Flex SemiBold"/>
      <p:regular xmlns:r="http://schemas.openxmlformats.org/officeDocument/2006/relationships" r:id="R6463f0f18e0546ca"/>
      <p:bold xmlns:r="http://schemas.openxmlformats.org/officeDocument/2006/relationships" r:id="R4560671adc304cb4"/>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2a92bc1c28034f93" /><Relationship Type="http://schemas.openxmlformats.org/officeDocument/2006/relationships/slideMaster" Target="/ppt/slideMasters/slideMaster1.xml" Id="Ra64880346d2f443a" /><Relationship Type="http://schemas.openxmlformats.org/officeDocument/2006/relationships/notesMaster" Target="/ppt/notesMasters/notesMaster1.xml" Id="Rdecaf797990a4b10" /><Relationship Type="http://schemas.openxmlformats.org/officeDocument/2006/relationships/presProps" Target="/ppt/presProps.xml" Id="R47e862574ccc47d6" /><Relationship Type="http://schemas.openxmlformats.org/officeDocument/2006/relationships/viewProps" Target="/ppt/viewProps.xml" Id="Ref7c2c2a83054828" /><Relationship Type="http://schemas.openxmlformats.org/officeDocument/2006/relationships/tableStyles" Target="/ppt/tableStyles.xml" Id="Rd44ff721b0e846f8" /><Relationship Type="http://schemas.openxmlformats.org/officeDocument/2006/relationships/font" Target="/ppt/fonts/font.dat" Id="R59fa3d9762454ad4" /><Relationship Type="http://schemas.openxmlformats.org/officeDocument/2006/relationships/font" Target="/ppt/fonts/font2.dat" Id="R7423293efa784ce5" /><Relationship Type="http://schemas.openxmlformats.org/officeDocument/2006/relationships/font" Target="/ppt/fonts/font3.dat" Id="Rdb041526eeaf4a6d" /><Relationship Type="http://schemas.openxmlformats.org/officeDocument/2006/relationships/font" Target="/ppt/fonts/font4.dat" Id="Rbcefad02bf4944a9" /><Relationship Type="http://schemas.openxmlformats.org/officeDocument/2006/relationships/font" Target="/ppt/fonts/font5.dat" Id="R6463f0f18e0546ca" /><Relationship Type="http://schemas.openxmlformats.org/officeDocument/2006/relationships/font" Target="/ppt/fonts/font6.dat" Id="R4560671adc304cb4" /><Relationship Type="http://schemas.openxmlformats.org/officeDocument/2006/relationships/slide" Target="/ppt/slides/slide1.xml" Id="R25cc449004774824" /><Relationship Type="http://schemas.openxmlformats.org/officeDocument/2006/relationships/slide" Target="/ppt/slides/slide2.xml" Id="R2f1df4ca8c2d44c7" /><Relationship Type="http://schemas.openxmlformats.org/officeDocument/2006/relationships/slide" Target="/ppt/slides/slide3.xml" Id="R928704342a494267" /><Relationship Type="http://schemas.openxmlformats.org/officeDocument/2006/relationships/slide" Target="/ppt/slides/slide4.xml" Id="R6f6e2e45b9ca4232" /><Relationship Type="http://schemas.openxmlformats.org/officeDocument/2006/relationships/slide" Target="/ppt/slides/slide5.xml" Id="Re4f192c605cc4641" /><Relationship Type="http://schemas.openxmlformats.org/officeDocument/2006/relationships/slide" Target="/ppt/slides/slide6.xml" Id="R2c5131560d554422" /><Relationship Type="http://schemas.openxmlformats.org/officeDocument/2006/relationships/slide" Target="/ppt/slides/slide7.xml" Id="Rb0b56824fe1c4634" /><Relationship Type="http://schemas.openxmlformats.org/officeDocument/2006/relationships/slide" Target="/ppt/slides/slide8.xml" Id="R8127129f5d2441ee" /><Relationship Type="http://schemas.openxmlformats.org/officeDocument/2006/relationships/slide" Target="/ppt/slides/slide9.xml" Id="R35f932ab2f9b401d" /><Relationship Type="http://schemas.openxmlformats.org/officeDocument/2006/relationships/slide" Target="/ppt/slides/slide10.xml" Id="Re697d139557a43df" /><Relationship Type="http://schemas.openxmlformats.org/officeDocument/2006/relationships/slide" Target="/ppt/slides/slide11.xml" Id="Rbddb1cce54ca4931" /><Relationship Type="http://schemas.openxmlformats.org/officeDocument/2006/relationships/slide" Target="/ppt/slides/slide12.xml" Id="Re646fae59879490c" /><Relationship Type="http://schemas.openxmlformats.org/officeDocument/2006/relationships/slide" Target="/ppt/slides/slide13.xml" Id="R96eed6245bb947d8" /><Relationship Type="http://schemas.openxmlformats.org/officeDocument/2006/relationships/slide" Target="/ppt/slides/slide14.xml" Id="R68365db9f6a94a5f" /><Relationship Type="http://schemas.openxmlformats.org/officeDocument/2006/relationships/slide" Target="/ppt/slides/slide15.xml" Id="R095996bad4694081" /><Relationship Type="http://schemas.openxmlformats.org/officeDocument/2006/relationships/slide" Target="/ppt/slides/slide16.xml" Id="Rfe080181a2b3493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5a4c28860446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d3e110e07944485" /><Relationship Type="http://schemas.openxmlformats.org/officeDocument/2006/relationships/notesMaster" Target="/ppt/notesMasters/notesMaster1.xml" Id="Rece06b30ec5b4494" /></Relationships>
</file>

<file path=ppt/notesSlides/_rels/notesSlide2.xml.rels>&#65279;<?xml version="1.0" encoding="utf-8"?><Relationships xmlns="http://schemas.openxmlformats.org/package/2006/relationships"><Relationship Type="http://schemas.openxmlformats.org/officeDocument/2006/relationships/slide" Target="/ppt/slides/slide2.xml" Id="R9b5e9d3655994ab2" /><Relationship Type="http://schemas.openxmlformats.org/officeDocument/2006/relationships/notesMaster" Target="/ppt/notesMasters/notesMaster1.xml" Id="Rcf11bde58f944cb9" /></Relationships>
</file>

<file path=ppt/notesSlides/_rels/notesSlide3.xml.rels>&#65279;<?xml version="1.0" encoding="utf-8"?><Relationships xmlns="http://schemas.openxmlformats.org/package/2006/relationships"><Relationship Type="http://schemas.openxmlformats.org/officeDocument/2006/relationships/slide" Target="/ppt/slides/slide3.xml" Id="R27621d7027214ff1" /><Relationship Type="http://schemas.openxmlformats.org/officeDocument/2006/relationships/notesMaster" Target="/ppt/notesMasters/notesMaster1.xml" Id="R46bf1f2fcdc6432d" /></Relationships>
</file>

<file path=ppt/notesSlides/_rels/notesSlide4.xml.rels>&#65279;<?xml version="1.0" encoding="utf-8"?><Relationships xmlns="http://schemas.openxmlformats.org/package/2006/relationships"><Relationship Type="http://schemas.openxmlformats.org/officeDocument/2006/relationships/slide" Target="/ppt/slides/slide4.xml" Id="R64144897caf447fd" /><Relationship Type="http://schemas.openxmlformats.org/officeDocument/2006/relationships/notesMaster" Target="/ppt/notesMasters/notesMaster1.xml" Id="R8968e5dc34664b8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6384b4968f0402c" /><Relationship Type="http://schemas.openxmlformats.org/officeDocument/2006/relationships/notesMaster" Target="/ppt/notesMasters/notesMaster1.xml" Id="R7e963b8998264da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a03f78a502547a5" /><Relationship Type="http://schemas.openxmlformats.org/officeDocument/2006/relationships/notesMaster" Target="/ppt/notesMasters/notesMaster1.xml" Id="R0b7c57655a9a4766" /></Relationships>
</file>

<file path=ppt/notesSlides/_rels/notesSlide7.xml.rels>&#65279;<?xml version="1.0" encoding="utf-8"?><Relationships xmlns="http://schemas.openxmlformats.org/package/2006/relationships"><Relationship Type="http://schemas.openxmlformats.org/officeDocument/2006/relationships/slide" Target="/ppt/slides/slide7.xml" Id="Rebe66ce9fed54820" /><Relationship Type="http://schemas.openxmlformats.org/officeDocument/2006/relationships/notesMaster" Target="/ppt/notesMasters/notesMaster1.xml" Id="Re804530842f64fa1" /></Relationships>
</file>

<file path=ppt/notesSlides/_rels/notesSlide8.xml.rels>&#65279;<?xml version="1.0" encoding="utf-8"?><Relationships xmlns="http://schemas.openxmlformats.org/package/2006/relationships"><Relationship Type="http://schemas.openxmlformats.org/officeDocument/2006/relationships/slide" Target="/ppt/slides/slide8.xml" Id="Rd2e34e8330e04468" /><Relationship Type="http://schemas.openxmlformats.org/officeDocument/2006/relationships/notesMaster" Target="/ppt/notesMasters/notesMaster1.xml" Id="R837141082c2d46f2" /></Relationships>
</file>

<file path=ppt/notesSlides/_rels/notesSlide9.xml.rels>&#65279;<?xml version="1.0" encoding="utf-8"?><Relationships xmlns="http://schemas.openxmlformats.org/package/2006/relationships"><Relationship Type="http://schemas.openxmlformats.org/officeDocument/2006/relationships/slide" Target="/ppt/slides/slide9.xml" Id="Rdfd59df68ae14731" /><Relationship Type="http://schemas.openxmlformats.org/officeDocument/2006/relationships/notesMaster" Target="/ppt/notesMasters/notesMaster1.xml" Id="R17439a4aac404bb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1f70a12a0ae415f" /><Relationship Type="http://schemas.openxmlformats.org/officeDocument/2006/relationships/notesMaster" Target="/ppt/notesMasters/notesMaster1.xml" Id="Reb47700f0e9640a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46b0622bc544efc" /><Relationship Type="http://schemas.openxmlformats.org/officeDocument/2006/relationships/notesMaster" Target="/ppt/notesMasters/notesMaster1.xml" Id="R10c21058321549f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bb8e63247724328" /><Relationship Type="http://schemas.openxmlformats.org/officeDocument/2006/relationships/notesMaster" Target="/ppt/notesMasters/notesMaster1.xml" Id="R338c3faed103496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581a60315bc4875" /><Relationship Type="http://schemas.openxmlformats.org/officeDocument/2006/relationships/notesMaster" Target="/ppt/notesMasters/notesMaster1.xml" Id="Ra5171191c59347a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94f384c2add4773" /><Relationship Type="http://schemas.openxmlformats.org/officeDocument/2006/relationships/notesMaster" Target="/ppt/notesMasters/notesMaster1.xml" Id="R09a2c9dc792544b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865a78e02e84426" /><Relationship Type="http://schemas.openxmlformats.org/officeDocument/2006/relationships/notesMaster" Target="/ppt/notesMasters/notesMaster1.xml" Id="R50d0eeb54a3749c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32609e0157149a8" /><Relationship Type="http://schemas.openxmlformats.org/officeDocument/2006/relationships/notesMaster" Target="/ppt/notesMasters/notesMaster1.xml" Id="R785fdade386648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Team details were confirmed from the supplied event-dashboard screenshot. Product framing: RESOURCE_PLAN.md and COMPETITION_STRATEGY.md.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Original template instruction page retained.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 COMPETITION_STRATEGY.md, RESOURCE_PLAN.md and BRAND_GUIDELINES.md. Brand artwork is a project asset supplied by the team.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COMPETITION_STRATEGY.md. The deck avoids unsupported claims about market leadership or competitor performance.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Implemented prototype behavior and current limitations: PRODUCT.md, DESIGN.md and resource-app/README.md. Live Gemini and Firebase persistence remain planned work.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RESOURCE_PLAN.md and COMPETITION_STRATEGY.md. The scenario is a proposed demonstration, not a measured user study.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Product direction supplied by the team. The editable mock diagrams show chat, dashboard and mobile-first interface modes.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Current deployment uses Cloud Run with an Express server that serves the Vite app and securely proxies Gemini requests. Firebase Authentication initializes from runtime configuration. Firestore, rewards and partner handoff tracking require final verification.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 resource-app/package.json, RESOURCE_PLAN.md and UI_UX_NOTES.md. Google services remain the proposed deployment stack until public deployment is verified.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RESOURCE_PLAN.md. ₹0 is a target based on the proposed unbilled architecture, not a guarantee of availability or quota.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 image: demo/resource_agent_demo.webp, a project-owned prototype screenshot.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Verified items come from resource-app/README.md and DESIGN.md. Unmeasured benchmark plans come from SUBMISSION_CHECKLIST.md and the submission workbook.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 RESOURCE_PLAN.md and PRODUCT.md. Future items are deliberately separated from current prototype capability.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GitHub and deployed product URLs were supplied by the team. The video link still needs to be added before submission.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 COMPETITION_STRATEGY.md, RESOURCE_PLAN.md and DESIGN.md. Live Gemini integration remains pending at the time this deck was authored.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Original template thank-you slide retained.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a8b0ecd12f4ca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ad6886c066f404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68fb0116c78477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f78080d1f8a46a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1c614bf01704c7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81c84e55cd4441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0c27313b4a64a5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fce7515da3f48c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905d8d367b35436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eb9c60dd3952410e"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e3957d937e443de"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890231FC-E72D-4D98-820C-97031CE05EC8}"/>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11" name="Google Shape;11;p2">
            <a:extLst xmlns:a="http://schemas.openxmlformats.org/drawingml/2006/main">
              <a:ext uri="{FF2B5EF4-FFF2-40B4-BE49-F238E27FC236}">
                <a16:creationId xmlns:a16="http://schemas.microsoft.com/office/drawing/2014/main" id="{FB8EF064-E477-4B94-8518-ED62BCFD5004}"/>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064A1138-1B93-4B29-AC29-DCBFB8846CC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3">
            <a:extLst xmlns:a="http://schemas.openxmlformats.org/drawingml/2006/main">
              <a:ext uri="{FF2B5EF4-FFF2-40B4-BE49-F238E27FC236}">
                <a16:creationId xmlns:a16="http://schemas.microsoft.com/office/drawing/2014/main" id="{42D034B7-546B-447F-AF28-16F45DEFB2F2}"/>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15" name="Google Shape;15;p3">
            <a:extLst xmlns:a="http://schemas.openxmlformats.org/drawingml/2006/main">
              <a:ext uri="{FF2B5EF4-FFF2-40B4-BE49-F238E27FC236}">
                <a16:creationId xmlns:a16="http://schemas.microsoft.com/office/drawing/2014/main" id="{66A1919D-CA3C-4517-A810-6104CD94871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7" name="Google Shape;17;p4">
            <a:extLst xmlns:a="http://schemas.openxmlformats.org/drawingml/2006/main">
              <a:ext uri="{FF2B5EF4-FFF2-40B4-BE49-F238E27FC236}">
                <a16:creationId xmlns:a16="http://schemas.microsoft.com/office/drawing/2014/main" id="{2462EFA6-61D3-47B0-8770-055E73DAEF55}"/>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18" name="Google Shape;18;p4">
            <a:extLst xmlns:a="http://schemas.openxmlformats.org/drawingml/2006/main">
              <a:ext uri="{FF2B5EF4-FFF2-40B4-BE49-F238E27FC236}">
                <a16:creationId xmlns:a16="http://schemas.microsoft.com/office/drawing/2014/main" id="{E8B6642B-CAD0-4000-A670-DACC57215DED}"/>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19" name="Google Shape;19;p4">
            <a:extLst xmlns:a="http://schemas.openxmlformats.org/drawingml/2006/main">
              <a:ext uri="{FF2B5EF4-FFF2-40B4-BE49-F238E27FC236}">
                <a16:creationId xmlns:a16="http://schemas.microsoft.com/office/drawing/2014/main" id="{0A68F492-1D88-4964-96C5-2EDE2A1AD0D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5">
            <a:extLst xmlns:a="http://schemas.openxmlformats.org/drawingml/2006/main">
              <a:ext uri="{FF2B5EF4-FFF2-40B4-BE49-F238E27FC236}">
                <a16:creationId xmlns:a16="http://schemas.microsoft.com/office/drawing/2014/main" id="{8FA37FC3-1704-46F6-B179-1D39B985EFDB}"/>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2" name="Google Shape;22;p5">
            <a:extLst xmlns:a="http://schemas.openxmlformats.org/drawingml/2006/main">
              <a:ext uri="{FF2B5EF4-FFF2-40B4-BE49-F238E27FC236}">
                <a16:creationId xmlns:a16="http://schemas.microsoft.com/office/drawing/2014/main" id="{7B9D20F7-AA60-42AD-95B4-4B228E374EBA}"/>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3" name="Google Shape;23;p5">
            <a:extLst xmlns:a="http://schemas.openxmlformats.org/drawingml/2006/main">
              <a:ext uri="{FF2B5EF4-FFF2-40B4-BE49-F238E27FC236}">
                <a16:creationId xmlns:a16="http://schemas.microsoft.com/office/drawing/2014/main" id="{B76E5CA0-DBE1-49BD-9261-7CD1F74C3758}"/>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4" name="Google Shape;24;p5">
            <a:extLst xmlns:a="http://schemas.openxmlformats.org/drawingml/2006/main">
              <a:ext uri="{FF2B5EF4-FFF2-40B4-BE49-F238E27FC236}">
                <a16:creationId xmlns:a16="http://schemas.microsoft.com/office/drawing/2014/main" id="{731463AD-EAF1-4D87-B08C-B606CE1B1EB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6">
            <a:extLst xmlns:a="http://schemas.openxmlformats.org/drawingml/2006/main">
              <a:ext uri="{FF2B5EF4-FFF2-40B4-BE49-F238E27FC236}">
                <a16:creationId xmlns:a16="http://schemas.microsoft.com/office/drawing/2014/main" id="{65D65272-F99A-47E5-B70F-52B0247D6E23}"/>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7" name="Google Shape;27;p6">
            <a:extLst xmlns:a="http://schemas.openxmlformats.org/drawingml/2006/main">
              <a:ext uri="{FF2B5EF4-FFF2-40B4-BE49-F238E27FC236}">
                <a16:creationId xmlns:a16="http://schemas.microsoft.com/office/drawing/2014/main" id="{7738B0F8-0BA8-4D0A-B2A7-9A369D4F45D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7">
            <a:extLst xmlns:a="http://schemas.openxmlformats.org/drawingml/2006/main">
              <a:ext uri="{FF2B5EF4-FFF2-40B4-BE49-F238E27FC236}">
                <a16:creationId xmlns:a16="http://schemas.microsoft.com/office/drawing/2014/main" id="{2E8BEEAE-DFFA-4EEA-AA98-0657AB65A5D7}"/>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p:txBody>
      </p:sp>
      <p:sp>
        <p:nvSpPr>
          <p:cNvPr id="30" name="Google Shape;30;p7">
            <a:extLst xmlns:a="http://schemas.openxmlformats.org/drawingml/2006/main">
              <a:ext uri="{FF2B5EF4-FFF2-40B4-BE49-F238E27FC236}">
                <a16:creationId xmlns:a16="http://schemas.microsoft.com/office/drawing/2014/main" id="{BF1D7BAF-E25C-483A-BB19-D24DF4BE426D}"/>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31" name="Google Shape;31;p7">
            <a:extLst xmlns:a="http://schemas.openxmlformats.org/drawingml/2006/main">
              <a:ext uri="{FF2B5EF4-FFF2-40B4-BE49-F238E27FC236}">
                <a16:creationId xmlns:a16="http://schemas.microsoft.com/office/drawing/2014/main" id="{EDB25AA1-550A-4694-9298-95470074DE3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8">
            <a:extLst xmlns:a="http://schemas.openxmlformats.org/drawingml/2006/main">
              <a:ext uri="{FF2B5EF4-FFF2-40B4-BE49-F238E27FC236}">
                <a16:creationId xmlns:a16="http://schemas.microsoft.com/office/drawing/2014/main" id="{224B5936-6927-4C70-93DD-00DB04A55793}"/>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p:txBody>
      </p:sp>
      <p:sp>
        <p:nvSpPr>
          <p:cNvPr id="34" name="Google Shape;34;p8">
            <a:extLst xmlns:a="http://schemas.openxmlformats.org/drawingml/2006/main">
              <a:ext uri="{FF2B5EF4-FFF2-40B4-BE49-F238E27FC236}">
                <a16:creationId xmlns:a16="http://schemas.microsoft.com/office/drawing/2014/main" id="{BD845FFB-64E6-4488-ADF2-DA3792B7651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9">
            <a:extLst xmlns:a="http://schemas.openxmlformats.org/drawingml/2006/main">
              <a:ext uri="{FF2B5EF4-FFF2-40B4-BE49-F238E27FC236}">
                <a16:creationId xmlns:a16="http://schemas.microsoft.com/office/drawing/2014/main" id="{A5A7BCE1-899B-4EC3-BCDB-9D642FBA6240}"/>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 name="Google Shape;37;p9">
            <a:extLst xmlns:a="http://schemas.openxmlformats.org/drawingml/2006/main">
              <a:ext uri="{FF2B5EF4-FFF2-40B4-BE49-F238E27FC236}">
                <a16:creationId xmlns:a16="http://schemas.microsoft.com/office/drawing/2014/main" id="{1B94C5ED-537C-4EDE-A1E3-22E7D15A4EEA}"/>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p:txBody>
      </p:sp>
      <p:sp>
        <p:nvSpPr>
          <p:cNvPr id="38" name="Google Shape;38;p9">
            <a:extLst xmlns:a="http://schemas.openxmlformats.org/drawingml/2006/main">
              <a:ext uri="{FF2B5EF4-FFF2-40B4-BE49-F238E27FC236}">
                <a16:creationId xmlns:a16="http://schemas.microsoft.com/office/drawing/2014/main" id="{7F773F1D-1378-4919-94DA-C3EB52A12470}"/>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39" name="Google Shape;39;p9">
            <a:extLst xmlns:a="http://schemas.openxmlformats.org/drawingml/2006/main">
              <a:ext uri="{FF2B5EF4-FFF2-40B4-BE49-F238E27FC236}">
                <a16:creationId xmlns:a16="http://schemas.microsoft.com/office/drawing/2014/main" id="{C6D9A027-95C3-45E7-8483-89D2A22A0646}"/>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40" name="Google Shape;40;p9">
            <a:extLst xmlns:a="http://schemas.openxmlformats.org/drawingml/2006/main">
              <a:ext uri="{FF2B5EF4-FFF2-40B4-BE49-F238E27FC236}">
                <a16:creationId xmlns:a16="http://schemas.microsoft.com/office/drawing/2014/main" id="{08437995-D800-4E86-8B78-3668B9BADDF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10">
            <a:extLst xmlns:a="http://schemas.openxmlformats.org/drawingml/2006/main">
              <a:ext uri="{FF2B5EF4-FFF2-40B4-BE49-F238E27FC236}">
                <a16:creationId xmlns:a16="http://schemas.microsoft.com/office/drawing/2014/main" id="{CCE86087-BF58-4F11-85A0-22E5B09CE7DA}"/>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p:txBody>
      </p:sp>
      <p:sp>
        <p:nvSpPr>
          <p:cNvPr id="43" name="Google Shape;43;p10">
            <a:extLst xmlns:a="http://schemas.openxmlformats.org/drawingml/2006/main">
              <a:ext uri="{FF2B5EF4-FFF2-40B4-BE49-F238E27FC236}">
                <a16:creationId xmlns:a16="http://schemas.microsoft.com/office/drawing/2014/main" id="{DC6FC7CF-EB06-4634-9764-3AC52872E116}"/>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5" name="Google Shape;45;p11">
            <a:extLst xmlns:a="http://schemas.openxmlformats.org/drawingml/2006/main">
              <a:ext uri="{FF2B5EF4-FFF2-40B4-BE49-F238E27FC236}">
                <a16:creationId xmlns:a16="http://schemas.microsoft.com/office/drawing/2014/main" id="{CA9AA246-8A72-4B67-919A-5B18E8502F8C}"/>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46" name="Google Shape;46;p11">
            <a:extLst xmlns:a="http://schemas.openxmlformats.org/drawingml/2006/main">
              <a:ext uri="{FF2B5EF4-FFF2-40B4-BE49-F238E27FC236}">
                <a16:creationId xmlns:a16="http://schemas.microsoft.com/office/drawing/2014/main" id="{2DC5C2EF-70C5-40C7-96E8-3CE9D3E1F3C5}"/>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xmlns:a="http://schemas.openxmlformats.org/drawingml/2006/main"/>
        </p:txBody>
      </p:sp>
      <p:sp>
        <p:nvSpPr>
          <p:cNvPr id="47" name="Google Shape;47;p11">
            <a:extLst xmlns:a="http://schemas.openxmlformats.org/drawingml/2006/main">
              <a:ext uri="{FF2B5EF4-FFF2-40B4-BE49-F238E27FC236}">
                <a16:creationId xmlns:a16="http://schemas.microsoft.com/office/drawing/2014/main" id="{054F09C5-0BDD-4005-8649-B363155804C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9" name="Google Shape;49;p12">
            <a:extLst xmlns:a="http://schemas.openxmlformats.org/drawingml/2006/main">
              <a:ext uri="{FF2B5EF4-FFF2-40B4-BE49-F238E27FC236}">
                <a16:creationId xmlns:a16="http://schemas.microsoft.com/office/drawing/2014/main" id="{BDD709D4-76D9-4D33-ABF1-7E290B44FB0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365ff12e384e41" /><Relationship Type="http://schemas.openxmlformats.org/officeDocument/2006/relationships/slideLayout" Target="/ppt/slideLayouts/slideLayout1.xml" Id="R04f992cb940842a5" /><Relationship Type="http://schemas.openxmlformats.org/officeDocument/2006/relationships/slideLayout" Target="/ppt/slideLayouts/slideLayout2.xml" Id="Ra763441ac32346a4" /><Relationship Type="http://schemas.openxmlformats.org/officeDocument/2006/relationships/slideLayout" Target="/ppt/slideLayouts/slideLayout3.xml" Id="Rafd0f21a481646a5" /><Relationship Type="http://schemas.openxmlformats.org/officeDocument/2006/relationships/slideLayout" Target="/ppt/slideLayouts/slideLayout4.xml" Id="R512c27d8a69f40f3" /><Relationship Type="http://schemas.openxmlformats.org/officeDocument/2006/relationships/slideLayout" Target="/ppt/slideLayouts/slideLayout5.xml" Id="R349336a4a35d4711" /><Relationship Type="http://schemas.openxmlformats.org/officeDocument/2006/relationships/slideLayout" Target="/ppt/slideLayouts/slideLayout6.xml" Id="R66eb57a6d09040b6" /><Relationship Type="http://schemas.openxmlformats.org/officeDocument/2006/relationships/slideLayout" Target="/ppt/slideLayouts/slideLayout7.xml" Id="R81c48a2b4b584f8b" /><Relationship Type="http://schemas.openxmlformats.org/officeDocument/2006/relationships/slideLayout" Target="/ppt/slideLayouts/slideLayout8.xml" Id="R5b301863fad340d4" /><Relationship Type="http://schemas.openxmlformats.org/officeDocument/2006/relationships/slideLayout" Target="/ppt/slideLayouts/slideLayout9.xml" Id="Rba900f0952f44aa9" /><Relationship Type="http://schemas.openxmlformats.org/officeDocument/2006/relationships/slideLayout" Target="/ppt/slideLayouts/slideLayout10.xml" Id="Raa94dbfdf68449cc" /><Relationship Type="http://schemas.openxmlformats.org/officeDocument/2006/relationships/slideLayout" Target="/ppt/slideLayouts/slideLayout11.xml" Id="R0766ba8af5f64ad4"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4B4A1233-DEAF-45EB-9C52-CC34502DD8F9}"/>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956B853C-25D1-450B-9498-8B3A1A3B1461}"/>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7851B0EA-470C-4938-AE8D-2B8CC9AC787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04f992cb940842a5"/>
    <p:sldLayoutId xmlns:r="http://schemas.openxmlformats.org/officeDocument/2006/relationships" id="2147483650" r:id="Ra763441ac32346a4"/>
    <p:sldLayoutId xmlns:r="http://schemas.openxmlformats.org/officeDocument/2006/relationships" id="2147483651" r:id="Rafd0f21a481646a5"/>
    <p:sldLayoutId xmlns:r="http://schemas.openxmlformats.org/officeDocument/2006/relationships" id="2147483652" r:id="R512c27d8a69f40f3"/>
    <p:sldLayoutId xmlns:r="http://schemas.openxmlformats.org/officeDocument/2006/relationships" id="2147483653" r:id="R349336a4a35d4711"/>
    <p:sldLayoutId xmlns:r="http://schemas.openxmlformats.org/officeDocument/2006/relationships" id="2147483654" r:id="R66eb57a6d09040b6"/>
    <p:sldLayoutId xmlns:r="http://schemas.openxmlformats.org/officeDocument/2006/relationships" id="2147483655" r:id="R81c48a2b4b584f8b"/>
    <p:sldLayoutId xmlns:r="http://schemas.openxmlformats.org/officeDocument/2006/relationships" id="2147483656" r:id="R5b301863fad340d4"/>
    <p:sldLayoutId xmlns:r="http://schemas.openxmlformats.org/officeDocument/2006/relationships" id="2147483657" r:id="Rba900f0952f44aa9"/>
    <p:sldLayoutId xmlns:r="http://schemas.openxmlformats.org/officeDocument/2006/relationships" id="2147483658" r:id="Raa94dbfdf68449cc"/>
    <p:sldLayoutId xmlns:r="http://schemas.openxmlformats.org/officeDocument/2006/relationships" id="2147483659" r:id="R0766ba8af5f64ad4"/>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bf477d6bc3e4822" /><Relationship Type="http://schemas.openxmlformats.org/officeDocument/2006/relationships/image" Target="/ppt/media/image.png" Id="Re976fc01a2a3448e" /><Relationship Type="http://schemas.openxmlformats.org/officeDocument/2006/relationships/image" Target="/ppt/media/image2.png" Id="R0d760595c3474e70" /><Relationship Type="http://schemas.openxmlformats.org/officeDocument/2006/relationships/notesSlide" Target="/ppt/notesSlides/notesSlide1.xml" Id="Rf5c26cb8ecdc44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9175abc0ad54b9f" /><Relationship Type="http://schemas.openxmlformats.org/officeDocument/2006/relationships/image" Target="/ppt/media/image2.png" Id="Re8353107d7314328" /><Relationship Type="http://schemas.openxmlformats.org/officeDocument/2006/relationships/image" Target="/ppt/media/image3.png" Id="R4d30f9d6081d47bc" /><Relationship Type="http://schemas.openxmlformats.org/officeDocument/2006/relationships/notesSlide" Target="/ppt/notesSlides/notesSlide2.xml" Id="R24c7aff69c874c7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8593b71c1de4b63" /><Relationship Type="http://schemas.openxmlformats.org/officeDocument/2006/relationships/image" Target="/ppt/media/image4.png" Id="Re38cc433d89f4c0c" /><Relationship Type="http://schemas.openxmlformats.org/officeDocument/2006/relationships/image" Target="/ppt/media/image.jpeg" Id="R5f293026811b4fe9" /><Relationship Type="http://schemas.openxmlformats.org/officeDocument/2006/relationships/notesSlide" Target="/ppt/notesSlides/notesSlide3.xml" Id="R9d88d4485a7146c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6b088654723405b" /><Relationship Type="http://schemas.openxmlformats.org/officeDocument/2006/relationships/image" Target="/ppt/media/image2.png" Id="R479d15895eb64965" /><Relationship Type="http://schemas.openxmlformats.org/officeDocument/2006/relationships/image" Target="/ppt/media/image4.png" Id="R9b3522106c844601" /><Relationship Type="http://schemas.openxmlformats.org/officeDocument/2006/relationships/notesSlide" Target="/ppt/notesSlides/notesSlide4.xml" Id="R32b13b65feaa48f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41a9b8325d94aa9" /><Relationship Type="http://schemas.openxmlformats.org/officeDocument/2006/relationships/image" Target="/ppt/media/image2.png" Id="R2d8685ed69f44611" /><Relationship Type="http://schemas.openxmlformats.org/officeDocument/2006/relationships/image" Target="/ppt/media/image4.png" Id="R58e9753919cc4536" /><Relationship Type="http://schemas.openxmlformats.org/officeDocument/2006/relationships/notesSlide" Target="/ppt/notesSlides/notesSlide5.xml" Id="R2892177d0e6b4fb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d5a6882f35b4337" /><Relationship Type="http://schemas.openxmlformats.org/officeDocument/2006/relationships/image" Target="/ppt/media/image2.png" Id="Rf0236d9ba1c64fa4" /><Relationship Type="http://schemas.openxmlformats.org/officeDocument/2006/relationships/image" Target="/ppt/media/image4.png" Id="R5cb25eede8e4449f" /><Relationship Type="http://schemas.openxmlformats.org/officeDocument/2006/relationships/notesSlide" Target="/ppt/notesSlides/notesSlide6.xml" Id="R0d5bd116133b486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c56466b21eb4d7f" /><Relationship Type="http://schemas.openxmlformats.org/officeDocument/2006/relationships/image" Target="/ppt/media/image2.png" Id="R5e19bcc2680342d6" /><Relationship Type="http://schemas.openxmlformats.org/officeDocument/2006/relationships/image" Target="/ppt/media/image4.png" Id="Refb8f4281ad847c2" /><Relationship Type="http://schemas.openxmlformats.org/officeDocument/2006/relationships/notesSlide" Target="/ppt/notesSlides/notesSlide7.xml" Id="Rf1b3ff60202e4e0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97737103df147ce" /><Relationship Type="http://schemas.openxmlformats.org/officeDocument/2006/relationships/image" Target="/ppt/media/image2.png" Id="R8f56725f25254f7e" /><Relationship Type="http://schemas.openxmlformats.org/officeDocument/2006/relationships/image" Target="/ppt/media/image4.png" Id="R88f26026deee4ce7" /><Relationship Type="http://schemas.openxmlformats.org/officeDocument/2006/relationships/notesSlide" Target="/ppt/notesSlides/notesSlide8.xml" Id="Rb9de50869bc6414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b743b3a6b5f4684" /><Relationship Type="http://schemas.openxmlformats.org/officeDocument/2006/relationships/image" Target="/ppt/media/image2.png" Id="R18cfd7caa08045ad" /><Relationship Type="http://schemas.openxmlformats.org/officeDocument/2006/relationships/image" Target="/ppt/media/image4.png" Id="R78ab7dc6c1474a48" /><Relationship Type="http://schemas.openxmlformats.org/officeDocument/2006/relationships/image" Target="/ppt/media/image5.png" Id="R4ccad7336da14c2f" /><Relationship Type="http://schemas.openxmlformats.org/officeDocument/2006/relationships/notesSlide" Target="/ppt/notesSlides/notesSlide9.xml" Id="R04b2ec45faa64d3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124cd941bce44c7" /><Relationship Type="http://schemas.openxmlformats.org/officeDocument/2006/relationships/image" Target="/ppt/media/image2.png" Id="Rf9e647de3dcb4df0" /><Relationship Type="http://schemas.openxmlformats.org/officeDocument/2006/relationships/image" Target="/ppt/media/image4.png" Id="R30b0079f158d4c8b" /><Relationship Type="http://schemas.openxmlformats.org/officeDocument/2006/relationships/notesSlide" Target="/ppt/notesSlides/notesSlide10.xml" Id="R85bc700b8ae14e9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0d209b6cd5344ab" /><Relationship Type="http://schemas.openxmlformats.org/officeDocument/2006/relationships/image" Target="/ppt/media/image2.png" Id="R09f258d74f854360" /><Relationship Type="http://schemas.openxmlformats.org/officeDocument/2006/relationships/image" Target="/ppt/media/image4.png" Id="R987f97fa850d49f8" /><Relationship Type="http://schemas.openxmlformats.org/officeDocument/2006/relationships/image" Target="/ppt/media/image.bin" Id="Rc9aacae98acd40f6" /><Relationship Type="http://schemas.openxmlformats.org/officeDocument/2006/relationships/notesSlide" Target="/ppt/notesSlides/notesSlide11.xml" Id="R7bb2122dffbc4a2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f609792b36a4feb" /><Relationship Type="http://schemas.openxmlformats.org/officeDocument/2006/relationships/image" Target="/ppt/media/image2.png" Id="R4a0bb9524e4d44d0" /><Relationship Type="http://schemas.openxmlformats.org/officeDocument/2006/relationships/image" Target="/ppt/media/image4.png" Id="Ra380e03b70364136" /><Relationship Type="http://schemas.openxmlformats.org/officeDocument/2006/relationships/notesSlide" Target="/ppt/notesSlides/notesSlide12.xml" Id="Rbfe248587d1d455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d45ccd17ab14e86" /><Relationship Type="http://schemas.openxmlformats.org/officeDocument/2006/relationships/image" Target="/ppt/media/image2.png" Id="Rcd75eae26c664e19" /><Relationship Type="http://schemas.openxmlformats.org/officeDocument/2006/relationships/image" Target="/ppt/media/image4.png" Id="R4c37c4e21eb2432e" /><Relationship Type="http://schemas.openxmlformats.org/officeDocument/2006/relationships/notesSlide" Target="/ppt/notesSlides/notesSlide13.xml" Id="R2805c915e25a4f7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d798852944e47be" /><Relationship Type="http://schemas.openxmlformats.org/officeDocument/2006/relationships/image" Target="/ppt/media/image2.png" Id="Rd310e1f9f2eb41ee" /><Relationship Type="http://schemas.openxmlformats.org/officeDocument/2006/relationships/image" Target="/ppt/media/image4.png" Id="Rf8aa649dec0d4f01" /><Relationship Type="http://schemas.openxmlformats.org/officeDocument/2006/relationships/notesSlide" Target="/ppt/notesSlides/notesSlide14.xml" Id="R391386537eed477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b85edd2f4ad405f" /><Relationship Type="http://schemas.openxmlformats.org/officeDocument/2006/relationships/image" Target="/ppt/media/image2.png" Id="Rd8ddbf839b854e42" /><Relationship Type="http://schemas.openxmlformats.org/officeDocument/2006/relationships/image" Target="/ppt/media/image4.png" Id="R44308a8c76bf4c1d" /><Relationship Type="http://schemas.openxmlformats.org/officeDocument/2006/relationships/notesSlide" Target="/ppt/notesSlides/notesSlide15.xml" Id="Raddbf737cee94cb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059af727c254d5a" /><Relationship Type="http://schemas.openxmlformats.org/officeDocument/2006/relationships/image" Target="/ppt/media/image2.png" Id="R7660900c8df14fcb" /><Relationship Type="http://schemas.openxmlformats.org/officeDocument/2006/relationships/image" Target="/ppt/media/image6.png" Id="R32780d4a21d245c1" /><Relationship Type="http://schemas.openxmlformats.org/officeDocument/2006/relationships/notesSlide" Target="/ppt/notesSlides/notesSlide16.xml" Id="R778c10f4bd05466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4" name="Google Shape;54;p13">
            <a:extLst xmlns:a="http://schemas.openxmlformats.org/drawingml/2006/main">
              <a:ext uri="{FF2B5EF4-FFF2-40B4-BE49-F238E27FC236}">
                <a16:creationId xmlns:a16="http://schemas.microsoft.com/office/drawing/2014/main" id="{0F4CB2A0-289E-49E5-97E3-12DFFFBF523E}"/>
              </a:ext>
            </a:extLst>
          </p:cNvPr>
          <p:cNvSpPr>
            <a:spLocks xmlns:a="http://schemas.openxmlformats.org/drawingml/2006/main" noGrp="1"/>
          </p:cNvSpPr>
          <p:nvPr/>
        </p:nvSpPr>
        <p:spPr>
          <a:xfrm xmlns:a="http://schemas.openxmlformats.org/drawingml/2006/main">
            <a:off x="285750" y="2895600"/>
            <a:ext cx="83820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lgn="l">
              <a:defRPr sz="2100" b="1">
                <a:solidFill>
                  <a:srgbClr val="000000"/>
                </a:solidFill>
              </a:defRPr>
            </a:defPPr>
          </a:lstStyle>
          <a:p xmlns:a="http://schemas.openxmlformats.org/drawingml/2006/main">
            <a:pPr marL="0" lvl="0" indent="0" algn="l">
              <a:spcBef>
                <a:spcPts val="0"/>
              </a:spcBef>
              <a:spcAft>
                <a:spcPts val="0"/>
              </a:spcAft>
              <a:buNone/>
              <a:defRPr sz="2100" b="1">
                <a:solidFill>
                  <a:srgbClr val="000000"/>
                </a:solidFill>
              </a:defRPr>
            </a:pPr>
            <a:r>
              <a:rPr sz="2100" b="1">
                <a:solidFill>
                  <a:srgbClr val="000000"/>
                </a:solidFill>
                <a:latin typeface="Google Sans Flex SemiBold"/>
                <a:ea typeface="Google Sans Flex SemiBold"/>
                <a:cs typeface="Google Sans Flex SemiBold"/>
              </a:rPr>
              <a:t>Team Details</a:t>
            </a:r>
            <a:endParaRPr sz="2100">
              <a:latin typeface="Google Sans Flex SemiBold"/>
              <a:ea typeface="Google Sans Flex SemiBold"/>
              <a:cs typeface="Google Sans Flex SemiBold"/>
            </a:endParaRPr>
          </a:p>
        </p:txBody>
      </p:sp>
      <p:pic>
        <p:nvPicPr>
          <p:cNvPr id="55" name="Google Shape;55;p13">
            <a:extLst xmlns:a="http://schemas.openxmlformats.org/drawingml/2006/main">
              <a:ext uri="{FF2B5EF4-FFF2-40B4-BE49-F238E27FC236}">
                <a16:creationId xmlns:a16="http://schemas.microsoft.com/office/drawing/2014/main" id="{78B2E0D8-74A2-4EE2-8840-2468C96CE7AE}"/>
              </a:ext>
            </a:extLst>
          </p:cNvPr>
          <p:cNvPicPr>
            <a:picLocks xmlns:a="http://schemas.openxmlformats.org/drawingml/2006/main" noChangeAspect="1"/>
          </p:cNvPicPr>
          <p:nvPr/>
        </p:nvPicPr>
        <p:blipFill>
          <a:blip xmlns:r="http://schemas.openxmlformats.org/officeDocument/2006/relationships" xmlns:a="http://schemas.openxmlformats.org/drawingml/2006/main" r:embed="Re976fc01a2a3448e">
            <a:alphaModFix/>
          </a:blip>
          <a:stretch xmlns:a="http://schemas.openxmlformats.org/drawingml/2006/main">
            <a:fillRect l="0" t="0" r="0" b="0"/>
          </a:stretch>
        </p:blipFill>
        <p:spPr>
          <a:xfrm xmlns:a="http://schemas.openxmlformats.org/drawingml/2006/main">
            <a:off x="0" y="-3"/>
            <a:ext cx="9144000" cy="2715526"/>
          </a:xfrm>
          <a:prstGeom xmlns:a="http://schemas.openxmlformats.org/drawingml/2006/main" prst="rect">
            <a:avLst/>
          </a:prstGeom>
          <a:ln xmlns:a="http://schemas.openxmlformats.org/drawingml/2006/main">
            <a:noFill/>
          </a:ln>
        </p:spPr>
      </p:pic>
      <p:pic>
        <p:nvPicPr>
          <p:cNvPr id="56" name="Google Shape;56;p13">
            <a:extLst xmlns:a="http://schemas.openxmlformats.org/drawingml/2006/main">
              <a:ext uri="{FF2B5EF4-FFF2-40B4-BE49-F238E27FC236}">
                <a16:creationId xmlns:a16="http://schemas.microsoft.com/office/drawing/2014/main" id="{4511E885-495C-4CA5-8929-89A6506BC8C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d760595c3474e70">
            <a:alphaModFix/>
          </a:blip>
          <a:srcRect xmlns:a="http://schemas.openxmlformats.org/drawingml/2006/main" l="0" t="0" r="0" b="98001"/>
          <a:stretch xmlns:a="http://schemas.openxmlformats.org/drawingml/2006/main"/>
        </p:blipFill>
        <p:spPr>
          <a:xfrm xmlns:a="http://schemas.openxmlformats.org/drawingml/2006/main">
            <a:off x="0" y="5093562"/>
            <a:ext cx="9144000" cy="54275"/>
          </a:xfrm>
          <a:prstGeom xmlns:a="http://schemas.openxmlformats.org/drawingml/2006/main" prst="rect">
            <a:avLst/>
          </a:prstGeom>
          <a:ln xmlns:a="http://schemas.openxmlformats.org/drawingml/2006/main">
            <a:noFill/>
          </a:ln>
        </p:spPr>
      </p:pic>
      <p:sp>
        <p:nvSpPr>
          <p:cNvPr id="57" name="">
            <a:extLst xmlns:a="http://schemas.openxmlformats.org/drawingml/2006/main">
              <a:ext uri="{FF2B5EF4-FFF2-40B4-BE49-F238E27FC236}">
                <a16:creationId xmlns:a16="http://schemas.microsoft.com/office/drawing/2014/main" id="{E4480A06-7835-4843-A7F2-D1DC433493B2}"/>
              </a:ext>
            </a:extLst>
          </p:cNvPr>
          <p:cNvSpPr>
            <a:spLocks xmlns:a="http://schemas.openxmlformats.org/drawingml/2006/main" noGrp="1"/>
          </p:cNvSpPr>
          <p:nvPr/>
        </p:nvSpPr>
        <p:spPr>
          <a:xfrm xmlns:a="http://schemas.openxmlformats.org/drawingml/2006/main">
            <a:off x="333375" y="3495675"/>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a:solidFill>
                  <a:srgbClr val="586273"/>
                </a:solidFill>
              </a:defRPr>
            </a:defPPr>
          </a:lstStyle>
          <a:p xmlns:a="http://schemas.openxmlformats.org/drawingml/2006/main">
            <a:pPr algn="l">
              <a:defRPr sz="975" b="1">
                <a:solidFill>
                  <a:srgbClr val="586273"/>
                </a:solidFill>
              </a:defRPr>
            </a:pPr>
            <a:r>
              <a:rPr sz="975" b="1">
                <a:solidFill>
                  <a:srgbClr val="586273"/>
                </a:solidFill>
              </a:rPr>
              <a:t>Team name</a:t>
            </a:r>
          </a:p>
        </p:txBody>
      </p:sp>
      <p:sp>
        <p:nvSpPr>
          <p:cNvPr id="58" name="">
            <a:extLst xmlns:a="http://schemas.openxmlformats.org/drawingml/2006/main">
              <a:ext uri="{FF2B5EF4-FFF2-40B4-BE49-F238E27FC236}">
                <a16:creationId xmlns:a16="http://schemas.microsoft.com/office/drawing/2014/main" id="{A5207E6F-D586-4D41-8409-CA23750E62FD}"/>
              </a:ext>
            </a:extLst>
          </p:cNvPr>
          <p:cNvSpPr>
            <a:spLocks xmlns:a="http://schemas.openxmlformats.org/drawingml/2006/main" noGrp="1"/>
          </p:cNvSpPr>
          <p:nvPr/>
        </p:nvSpPr>
        <p:spPr>
          <a:xfrm xmlns:a="http://schemas.openxmlformats.org/drawingml/2006/main">
            <a:off x="333375" y="3724275"/>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111827"/>
                </a:solidFill>
              </a:defRPr>
            </a:defPPr>
          </a:lstStyle>
          <a:p xmlns:a="http://schemas.openxmlformats.org/drawingml/2006/main">
            <a:pPr algn="l">
              <a:defRPr sz="1800" b="1">
                <a:solidFill>
                  <a:srgbClr val="111827"/>
                </a:solidFill>
              </a:defRPr>
            </a:pPr>
            <a:r>
              <a:rPr sz="1800" b="1">
                <a:solidFill>
                  <a:srgbClr val="111827"/>
                </a:solidFill>
              </a:rPr>
              <a:t>Recursive Minds</a:t>
            </a:r>
          </a:p>
        </p:txBody>
      </p:sp>
      <p:sp>
        <p:nvSpPr>
          <p:cNvPr id="59" name="">
            <a:extLst xmlns:a="http://schemas.openxmlformats.org/drawingml/2006/main">
              <a:ext uri="{FF2B5EF4-FFF2-40B4-BE49-F238E27FC236}">
                <a16:creationId xmlns:a16="http://schemas.microsoft.com/office/drawing/2014/main" id="{D3E95E9D-AA6B-4CAE-AE5D-A9C0391CF642}"/>
              </a:ext>
            </a:extLst>
          </p:cNvPr>
          <p:cNvSpPr>
            <a:spLocks xmlns:a="http://schemas.openxmlformats.org/drawingml/2006/main" noGrp="1"/>
          </p:cNvSpPr>
          <p:nvPr/>
        </p:nvSpPr>
        <p:spPr>
          <a:xfrm xmlns:a="http://schemas.openxmlformats.org/drawingml/2006/main">
            <a:off x="3143250" y="3495675"/>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a:solidFill>
                  <a:srgbClr val="586273"/>
                </a:solidFill>
              </a:defRPr>
            </a:defPPr>
          </a:lstStyle>
          <a:p xmlns:a="http://schemas.openxmlformats.org/drawingml/2006/main">
            <a:pPr algn="l">
              <a:defRPr sz="975" b="1">
                <a:solidFill>
                  <a:srgbClr val="586273"/>
                </a:solidFill>
              </a:defRPr>
            </a:pPr>
            <a:r>
              <a:rPr sz="975" b="1">
                <a:solidFill>
                  <a:srgbClr val="586273"/>
                </a:solidFill>
              </a:rPr>
              <a:t>Team leader</a:t>
            </a:r>
          </a:p>
        </p:txBody>
      </p:sp>
      <p:sp>
        <p:nvSpPr>
          <p:cNvPr id="60" name="">
            <a:extLst xmlns:a="http://schemas.openxmlformats.org/drawingml/2006/main">
              <a:ext uri="{FF2B5EF4-FFF2-40B4-BE49-F238E27FC236}">
                <a16:creationId xmlns:a16="http://schemas.microsoft.com/office/drawing/2014/main" id="{98687A75-B0F3-4657-A699-1BC6CB34688A}"/>
              </a:ext>
            </a:extLst>
          </p:cNvPr>
          <p:cNvSpPr>
            <a:spLocks xmlns:a="http://schemas.openxmlformats.org/drawingml/2006/main" noGrp="1"/>
          </p:cNvSpPr>
          <p:nvPr/>
        </p:nvSpPr>
        <p:spPr>
          <a:xfrm xmlns:a="http://schemas.openxmlformats.org/drawingml/2006/main">
            <a:off x="3143250" y="3724275"/>
            <a:ext cx="2714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11827"/>
                </a:solidFill>
              </a:defRPr>
            </a:defPPr>
          </a:lstStyle>
          <a:p xmlns:a="http://schemas.openxmlformats.org/drawingml/2006/main">
            <a:pPr algn="l">
              <a:defRPr sz="1575" b="1">
                <a:solidFill>
                  <a:srgbClr val="111827"/>
                </a:solidFill>
              </a:defRPr>
            </a:pPr>
            <a:r>
              <a:rPr sz="1575" b="1">
                <a:solidFill>
                  <a:srgbClr val="111827"/>
                </a:solidFill>
              </a:rPr>
              <a:t>Dhanyashree S Navileker</a:t>
            </a:r>
          </a:p>
        </p:txBody>
      </p:sp>
      <p:sp>
        <p:nvSpPr>
          <p:cNvPr id="61" name="">
            <a:extLst xmlns:a="http://schemas.openxmlformats.org/drawingml/2006/main">
              <a:ext uri="{FF2B5EF4-FFF2-40B4-BE49-F238E27FC236}">
                <a16:creationId xmlns:a16="http://schemas.microsoft.com/office/drawing/2014/main" id="{87044648-035E-42C4-A796-A5E90FE7F2ED}"/>
              </a:ext>
            </a:extLst>
          </p:cNvPr>
          <p:cNvSpPr>
            <a:spLocks xmlns:a="http://schemas.openxmlformats.org/drawingml/2006/main" noGrp="1"/>
          </p:cNvSpPr>
          <p:nvPr/>
        </p:nvSpPr>
        <p:spPr>
          <a:xfrm xmlns:a="http://schemas.openxmlformats.org/drawingml/2006/main">
            <a:off x="6286500" y="3495675"/>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a:solidFill>
                  <a:srgbClr val="586273"/>
                </a:solidFill>
              </a:defRPr>
            </a:defPPr>
          </a:lstStyle>
          <a:p xmlns:a="http://schemas.openxmlformats.org/drawingml/2006/main">
            <a:pPr algn="l">
              <a:defRPr sz="975" b="1">
                <a:solidFill>
                  <a:srgbClr val="586273"/>
                </a:solidFill>
              </a:defRPr>
            </a:pPr>
            <a:r>
              <a:rPr sz="975" b="1">
                <a:solidFill>
                  <a:srgbClr val="586273"/>
                </a:solidFill>
              </a:rPr>
              <a:t>Team member</a:t>
            </a:r>
          </a:p>
        </p:txBody>
      </p:sp>
      <p:sp>
        <p:nvSpPr>
          <p:cNvPr id="62" name="">
            <a:extLst xmlns:a="http://schemas.openxmlformats.org/drawingml/2006/main">
              <a:ext uri="{FF2B5EF4-FFF2-40B4-BE49-F238E27FC236}">
                <a16:creationId xmlns:a16="http://schemas.microsoft.com/office/drawing/2014/main" id="{FA8AB1C0-F62F-41C4-B206-63E82A7DE658}"/>
              </a:ext>
            </a:extLst>
          </p:cNvPr>
          <p:cNvSpPr>
            <a:spLocks xmlns:a="http://schemas.openxmlformats.org/drawingml/2006/main" noGrp="1"/>
          </p:cNvSpPr>
          <p:nvPr/>
        </p:nvSpPr>
        <p:spPr>
          <a:xfrm xmlns:a="http://schemas.openxmlformats.org/drawingml/2006/main">
            <a:off x="6286500" y="3724275"/>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111827"/>
                </a:solidFill>
              </a:defRPr>
            </a:defPPr>
          </a:lstStyle>
          <a:p xmlns:a="http://schemas.openxmlformats.org/drawingml/2006/main">
            <a:pPr algn="l">
              <a:defRPr sz="1800" b="1">
                <a:solidFill>
                  <a:srgbClr val="111827"/>
                </a:solidFill>
              </a:defRPr>
            </a:pPr>
            <a:r>
              <a:rPr sz="1800" b="1">
                <a:solidFill>
                  <a:srgbClr val="111827"/>
                </a:solidFill>
              </a:rPr>
              <a:t>Abhishek M</a:t>
            </a:r>
          </a:p>
        </p:txBody>
      </p:sp>
      <p:sp>
        <p:nvSpPr>
          <p:cNvPr id="63" name="">
            <a:extLst xmlns:a="http://schemas.openxmlformats.org/drawingml/2006/main">
              <a:ext uri="{FF2B5EF4-FFF2-40B4-BE49-F238E27FC236}">
                <a16:creationId xmlns:a16="http://schemas.microsoft.com/office/drawing/2014/main" id="{BA9ED9FD-DB04-4711-AE90-C48E56479492}"/>
              </a:ext>
            </a:extLst>
          </p:cNvPr>
          <p:cNvSpPr>
            <a:spLocks xmlns:a="http://schemas.openxmlformats.org/drawingml/2006/main" noGrp="1"/>
          </p:cNvSpPr>
          <p:nvPr/>
        </p:nvSpPr>
        <p:spPr>
          <a:xfrm xmlns:a="http://schemas.openxmlformats.org/drawingml/2006/main">
            <a:off x="333375" y="42767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975" b="1">
                <a:solidFill>
                  <a:srgbClr val="586273"/>
                </a:solidFill>
              </a:defRPr>
            </a:defPPr>
          </a:lstStyle>
          <a:p xmlns:a="http://schemas.openxmlformats.org/drawingml/2006/main">
            <a:pPr algn="l">
              <a:defRPr sz="975" b="1">
                <a:solidFill>
                  <a:srgbClr val="586273"/>
                </a:solidFill>
              </a:defRPr>
            </a:pPr>
            <a:r>
              <a:rPr sz="975" b="1">
                <a:solidFill>
                  <a:srgbClr val="586273"/>
                </a:solidFill>
              </a:rPr>
              <a:t>Problem statement</a:t>
            </a:r>
          </a:p>
        </p:txBody>
      </p:sp>
      <p:sp>
        <p:nvSpPr>
          <p:cNvPr id="64" name="">
            <a:extLst xmlns:a="http://schemas.openxmlformats.org/drawingml/2006/main">
              <a:ext uri="{FF2B5EF4-FFF2-40B4-BE49-F238E27FC236}">
                <a16:creationId xmlns:a16="http://schemas.microsoft.com/office/drawing/2014/main" id="{1880C8E3-1B8D-4F7D-94B8-1CAB0DCACE8E}"/>
              </a:ext>
            </a:extLst>
          </p:cNvPr>
          <p:cNvSpPr>
            <a:spLocks xmlns:a="http://schemas.openxmlformats.org/drawingml/2006/main" noGrp="1"/>
          </p:cNvSpPr>
          <p:nvPr/>
        </p:nvSpPr>
        <p:spPr>
          <a:xfrm xmlns:a="http://schemas.openxmlformats.org/drawingml/2006/main">
            <a:off x="333375" y="4505325"/>
            <a:ext cx="8048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11827"/>
                </a:solidFill>
              </a:defRPr>
            </a:defPPr>
          </a:lstStyle>
          <a:p xmlns:a="http://schemas.openxmlformats.org/drawingml/2006/main">
            <a:pPr algn="l">
              <a:defRPr sz="1200" b="0">
                <a:solidFill>
                  <a:srgbClr val="111827"/>
                </a:solidFill>
              </a:defRPr>
            </a:pPr>
            <a:r>
              <a:rPr sz="1200" b="0">
                <a:solidFill>
                  <a:srgbClr val="111827"/>
                </a:solidFill>
              </a:rPr>
              <a:t>Useful renovation leftovers are discarded because owners struggle to describe uncertain materials and finders cannot judge whether a listing fits a real project.</a:t>
            </a:r>
          </a:p>
        </p:txBody>
      </p:sp>
    </p:spTree>
    <p:extLst>
      <p:ext uri="{BB962C8B-B14F-4D97-AF65-F5344CB8AC3E}">
        <p14:creationId xmlns:p14="http://schemas.microsoft.com/office/powerpoint/2010/main" val="4932993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61" name="Google Shape;61;p14">
            <a:extLst xmlns:a="http://schemas.openxmlformats.org/drawingml/2006/main">
              <a:ext uri="{FF2B5EF4-FFF2-40B4-BE49-F238E27FC236}">
                <a16:creationId xmlns:a16="http://schemas.microsoft.com/office/drawing/2014/main" id="{7F2F08A5-345A-4E66-A671-2BAE6EC1D70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8353107d7314328">
            <a:alphaModFix/>
          </a:blip>
          <a:srcRect xmlns:a="http://schemas.openxmlformats.org/drawingml/2006/main" l="0" t="0" r="0" b="98001"/>
          <a:stretch xmlns:a="http://schemas.openxmlformats.org/drawingml/2006/main"/>
        </p:blipFill>
        <p:spPr>
          <a:xfrm xmlns:a="http://schemas.openxmlformats.org/drawingml/2006/main">
            <a:off x="0" y="5093562"/>
            <a:ext cx="9144000" cy="54275"/>
          </a:xfrm>
          <a:prstGeom xmlns:a="http://schemas.openxmlformats.org/drawingml/2006/main" prst="rect">
            <a:avLst/>
          </a:prstGeom>
          <a:ln xmlns:a="http://schemas.openxmlformats.org/drawingml/2006/main">
            <a:noFill/>
          </a:ln>
        </p:spPr>
      </p:pic>
      <p:sp>
        <p:nvSpPr>
          <p:cNvPr id="62" name="Google Shape;62;p14">
            <a:extLst xmlns:a="http://schemas.openxmlformats.org/drawingml/2006/main">
              <a:ext uri="{FF2B5EF4-FFF2-40B4-BE49-F238E27FC236}">
                <a16:creationId xmlns:a16="http://schemas.microsoft.com/office/drawing/2014/main" id="{E6D9B0AC-DCAB-46B4-AE4D-8884A0192269}"/>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63" name="Google Shape;63;p14">
            <a:extLst xmlns:a="http://schemas.openxmlformats.org/drawingml/2006/main">
              <a:ext uri="{FF2B5EF4-FFF2-40B4-BE49-F238E27FC236}">
                <a16:creationId xmlns:a16="http://schemas.microsoft.com/office/drawing/2014/main" id="{5BA05AA0-11A8-4E21-BDFF-CA8CC8F1F866}"/>
              </a:ext>
            </a:extLst>
          </p:cNvPr>
          <p:cNvSpPr>
            <a:spLocks xmlns:a="http://schemas.openxmlformats.org/drawingml/2006/main" noGrp="1"/>
          </p:cNvSpPr>
          <p:nvPr/>
        </p:nvSpPr>
        <p:spPr>
          <a:xfrm xmlns:a="http://schemas.openxmlformats.org/drawingml/2006/main">
            <a:off x="5092475" y="1968750"/>
            <a:ext cx="3311400" cy="120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100">
                <a:solidFill>
                  <a:schemeClr val="lt1"/>
                </a:solidFill>
                <a:latin typeface="Google Sans Flex Medium"/>
                <a:ea typeface="Google Sans Flex Medium"/>
                <a:cs typeface="Google Sans Flex Medium"/>
              </a:rPr>
              <a:t>Note:</a:t>
            </a:r>
            <a:r>
              <a:rPr sz="1100">
                <a:solidFill>
                  <a:schemeClr val="lt1"/>
                </a:solidFill>
                <a:latin typeface="Google Sans Flex"/>
                <a:ea typeface="Google Sans Flex"/>
                <a:cs typeface="Google Sans Flex"/>
              </a:rPr>
              <a:t> Please download this template to make your edits and submit the final version.</a:t>
            </a:r>
            <a:br>
              <a:rPr sz="1100">
                <a:solidFill>
                  <a:schemeClr val="lt1"/>
                </a:solidFill>
                <a:latin typeface="Google Sans Flex"/>
                <a:ea typeface="Google Sans Flex"/>
                <a:cs typeface="Google Sans Flex"/>
              </a:rPr>
            </a:br>
            <a:br>
              <a:rPr sz="1100">
                <a:solidFill>
                  <a:schemeClr val="lt1"/>
                </a:solidFill>
                <a:latin typeface="Google Sans Flex"/>
                <a:ea typeface="Google Sans Flex"/>
                <a:cs typeface="Google Sans Flex"/>
              </a:rPr>
            </a:br>
            <a:r>
              <a:rPr sz="1100">
                <a:solidFill>
                  <a:schemeClr val="lt1"/>
                </a:solidFill>
                <a:latin typeface="Google Sans Flex"/>
                <a:ea typeface="Google Sans Flex"/>
                <a:cs typeface="Google Sans Flex"/>
              </a:rPr>
              <a:t>To download, go to File &gt; Download &gt; Microsoft PowerPoint (.PPTX). Kindly refrain from sending edit requests.</a:t>
            </a:r>
            <a:endParaRPr sz="1100">
              <a:solidFill>
                <a:schemeClr val="lt1"/>
              </a:solidFill>
              <a:latin typeface="Google Sans Flex"/>
              <a:ea typeface="Google Sans Flex"/>
              <a:cs typeface="Google Sans Flex"/>
            </a:endParaRPr>
          </a:p>
          <a:p xmlns:a="http://schemas.openxmlformats.org/drawingml/2006/main">
            <a:pPr marL="0" lvl="0" indent="0" algn="l">
              <a:spcBef>
                <a:spcPts val="0"/>
              </a:spcBef>
              <a:spcAft>
                <a:spcPts val="0"/>
              </a:spcAft>
              <a:buNone/>
            </a:pPr>
            <a:r>
              <a:t/>
            </a:r>
            <a:endParaRPr sz="1100">
              <a:solidFill>
                <a:schemeClr val="lt1"/>
              </a:solidFill>
              <a:latin typeface="Google Sans Flex"/>
              <a:ea typeface="Google Sans Flex"/>
              <a:cs typeface="Google Sans Flex"/>
            </a:endParaRPr>
          </a:p>
        </p:txBody>
      </p:sp>
      <p:pic>
        <p:nvPicPr>
          <p:cNvPr id="64" name="Google Shape;64;p14">
            <a:extLst xmlns:a="http://schemas.openxmlformats.org/drawingml/2006/main">
              <a:ext uri="{FF2B5EF4-FFF2-40B4-BE49-F238E27FC236}">
                <a16:creationId xmlns:a16="http://schemas.microsoft.com/office/drawing/2014/main" id="{1366E123-80C8-479A-A667-48329E4FDBF5}"/>
              </a:ext>
            </a:extLst>
          </p:cNvPr>
          <p:cNvPicPr>
            <a:picLocks xmlns:a="http://schemas.openxmlformats.org/drawingml/2006/main" noChangeAspect="1"/>
          </p:cNvPicPr>
          <p:nvPr/>
        </p:nvPicPr>
        <p:blipFill>
          <a:blip xmlns:r="http://schemas.openxmlformats.org/officeDocument/2006/relationships" xmlns:a="http://schemas.openxmlformats.org/drawingml/2006/main" r:embed="R4d30f9d6081d47bc">
            <a:alphaModFix/>
          </a:blip>
          <a:stretch xmlns:a="http://schemas.openxmlformats.org/drawingml/2006/main">
            <a:fillRect l="0" t="0" r="0" b="0"/>
          </a:stretch>
        </p:blipFill>
        <p:spPr>
          <a:xfrm xmlns:a="http://schemas.openxmlformats.org/drawingml/2006/main">
            <a:off x="924203" y="1194675"/>
            <a:ext cx="3604250" cy="2621725"/>
          </a:xfrm>
          <a:prstGeom xmlns:a="http://schemas.openxmlformats.org/drawingml/2006/main" prst="rect">
            <a:avLst/>
          </a:prstGeom>
          <a:ln xmlns:a="http://schemas.openxmlformats.org/drawingml/2006/main">
            <a:noFill/>
          </a:ln>
          <a:effectLst xmlns:a="http://schemas.openxmlformats.org/drawingml/2006/main">
            <a:outerShdw blurRad="971550" dist="19050" dir="5400000" algn="bl" rotWithShape="0">
              <a:schemeClr val="lt1">
                <a:alpha val="50000"/>
              </a:schemeClr>
            </a:outerShdw>
          </a:effectLst>
        </p:spPr>
      </p:pic>
    </p:spTree>
    <p:extLst>
      <p:ext uri="{BB962C8B-B14F-4D97-AF65-F5344CB8AC3E}">
        <p14:creationId xmlns:p14="http://schemas.microsoft.com/office/powerpoint/2010/main" val="163233723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69" name="Google Shape;69;p15">
            <a:extLst xmlns:a="http://schemas.openxmlformats.org/drawingml/2006/main">
              <a:ext uri="{FF2B5EF4-FFF2-40B4-BE49-F238E27FC236}">
                <a16:creationId xmlns:a16="http://schemas.microsoft.com/office/drawing/2014/main" id="{F2DAAFAC-50D7-44E9-A686-DDE609DC075C}"/>
              </a:ext>
            </a:extLst>
          </p:cNvPr>
          <p:cNvPicPr>
            <a:picLocks xmlns:a="http://schemas.openxmlformats.org/drawingml/2006/main" noChangeAspect="1"/>
          </p:cNvPicPr>
          <p:nvPr/>
        </p:nvPicPr>
        <p:blipFill>
          <a:blip xmlns:r="http://schemas.openxmlformats.org/officeDocument/2006/relationships" xmlns:a="http://schemas.openxmlformats.org/drawingml/2006/main" r:embed="Re38cc433d89f4c0c">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70" name="Google Shape;70;p15">
            <a:extLst xmlns:a="http://schemas.openxmlformats.org/drawingml/2006/main">
              <a:ext uri="{FF2B5EF4-FFF2-40B4-BE49-F238E27FC236}">
                <a16:creationId xmlns:a16="http://schemas.microsoft.com/office/drawing/2014/main" id="{28FA3B1E-89E1-4E81-AFC9-0B940B0B1651}"/>
              </a:ext>
            </a:extLst>
          </p:cNvPr>
          <p:cNvSpPr>
            <a:spLocks xmlns:a="http://schemas.openxmlformats.org/drawingml/2006/main" noGrp="1"/>
          </p:cNvSpPr>
          <p:nvPr/>
        </p:nvSpPr>
        <p:spPr>
          <a:xfrm xmlns:a="http://schemas.openxmlformats.org/drawingml/2006/main">
            <a:off x="-29250" y="5071875"/>
            <a:ext cx="9173400" cy="978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71" name="Google Shape;71;p15">
            <a:extLst xmlns:a="http://schemas.openxmlformats.org/drawingml/2006/main">
              <a:ext uri="{FF2B5EF4-FFF2-40B4-BE49-F238E27FC236}">
                <a16:creationId xmlns:a16="http://schemas.microsoft.com/office/drawing/2014/main" id="{56104879-ADFE-49F3-8732-5F2B6194B231}"/>
              </a:ext>
            </a:extLst>
          </p:cNvPr>
          <p:cNvSpPr>
            <a:spLocks xmlns:a="http://schemas.openxmlformats.org/drawingml/2006/main" noGrp="1"/>
          </p:cNvSpPr>
          <p:nvPr/>
        </p:nvSpPr>
        <p:spPr>
          <a:xfrm xmlns:a="http://schemas.openxmlformats.org/drawingml/2006/main">
            <a:off x="265367" y="663797"/>
            <a:ext cx="85725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lgn="l">
              <a:defRPr sz="1600" b="1">
                <a:solidFill>
                  <a:srgbClr val="000000"/>
                </a:solidFill>
              </a:defRPr>
            </a:defPPr>
          </a:lstStyle>
          <a:p xmlns:a="http://schemas.openxmlformats.org/drawingml/2006/main">
            <a:pPr marL="0" lvl="0" indent="0" algn="l">
              <a:spcBef>
                <a:spcPts val="0"/>
              </a:spcBef>
              <a:spcAft>
                <a:spcPts val="0"/>
              </a:spcAft>
              <a:buNone/>
              <a:defRPr sz="1600" b="1">
                <a:solidFill>
                  <a:srgbClr val="000000"/>
                </a:solidFill>
              </a:defRPr>
            </a:pPr>
            <a:r>
              <a:rPr sz="1600" b="1">
                <a:solidFill>
                  <a:srgbClr val="000000"/>
                </a:solidFill>
                <a:latin typeface="Google Sans Flex Medium"/>
                <a:ea typeface="Google Sans Flex Medium"/>
                <a:cs typeface="Google Sans Flex Medium"/>
              </a:rPr>
              <a:t>Re:Source: mindful giving for unused resources</a:t>
            </a:r>
            <a:endParaRPr sz="1600">
              <a:latin typeface="Google Sans Flex Medium"/>
              <a:ea typeface="Google Sans Flex Medium"/>
              <a:cs typeface="Google Sans Flex Medium"/>
            </a:endParaRPr>
          </a:p>
        </p:txBody>
      </p:sp>
      <p:sp>
        <p:nvSpPr>
          <p:cNvPr id="72" name="">
            <a:extLst xmlns:a="http://schemas.openxmlformats.org/drawingml/2006/main">
              <a:ext uri="{FF2B5EF4-FFF2-40B4-BE49-F238E27FC236}">
                <a16:creationId xmlns:a16="http://schemas.microsoft.com/office/drawing/2014/main" id="{5B91B418-AE11-43BF-9032-14A74766A219}"/>
              </a:ext>
            </a:extLst>
          </p:cNvPr>
          <p:cNvSpPr>
            <a:spLocks xmlns:a="http://schemas.openxmlformats.org/drawingml/2006/main" noGrp="1"/>
          </p:cNvSpPr>
          <p:nvPr/>
        </p:nvSpPr>
        <p:spPr>
          <a:xfrm xmlns:a="http://schemas.openxmlformats.org/drawingml/2006/main">
            <a:off x="428625" y="1381125"/>
            <a:ext cx="5334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75" b="1">
                <a:solidFill>
                  <a:srgbClr val="111827"/>
                </a:solidFill>
              </a:defRPr>
            </a:defPPr>
          </a:lstStyle>
          <a:p xmlns:a="http://schemas.openxmlformats.org/drawingml/2006/main">
            <a:pPr algn="l">
              <a:defRPr sz="2175" b="1">
                <a:solidFill>
                  <a:srgbClr val="111827"/>
                </a:solidFill>
              </a:defRPr>
            </a:pPr>
            <a:r>
              <a:rPr sz="2175" b="1">
                <a:solidFill>
                  <a:srgbClr val="111827"/>
                </a:solidFill>
              </a:rPr>
              <a:t>A reuse network, not a resale marketplace</a:t>
            </a:r>
          </a:p>
        </p:txBody>
      </p:sp>
      <p:sp>
        <p:nvSpPr>
          <p:cNvPr id="73" name="">
            <a:extLst xmlns:a="http://schemas.openxmlformats.org/drawingml/2006/main">
              <a:ext uri="{FF2B5EF4-FFF2-40B4-BE49-F238E27FC236}">
                <a16:creationId xmlns:a16="http://schemas.microsoft.com/office/drawing/2014/main" id="{89BF7F23-DC8A-4904-BA4A-EA636FEAF8EA}"/>
              </a:ext>
            </a:extLst>
          </p:cNvPr>
          <p:cNvSpPr>
            <a:spLocks xmlns:a="http://schemas.openxmlformats.org/drawingml/2006/main" noGrp="1"/>
          </p:cNvSpPr>
          <p:nvPr/>
        </p:nvSpPr>
        <p:spPr>
          <a:xfrm xmlns:a="http://schemas.openxmlformats.org/drawingml/2006/main">
            <a:off x="428625" y="1971675"/>
            <a:ext cx="51911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586273"/>
                </a:solidFill>
              </a:defRPr>
            </a:defPPr>
          </a:lstStyle>
          <a:p xmlns:a="http://schemas.openxmlformats.org/drawingml/2006/main">
            <a:pPr algn="l">
              <a:defRPr sz="1500" b="0">
                <a:solidFill>
                  <a:srgbClr val="586273"/>
                </a:solidFill>
              </a:defRPr>
            </a:pPr>
            <a:r>
              <a:rPr sz="1500" b="0">
                <a:solidFill>
                  <a:srgbClr val="586273"/>
                </a:solidFill>
              </a:rPr>
              <a:t>People give away useful materials they no longer need. Others find them for a project, keeping usable resources in circulation and out of waste streams.</a:t>
            </a:r>
          </a:p>
        </p:txBody>
      </p:sp>
      <p:sp>
        <p:nvSpPr>
          <p:cNvPr id="74" name="">
            <a:extLst xmlns:a="http://schemas.openxmlformats.org/drawingml/2006/main">
              <a:ext uri="{FF2B5EF4-FFF2-40B4-BE49-F238E27FC236}">
                <a16:creationId xmlns:a16="http://schemas.microsoft.com/office/drawing/2014/main" id="{51EBD39E-C037-4926-AC5C-91ECAE814023}"/>
              </a:ext>
            </a:extLst>
          </p:cNvPr>
          <p:cNvSpPr>
            <a:spLocks xmlns:a="http://schemas.openxmlformats.org/drawingml/2006/main" noGrp="1"/>
          </p:cNvSpPr>
          <p:nvPr/>
        </p:nvSpPr>
        <p:spPr>
          <a:xfrm xmlns:a="http://schemas.openxmlformats.org/drawingml/2006/main">
            <a:off x="428625" y="3124200"/>
            <a:ext cx="1476375" cy="323850"/>
          </a:xfrm>
          <a:prstGeom xmlns:a="http://schemas.openxmlformats.org/drawingml/2006/main" prst="roundRect">
            <a:avLst>
              <a:gd name="adj" fmla="val 50000"/>
            </a:avLst>
          </a:prstGeom>
          <a:solidFill xmlns:a="http://schemas.openxmlformats.org/drawingml/2006/main">
            <a:srgbClr val="ECFBFD"/>
          </a:solidFill>
          <a:ln xmlns:a="http://schemas.openxmlformats.org/drawingml/2006/main" w="9525">
            <a:solidFill>
              <a:srgbClr val="ECFBFD"/>
            </a:solidFill>
            <a:prstDash val="solid"/>
          </a:ln>
        </p:spPr>
        <p:txBody>
          <a:bodyPr xmlns:a="http://schemas.openxmlformats.org/drawingml/2006/main" lIns="38100" tIns="38100" rIns="38100" bIns="38100" anchor="ctr"/>
          <a:lstStyle xmlns:a="http://schemas.openxmlformats.org/drawingml/2006/main">
            <a:defPPr algn="ctr">
              <a:defRPr sz="1050" b="1">
                <a:solidFill>
                  <a:srgbClr val="111827"/>
                </a:solidFill>
              </a:defRPr>
            </a:defPPr>
          </a:lstStyle>
          <a:p xmlns:a="http://schemas.openxmlformats.org/drawingml/2006/main">
            <a:pPr algn="ctr">
              <a:defRPr sz="1050" b="1">
                <a:solidFill>
                  <a:srgbClr val="111827"/>
                </a:solidFill>
              </a:defRPr>
            </a:pPr>
            <a:r>
              <a:rPr sz="1050" b="1">
                <a:solidFill>
                  <a:srgbClr val="111827"/>
                </a:solidFill>
              </a:rPr>
              <a:t>Need a resource</a:t>
            </a:r>
          </a:p>
        </p:txBody>
      </p:sp>
      <p:sp>
        <p:nvSpPr>
          <p:cNvPr id="75" name="">
            <a:extLst xmlns:a="http://schemas.openxmlformats.org/drawingml/2006/main">
              <a:ext uri="{FF2B5EF4-FFF2-40B4-BE49-F238E27FC236}">
                <a16:creationId xmlns:a16="http://schemas.microsoft.com/office/drawing/2014/main" id="{36B81637-48E3-49B2-9EBA-B54D54173FEC}"/>
              </a:ext>
            </a:extLst>
          </p:cNvPr>
          <p:cNvSpPr>
            <a:spLocks xmlns:a="http://schemas.openxmlformats.org/drawingml/2006/main" noGrp="1"/>
          </p:cNvSpPr>
          <p:nvPr/>
        </p:nvSpPr>
        <p:spPr>
          <a:xfrm xmlns:a="http://schemas.openxmlformats.org/drawingml/2006/main">
            <a:off x="2047875" y="3124200"/>
            <a:ext cx="1476375" cy="323850"/>
          </a:xfrm>
          <a:prstGeom xmlns:a="http://schemas.openxmlformats.org/drawingml/2006/main" prst="roundRect">
            <a:avLst>
              <a:gd name="adj" fmla="val 50000"/>
            </a:avLst>
          </a:prstGeom>
          <a:solidFill xmlns:a="http://schemas.openxmlformats.org/drawingml/2006/main">
            <a:srgbClr val="F1ECFC"/>
          </a:solidFill>
          <a:ln xmlns:a="http://schemas.openxmlformats.org/drawingml/2006/main" w="9525">
            <a:solidFill>
              <a:srgbClr val="F1ECFC"/>
            </a:solidFill>
            <a:prstDash val="solid"/>
          </a:ln>
        </p:spPr>
        <p:txBody>
          <a:bodyPr xmlns:a="http://schemas.openxmlformats.org/drawingml/2006/main" lIns="38100" tIns="38100" rIns="38100" bIns="38100" anchor="ctr"/>
          <a:lstStyle xmlns:a="http://schemas.openxmlformats.org/drawingml/2006/main">
            <a:defPPr algn="ctr">
              <a:defRPr sz="1050" b="1">
                <a:solidFill>
                  <a:srgbClr val="111827"/>
                </a:solidFill>
              </a:defRPr>
            </a:defPPr>
          </a:lstStyle>
          <a:p xmlns:a="http://schemas.openxmlformats.org/drawingml/2006/main">
            <a:pPr algn="ctr">
              <a:defRPr sz="1050" b="1">
                <a:solidFill>
                  <a:srgbClr val="111827"/>
                </a:solidFill>
              </a:defRPr>
            </a:pPr>
            <a:r>
              <a:rPr sz="1050" b="1">
                <a:solidFill>
                  <a:srgbClr val="111827"/>
                </a:solidFill>
              </a:rPr>
              <a:t>Give a resource</a:t>
            </a:r>
          </a:p>
        </p:txBody>
      </p:sp>
      <p:sp>
        <p:nvSpPr>
          <p:cNvPr id="76" name="">
            <a:extLst xmlns:a="http://schemas.openxmlformats.org/drawingml/2006/main">
              <a:ext uri="{FF2B5EF4-FFF2-40B4-BE49-F238E27FC236}">
                <a16:creationId xmlns:a16="http://schemas.microsoft.com/office/drawing/2014/main" id="{B89F2446-8804-45FC-AD75-1BA74C9AC285}"/>
              </a:ext>
            </a:extLst>
          </p:cNvPr>
          <p:cNvSpPr>
            <a:spLocks xmlns:a="http://schemas.openxmlformats.org/drawingml/2006/main" noGrp="1"/>
          </p:cNvSpPr>
          <p:nvPr/>
        </p:nvSpPr>
        <p:spPr>
          <a:xfrm xmlns:a="http://schemas.openxmlformats.org/drawingml/2006/main">
            <a:off x="3667125" y="3124200"/>
            <a:ext cx="1571625" cy="323850"/>
          </a:xfrm>
          <a:prstGeom xmlns:a="http://schemas.openxmlformats.org/drawingml/2006/main" prst="roundRect">
            <a:avLst>
              <a:gd name="adj" fmla="val 50000"/>
            </a:avLst>
          </a:prstGeom>
          <a:solidFill xmlns:a="http://schemas.openxmlformats.org/drawingml/2006/main">
            <a:srgbClr val="ECFBFD"/>
          </a:solidFill>
          <a:ln xmlns:a="http://schemas.openxmlformats.org/drawingml/2006/main" w="9525">
            <a:solidFill>
              <a:srgbClr val="ECFBFD"/>
            </a:solidFill>
            <a:prstDash val="solid"/>
          </a:ln>
        </p:spPr>
        <p:txBody>
          <a:bodyPr xmlns:a="http://schemas.openxmlformats.org/drawingml/2006/main" lIns="38100" tIns="38100" rIns="38100" bIns="38100" anchor="ctr"/>
          <a:lstStyle xmlns:a="http://schemas.openxmlformats.org/drawingml/2006/main">
            <a:defPPr algn="ctr">
              <a:defRPr sz="1050" b="1">
                <a:solidFill>
                  <a:srgbClr val="111827"/>
                </a:solidFill>
              </a:defRPr>
            </a:defPPr>
          </a:lstStyle>
          <a:p xmlns:a="http://schemas.openxmlformats.org/drawingml/2006/main">
            <a:pPr algn="ctr">
              <a:defRPr sz="1050" b="1">
                <a:solidFill>
                  <a:srgbClr val="111827"/>
                </a:solidFill>
              </a:defRPr>
            </a:pPr>
            <a:r>
              <a:rPr sz="1050" b="1">
                <a:solidFill>
                  <a:srgbClr val="111827"/>
                </a:solidFill>
              </a:rPr>
              <a:t>Build something</a:t>
            </a:r>
          </a:p>
        </p:txBody>
      </p:sp>
      <p:sp>
        <p:nvSpPr>
          <p:cNvPr id="77" name="">
            <a:extLst xmlns:a="http://schemas.openxmlformats.org/drawingml/2006/main">
              <a:ext uri="{FF2B5EF4-FFF2-40B4-BE49-F238E27FC236}">
                <a16:creationId xmlns:a16="http://schemas.microsoft.com/office/drawing/2014/main" id="{BB895702-24FD-4320-83EA-B7043C860C39}"/>
              </a:ext>
            </a:extLst>
          </p:cNvPr>
          <p:cNvSpPr>
            <a:spLocks xmlns:a="http://schemas.openxmlformats.org/drawingml/2006/main" noGrp="1"/>
          </p:cNvSpPr>
          <p:nvPr/>
        </p:nvSpPr>
        <p:spPr>
          <a:xfrm xmlns:a="http://schemas.openxmlformats.org/drawingml/2006/main">
            <a:off x="428625" y="3762375"/>
            <a:ext cx="51911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7041D9"/>
                </a:solidFill>
              </a:defRPr>
            </a:defPPr>
          </a:lstStyle>
          <a:p xmlns:a="http://schemas.openxmlformats.org/drawingml/2006/main">
            <a:pPr algn="l">
              <a:defRPr sz="1500" b="1">
                <a:solidFill>
                  <a:srgbClr val="7041D9"/>
                </a:solidFill>
              </a:defRPr>
            </a:pPr>
            <a:r>
              <a:rPr sz="1500" b="1">
                <a:solidFill>
                  <a:srgbClr val="7041D9"/>
                </a:solidFill>
              </a:rPr>
              <a:t>AI turns each entry point into an interactive path, then connects intent to available giveaways.</a:t>
            </a:r>
          </a:p>
        </p:txBody>
      </p:sp>
      <p:pic>
        <p:nvPicPr>
          <p:cNvPr id="78" name="">
            <a:extLst xmlns:a="http://schemas.openxmlformats.org/drawingml/2006/main">
              <a:ext uri="{FF2B5EF4-FFF2-40B4-BE49-F238E27FC236}">
                <a16:creationId xmlns:a16="http://schemas.microsoft.com/office/drawing/2014/main" id="{9E85AA89-7054-4911-BC64-C18809A52966}"/>
              </a:ext>
            </a:extLst>
          </p:cNvPr>
          <p:cNvPicPr>
            <a:picLocks xmlns:a="http://schemas.openxmlformats.org/drawingml/2006/main" noChangeAspect="1"/>
          </p:cNvPicPr>
          <p:nvPr/>
        </p:nvPicPr>
        <p:blipFill>
          <a:blip xmlns:r="http://schemas.openxmlformats.org/officeDocument/2006/relationships" xmlns:a="http://schemas.openxmlformats.org/drawingml/2006/main" r:embed="R5f293026811b4fe9"/>
          <a:srcRect xmlns:a="http://schemas.openxmlformats.org/drawingml/2006/main" l="11667" t="0" r="11667" b="0"/>
          <a:stretch xmlns:a="http://schemas.openxmlformats.org/drawingml/2006/main">
            <a:fillRect l="0" t="0" r="0" b="0"/>
          </a:stretch>
        </p:blipFill>
        <p:spPr>
          <a:xfrm xmlns:a="http://schemas.openxmlformats.org/drawingml/2006/main">
            <a:off x="6381750" y="1381125"/>
            <a:ext cx="2190750" cy="2857500"/>
          </a:xfrm>
          <a:prstGeom xmlns:a="http://schemas.openxmlformats.org/drawingml/2006/main" prst="roundRect">
            <a:avLst>
              <a:gd name="adj" fmla="val 5217"/>
            </a:avLst>
          </a:prstGeom>
        </p:spPr>
      </p:pic>
    </p:spTree>
    <p:extLst>
      <p:ext uri="{BB962C8B-B14F-4D97-AF65-F5344CB8AC3E}">
        <p14:creationId xmlns:p14="http://schemas.microsoft.com/office/powerpoint/2010/main" val="105743224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76" name="Google Shape;76;p16">
            <a:extLst xmlns:a="http://schemas.openxmlformats.org/drawingml/2006/main">
              <a:ext uri="{FF2B5EF4-FFF2-40B4-BE49-F238E27FC236}">
                <a16:creationId xmlns:a16="http://schemas.microsoft.com/office/drawing/2014/main" id="{4AE59D18-EACC-42A6-BCBA-C3CE4B1E2D3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79d15895eb64965">
            <a:alphaModFix/>
          </a:blip>
          <a:srcRect xmlns:a="http://schemas.openxmlformats.org/drawingml/2006/main" l="0" t="0" r="0" b="98001"/>
          <a:stretch xmlns:a="http://schemas.openxmlformats.org/drawingml/2006/main"/>
        </p:blipFill>
        <p:spPr>
          <a:xfrm xmlns:a="http://schemas.openxmlformats.org/drawingml/2006/main">
            <a:off x="0" y="5093562"/>
            <a:ext cx="9144000" cy="54275"/>
          </a:xfrm>
          <a:prstGeom xmlns:a="http://schemas.openxmlformats.org/drawingml/2006/main" prst="rect">
            <a:avLst/>
          </a:prstGeom>
          <a:ln xmlns:a="http://schemas.openxmlformats.org/drawingml/2006/main">
            <a:noFill/>
          </a:ln>
        </p:spPr>
      </p:pic>
      <p:pic>
        <p:nvPicPr>
          <p:cNvPr id="77" name="Google Shape;77;p16">
            <a:extLst xmlns:a="http://schemas.openxmlformats.org/drawingml/2006/main">
              <a:ext uri="{FF2B5EF4-FFF2-40B4-BE49-F238E27FC236}">
                <a16:creationId xmlns:a16="http://schemas.microsoft.com/office/drawing/2014/main" id="{328C08B7-9466-45EE-B3C3-D8D4718E9FF8}"/>
              </a:ext>
            </a:extLst>
          </p:cNvPr>
          <p:cNvPicPr>
            <a:picLocks xmlns:a="http://schemas.openxmlformats.org/drawingml/2006/main" noChangeAspect="1"/>
          </p:cNvPicPr>
          <p:nvPr/>
        </p:nvPicPr>
        <p:blipFill>
          <a:blip xmlns:r="http://schemas.openxmlformats.org/officeDocument/2006/relationships" xmlns:a="http://schemas.openxmlformats.org/drawingml/2006/main" r:embed="R9b3522106c844601">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78" name="Google Shape;78;p16">
            <a:extLst xmlns:a="http://schemas.openxmlformats.org/drawingml/2006/main">
              <a:ext uri="{FF2B5EF4-FFF2-40B4-BE49-F238E27FC236}">
                <a16:creationId xmlns:a16="http://schemas.microsoft.com/office/drawing/2014/main" id="{9A23AB33-9903-41D2-A59A-C6079FEC9270}"/>
              </a:ext>
            </a:extLst>
          </p:cNvPr>
          <p:cNvSpPr>
            <a:spLocks xmlns:a="http://schemas.openxmlformats.org/drawingml/2006/main" noGrp="1"/>
          </p:cNvSpPr>
          <p:nvPr/>
        </p:nvSpPr>
        <p:spPr>
          <a:xfrm xmlns:a="http://schemas.openxmlformats.org/drawingml/2006/main">
            <a:off x="-29250" y="5071875"/>
            <a:ext cx="9173400" cy="978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79" name="Google Shape;79;p16">
            <a:extLst xmlns:a="http://schemas.openxmlformats.org/drawingml/2006/main">
              <a:ext uri="{FF2B5EF4-FFF2-40B4-BE49-F238E27FC236}">
                <a16:creationId xmlns:a16="http://schemas.microsoft.com/office/drawing/2014/main" id="{15535316-47D7-45D4-A7D0-6A5A5E2C0B84}"/>
              </a:ext>
            </a:extLst>
          </p:cNvPr>
          <p:cNvSpPr>
            <a:spLocks xmlns:a="http://schemas.openxmlformats.org/drawingml/2006/main" noGrp="1"/>
          </p:cNvSpPr>
          <p:nvPr/>
        </p:nvSpPr>
        <p:spPr>
          <a:xfrm xmlns:a="http://schemas.openxmlformats.org/drawingml/2006/main">
            <a:off x="265367" y="663797"/>
            <a:ext cx="85725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lgn="l">
              <a:defRPr sz="1600" b="1">
                <a:solidFill>
                  <a:srgbClr val="000000"/>
                </a:solidFill>
              </a:defRPr>
            </a:defPPr>
          </a:lstStyle>
          <a:p xmlns:a="http://schemas.openxmlformats.org/drawingml/2006/main">
            <a:pPr marL="0" lvl="0" indent="0" algn="l">
              <a:spcBef>
                <a:spcPts val="0"/>
              </a:spcBef>
              <a:spcAft>
                <a:spcPts val="0"/>
              </a:spcAft>
              <a:buNone/>
              <a:defRPr sz="1600" b="1">
                <a:solidFill>
                  <a:srgbClr val="000000"/>
                </a:solidFill>
              </a:defRPr>
            </a:pPr>
            <a:r>
              <a:rPr sz="1600" b="1">
                <a:solidFill>
                  <a:srgbClr val="000000"/>
                </a:solidFill>
                <a:latin typeface="Google Sans Flex SemiBold"/>
                <a:ea typeface="Google Sans Flex SemiBold"/>
                <a:cs typeface="Google Sans Flex SemiBold"/>
              </a:rPr>
              <a:t>Why Re:Source is different</a:t>
            </a:r>
            <a:endParaRPr sz="1600">
              <a:latin typeface="Google Sans Flex SemiBold"/>
              <a:ea typeface="Google Sans Flex SemiBold"/>
              <a:cs typeface="Google Sans Flex SemiBold"/>
            </a:endParaRPr>
          </a:p>
        </p:txBody>
      </p:sp>
      <p:sp>
        <p:nvSpPr>
          <p:cNvPr id="80" name="">
            <a:extLst xmlns:a="http://schemas.openxmlformats.org/drawingml/2006/main">
              <a:ext uri="{FF2B5EF4-FFF2-40B4-BE49-F238E27FC236}">
                <a16:creationId xmlns:a16="http://schemas.microsoft.com/office/drawing/2014/main" id="{12083407-D80B-41E1-B655-D063CA98B07C}"/>
              </a:ext>
            </a:extLst>
          </p:cNvPr>
          <p:cNvSpPr>
            <a:spLocks xmlns:a="http://schemas.openxmlformats.org/drawingml/2006/main" noGrp="1"/>
          </p:cNvSpPr>
          <p:nvPr/>
        </p:nvSpPr>
        <p:spPr>
          <a:xfrm xmlns:a="http://schemas.openxmlformats.org/drawingml/2006/main">
            <a:off x="457200" y="1381125"/>
            <a:ext cx="8229600" cy="838200"/>
          </a:xfrm>
          <a:prstGeom xmlns:a="http://schemas.openxmlformats.org/drawingml/2006/main" prst="roundRect">
            <a:avLst>
              <a:gd name="adj" fmla="val 13636"/>
            </a:avLst>
          </a:prstGeom>
          <a:solidFill xmlns:a="http://schemas.openxmlformats.org/drawingml/2006/main">
            <a:srgbClr val="ECFBFD"/>
          </a:solidFill>
          <a:ln xmlns:a="http://schemas.openxmlformats.org/drawingml/2006/main" w="9525">
            <a:solidFill>
              <a:srgbClr val="D8DEE8"/>
            </a:solidFill>
            <a:prstDash val="solid"/>
          </a:ln>
        </p:spPr>
      </p:sp>
      <p:sp>
        <p:nvSpPr>
          <p:cNvPr id="81" name="">
            <a:extLst xmlns:a="http://schemas.openxmlformats.org/drawingml/2006/main">
              <a:ext uri="{FF2B5EF4-FFF2-40B4-BE49-F238E27FC236}">
                <a16:creationId xmlns:a16="http://schemas.microsoft.com/office/drawing/2014/main" id="{CDA4CA35-E903-4F66-89D3-5AB34BC0208F}"/>
              </a:ext>
            </a:extLst>
          </p:cNvPr>
          <p:cNvSpPr>
            <a:spLocks xmlns:a="http://schemas.openxmlformats.org/drawingml/2006/main" noGrp="1"/>
          </p:cNvSpPr>
          <p:nvPr/>
        </p:nvSpPr>
        <p:spPr>
          <a:xfrm xmlns:a="http://schemas.openxmlformats.org/drawingml/2006/main">
            <a:off x="666750" y="15525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3788E8"/>
                </a:solidFill>
              </a:defRPr>
            </a:defPPr>
          </a:lstStyle>
          <a:p xmlns:a="http://schemas.openxmlformats.org/drawingml/2006/main">
            <a:pPr algn="l">
              <a:defRPr sz="1500" b="1">
                <a:solidFill>
                  <a:srgbClr val="3788E8"/>
                </a:solidFill>
              </a:defRPr>
            </a:pPr>
            <a:r>
              <a:rPr sz="1500" b="1">
                <a:solidFill>
                  <a:srgbClr val="3788E8"/>
                </a:solidFill>
              </a:rPr>
              <a:t>The gap</a:t>
            </a:r>
          </a:p>
        </p:txBody>
      </p:sp>
      <p:sp>
        <p:nvSpPr>
          <p:cNvPr id="82" name="">
            <a:extLst xmlns:a="http://schemas.openxmlformats.org/drawingml/2006/main">
              <a:ext uri="{FF2B5EF4-FFF2-40B4-BE49-F238E27FC236}">
                <a16:creationId xmlns:a16="http://schemas.microsoft.com/office/drawing/2014/main" id="{E9ACAEA2-56B3-4519-B700-85F92E6BF709}"/>
              </a:ext>
            </a:extLst>
          </p:cNvPr>
          <p:cNvSpPr>
            <a:spLocks xmlns:a="http://schemas.openxmlformats.org/drawingml/2006/main" noGrp="1"/>
          </p:cNvSpPr>
          <p:nvPr/>
        </p:nvSpPr>
        <p:spPr>
          <a:xfrm xmlns:a="http://schemas.openxmlformats.org/drawingml/2006/main">
            <a:off x="2381250" y="1524000"/>
            <a:ext cx="600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11827"/>
                </a:solidFill>
              </a:defRPr>
            </a:defPPr>
          </a:lstStyle>
          <a:p xmlns:a="http://schemas.openxmlformats.org/drawingml/2006/main">
            <a:pPr algn="l">
              <a:defRPr sz="1275" b="0">
                <a:solidFill>
                  <a:srgbClr val="111827"/>
                </a:solidFill>
              </a:defRPr>
            </a:pPr>
            <a:r>
              <a:rPr sz="1275" b="0">
                <a:solidFill>
                  <a:srgbClr val="111827"/>
                </a:solidFill>
              </a:rPr>
              <a:t>People search with project intent, while leftover inventory is described as isolated items.</a:t>
            </a:r>
          </a:p>
        </p:txBody>
      </p:sp>
      <p:sp>
        <p:nvSpPr>
          <p:cNvPr id="83" name="">
            <a:extLst xmlns:a="http://schemas.openxmlformats.org/drawingml/2006/main">
              <a:ext uri="{FF2B5EF4-FFF2-40B4-BE49-F238E27FC236}">
                <a16:creationId xmlns:a16="http://schemas.microsoft.com/office/drawing/2014/main" id="{B3D59C0D-0B2F-4EE2-BDF3-0DDC7F912418}"/>
              </a:ext>
            </a:extLst>
          </p:cNvPr>
          <p:cNvSpPr>
            <a:spLocks xmlns:a="http://schemas.openxmlformats.org/drawingml/2006/main" noGrp="1"/>
          </p:cNvSpPr>
          <p:nvPr/>
        </p:nvSpPr>
        <p:spPr>
          <a:xfrm xmlns:a="http://schemas.openxmlformats.org/drawingml/2006/main">
            <a:off x="457200" y="2447925"/>
            <a:ext cx="8229600" cy="838200"/>
          </a:xfrm>
          <a:prstGeom xmlns:a="http://schemas.openxmlformats.org/drawingml/2006/main" prst="roundRect">
            <a:avLst>
              <a:gd name="adj" fmla="val 13636"/>
            </a:avLst>
          </a:prstGeom>
          <a:solidFill xmlns:a="http://schemas.openxmlformats.org/drawingml/2006/main">
            <a:srgbClr val="F1ECFC"/>
          </a:solidFill>
          <a:ln xmlns:a="http://schemas.openxmlformats.org/drawingml/2006/main" w="9525">
            <a:solidFill>
              <a:srgbClr val="D8DEE8"/>
            </a:solidFill>
            <a:prstDash val="solid"/>
          </a:ln>
        </p:spPr>
      </p:sp>
      <p:sp>
        <p:nvSpPr>
          <p:cNvPr id="84" name="">
            <a:extLst xmlns:a="http://schemas.openxmlformats.org/drawingml/2006/main">
              <a:ext uri="{FF2B5EF4-FFF2-40B4-BE49-F238E27FC236}">
                <a16:creationId xmlns:a16="http://schemas.microsoft.com/office/drawing/2014/main" id="{AD83DA8F-DC98-4811-9D47-566060D206FF}"/>
              </a:ext>
            </a:extLst>
          </p:cNvPr>
          <p:cNvSpPr>
            <a:spLocks xmlns:a="http://schemas.openxmlformats.org/drawingml/2006/main" noGrp="1"/>
          </p:cNvSpPr>
          <p:nvPr/>
        </p:nvSpPr>
        <p:spPr>
          <a:xfrm xmlns:a="http://schemas.openxmlformats.org/drawingml/2006/main">
            <a:off x="666750" y="26193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7041D9"/>
                </a:solidFill>
              </a:defRPr>
            </a:defPPr>
          </a:lstStyle>
          <a:p xmlns:a="http://schemas.openxmlformats.org/drawingml/2006/main">
            <a:pPr algn="l">
              <a:defRPr sz="1500" b="1">
                <a:solidFill>
                  <a:srgbClr val="7041D9"/>
                </a:solidFill>
              </a:defRPr>
            </a:pPr>
            <a:r>
              <a:rPr sz="1500" b="1">
                <a:solidFill>
                  <a:srgbClr val="7041D9"/>
                </a:solidFill>
              </a:rPr>
              <a:t>The response</a:t>
            </a:r>
          </a:p>
        </p:txBody>
      </p:sp>
      <p:sp>
        <p:nvSpPr>
          <p:cNvPr id="85" name="">
            <a:extLst xmlns:a="http://schemas.openxmlformats.org/drawingml/2006/main">
              <a:ext uri="{FF2B5EF4-FFF2-40B4-BE49-F238E27FC236}">
                <a16:creationId xmlns:a16="http://schemas.microsoft.com/office/drawing/2014/main" id="{6A009398-311F-4848-8D82-9623D7AA63F0}"/>
              </a:ext>
            </a:extLst>
          </p:cNvPr>
          <p:cNvSpPr>
            <a:spLocks xmlns:a="http://schemas.openxmlformats.org/drawingml/2006/main" noGrp="1"/>
          </p:cNvSpPr>
          <p:nvPr/>
        </p:nvSpPr>
        <p:spPr>
          <a:xfrm xmlns:a="http://schemas.openxmlformats.org/drawingml/2006/main">
            <a:off x="2381250" y="2590800"/>
            <a:ext cx="600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11827"/>
                </a:solidFill>
              </a:defRPr>
            </a:defPPr>
          </a:lstStyle>
          <a:p xmlns:a="http://schemas.openxmlformats.org/drawingml/2006/main">
            <a:pPr algn="l">
              <a:defRPr sz="1275" b="0">
                <a:solidFill>
                  <a:srgbClr val="111827"/>
                </a:solidFill>
              </a:defRPr>
            </a:pPr>
            <a:r>
              <a:rPr sz="1275" b="0">
                <a:solidFill>
                  <a:srgbClr val="111827"/>
                </a:solidFill>
              </a:rPr>
              <a:t>Re:Source converts a project brief into requirements and matches only against available inventory.</a:t>
            </a:r>
          </a:p>
        </p:txBody>
      </p:sp>
      <p:sp>
        <p:nvSpPr>
          <p:cNvPr id="86" name="">
            <a:extLst xmlns:a="http://schemas.openxmlformats.org/drawingml/2006/main">
              <a:ext uri="{FF2B5EF4-FFF2-40B4-BE49-F238E27FC236}">
                <a16:creationId xmlns:a16="http://schemas.microsoft.com/office/drawing/2014/main" id="{454A60E2-45B2-4487-ADB5-22A8A60CBC3A}"/>
              </a:ext>
            </a:extLst>
          </p:cNvPr>
          <p:cNvSpPr>
            <a:spLocks xmlns:a="http://schemas.openxmlformats.org/drawingml/2006/main" noGrp="1"/>
          </p:cNvSpPr>
          <p:nvPr/>
        </p:nvSpPr>
        <p:spPr>
          <a:xfrm xmlns:a="http://schemas.openxmlformats.org/drawingml/2006/main">
            <a:off x="457200" y="3514725"/>
            <a:ext cx="8229600" cy="838200"/>
          </a:xfrm>
          <a:prstGeom xmlns:a="http://schemas.openxmlformats.org/drawingml/2006/main" prst="roundRect">
            <a:avLst>
              <a:gd name="adj" fmla="val 13636"/>
            </a:avLst>
          </a:prstGeom>
          <a:solidFill xmlns:a="http://schemas.openxmlformats.org/drawingml/2006/main">
            <a:srgbClr val="ECFBFD"/>
          </a:solidFill>
          <a:ln xmlns:a="http://schemas.openxmlformats.org/drawingml/2006/main" w="9525">
            <a:solidFill>
              <a:srgbClr val="D8DEE8"/>
            </a:solidFill>
            <a:prstDash val="solid"/>
          </a:ln>
        </p:spPr>
      </p:sp>
      <p:sp>
        <p:nvSpPr>
          <p:cNvPr id="87" name="">
            <a:extLst xmlns:a="http://schemas.openxmlformats.org/drawingml/2006/main">
              <a:ext uri="{FF2B5EF4-FFF2-40B4-BE49-F238E27FC236}">
                <a16:creationId xmlns:a16="http://schemas.microsoft.com/office/drawing/2014/main" id="{606ADD9F-6857-4BDE-9CB6-DB72C68C6D67}"/>
              </a:ext>
            </a:extLst>
          </p:cNvPr>
          <p:cNvSpPr>
            <a:spLocks xmlns:a="http://schemas.openxmlformats.org/drawingml/2006/main" noGrp="1"/>
          </p:cNvSpPr>
          <p:nvPr/>
        </p:nvSpPr>
        <p:spPr>
          <a:xfrm xmlns:a="http://schemas.openxmlformats.org/drawingml/2006/main">
            <a:off x="666750" y="36861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1">
                <a:solidFill>
                  <a:srgbClr val="3788E8"/>
                </a:solidFill>
              </a:defRPr>
            </a:defPPr>
          </a:lstStyle>
          <a:p xmlns:a="http://schemas.openxmlformats.org/drawingml/2006/main">
            <a:pPr algn="l">
              <a:defRPr sz="1500" b="1">
                <a:solidFill>
                  <a:srgbClr val="3788E8"/>
                </a:solidFill>
              </a:defRPr>
            </a:pPr>
            <a:r>
              <a:rPr sz="1500" b="1">
                <a:solidFill>
                  <a:srgbClr val="3788E8"/>
                </a:solidFill>
              </a:rPr>
              <a:t>The trust layer</a:t>
            </a:r>
          </a:p>
        </p:txBody>
      </p:sp>
      <p:sp>
        <p:nvSpPr>
          <p:cNvPr id="88" name="">
            <a:extLst xmlns:a="http://schemas.openxmlformats.org/drawingml/2006/main">
              <a:ext uri="{FF2B5EF4-FFF2-40B4-BE49-F238E27FC236}">
                <a16:creationId xmlns:a16="http://schemas.microsoft.com/office/drawing/2014/main" id="{3ED1C662-7780-460B-9BBD-0F2B25CB6A56}"/>
              </a:ext>
            </a:extLst>
          </p:cNvPr>
          <p:cNvSpPr>
            <a:spLocks xmlns:a="http://schemas.openxmlformats.org/drawingml/2006/main" noGrp="1"/>
          </p:cNvSpPr>
          <p:nvPr/>
        </p:nvSpPr>
        <p:spPr>
          <a:xfrm xmlns:a="http://schemas.openxmlformats.org/drawingml/2006/main">
            <a:off x="2381250" y="3657600"/>
            <a:ext cx="600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11827"/>
                </a:solidFill>
              </a:defRPr>
            </a:defPPr>
          </a:lstStyle>
          <a:p xmlns:a="http://schemas.openxmlformats.org/drawingml/2006/main">
            <a:pPr algn="l">
              <a:defRPr sz="1275" b="0">
                <a:solidFill>
                  <a:srgbClr val="111827"/>
                </a:solidFill>
              </a:defRPr>
            </a:pPr>
            <a:r>
              <a:rPr sz="1275" b="0">
                <a:solidFill>
                  <a:srgbClr val="111827"/>
                </a:solidFill>
              </a:rPr>
              <a:t>Every recommendation shows confirmed facts, calculated coverage, missing information and pickup questions.</a:t>
            </a:r>
          </a:p>
        </p:txBody>
      </p:sp>
    </p:spTree>
    <p:extLst>
      <p:ext uri="{BB962C8B-B14F-4D97-AF65-F5344CB8AC3E}">
        <p14:creationId xmlns:p14="http://schemas.microsoft.com/office/powerpoint/2010/main" val="17220161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84" name="Google Shape;84;p17">
            <a:extLst xmlns:a="http://schemas.openxmlformats.org/drawingml/2006/main">
              <a:ext uri="{FF2B5EF4-FFF2-40B4-BE49-F238E27FC236}">
                <a16:creationId xmlns:a16="http://schemas.microsoft.com/office/drawing/2014/main" id="{DCECA143-D331-4697-88D9-7315FFB837F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d8685ed69f44611">
            <a:alphaModFix/>
          </a:blip>
          <a:srcRect xmlns:a="http://schemas.openxmlformats.org/drawingml/2006/main" l="0" t="0" r="0" b="98001"/>
          <a:stretch xmlns:a="http://schemas.openxmlformats.org/drawingml/2006/main"/>
        </p:blipFill>
        <p:spPr>
          <a:xfrm xmlns:a="http://schemas.openxmlformats.org/drawingml/2006/main">
            <a:off x="0" y="5093562"/>
            <a:ext cx="9144000" cy="54275"/>
          </a:xfrm>
          <a:prstGeom xmlns:a="http://schemas.openxmlformats.org/drawingml/2006/main" prst="rect">
            <a:avLst/>
          </a:prstGeom>
          <a:ln xmlns:a="http://schemas.openxmlformats.org/drawingml/2006/main">
            <a:noFill/>
          </a:ln>
        </p:spPr>
      </p:pic>
      <p:pic>
        <p:nvPicPr>
          <p:cNvPr id="85" name="Google Shape;85;p17">
            <a:extLst xmlns:a="http://schemas.openxmlformats.org/drawingml/2006/main">
              <a:ext uri="{FF2B5EF4-FFF2-40B4-BE49-F238E27FC236}">
                <a16:creationId xmlns:a16="http://schemas.microsoft.com/office/drawing/2014/main" id="{4619EEEF-6418-4BD1-9B93-CAC53F4001EE}"/>
              </a:ext>
            </a:extLst>
          </p:cNvPr>
          <p:cNvPicPr>
            <a:picLocks xmlns:a="http://schemas.openxmlformats.org/drawingml/2006/main" noChangeAspect="1"/>
          </p:cNvPicPr>
          <p:nvPr/>
        </p:nvPicPr>
        <p:blipFill>
          <a:blip xmlns:r="http://schemas.openxmlformats.org/officeDocument/2006/relationships" xmlns:a="http://schemas.openxmlformats.org/drawingml/2006/main" r:embed="R58e9753919cc4536">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86" name="Google Shape;86;p17">
            <a:extLst xmlns:a="http://schemas.openxmlformats.org/drawingml/2006/main">
              <a:ext uri="{FF2B5EF4-FFF2-40B4-BE49-F238E27FC236}">
                <a16:creationId xmlns:a16="http://schemas.microsoft.com/office/drawing/2014/main" id="{8D8A0E4A-FB3F-4F0F-8935-7B7A0C862DFC}"/>
              </a:ext>
            </a:extLst>
          </p:cNvPr>
          <p:cNvSpPr>
            <a:spLocks xmlns:a="http://schemas.openxmlformats.org/drawingml/2006/main" noGrp="1"/>
          </p:cNvSpPr>
          <p:nvPr/>
        </p:nvSpPr>
        <p:spPr>
          <a:xfrm xmlns:a="http://schemas.openxmlformats.org/drawingml/2006/main">
            <a:off x="-29250" y="5071875"/>
            <a:ext cx="9173400" cy="978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87" name="Google Shape;87;p17">
            <a:extLst xmlns:a="http://schemas.openxmlformats.org/drawingml/2006/main">
              <a:ext uri="{FF2B5EF4-FFF2-40B4-BE49-F238E27FC236}">
                <a16:creationId xmlns:a16="http://schemas.microsoft.com/office/drawing/2014/main" id="{EDFBF359-3134-4270-90E3-A83E2E9479EF}"/>
              </a:ext>
            </a:extLst>
          </p:cNvPr>
          <p:cNvSpPr>
            <a:spLocks xmlns:a="http://schemas.openxmlformats.org/drawingml/2006/main" noGrp="1"/>
          </p:cNvSpPr>
          <p:nvPr/>
        </p:nvSpPr>
        <p:spPr>
          <a:xfrm xmlns:a="http://schemas.openxmlformats.org/drawingml/2006/main">
            <a:off x="265367" y="663797"/>
            <a:ext cx="85725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lgn="l">
              <a:defRPr sz="1600" b="1">
                <a:solidFill>
                  <a:srgbClr val="000000"/>
                </a:solidFill>
              </a:defRPr>
            </a:defPPr>
          </a:lstStyle>
          <a:p xmlns:a="http://schemas.openxmlformats.org/drawingml/2006/main">
            <a:pPr marL="0" lvl="0" indent="0" algn="l">
              <a:spcBef>
                <a:spcPts val="0"/>
              </a:spcBef>
              <a:spcAft>
                <a:spcPts val="0"/>
              </a:spcAft>
              <a:buNone/>
              <a:defRPr sz="1600" b="1">
                <a:solidFill>
                  <a:srgbClr val="000000"/>
                </a:solidFill>
              </a:defRPr>
            </a:pPr>
            <a:r>
              <a:rPr sz="1600" b="1">
                <a:solidFill>
                  <a:srgbClr val="000000"/>
                </a:solidFill>
                <a:latin typeface="Google Sans Flex Medium"/>
                <a:ea typeface="Google Sans Flex Medium"/>
                <a:cs typeface="Google Sans Flex Medium"/>
              </a:rPr>
              <a:t>Core product features</a:t>
            </a:r>
            <a:endParaRPr sz="1600">
              <a:latin typeface="Google Sans Flex Medium"/>
              <a:ea typeface="Google Sans Flex Medium"/>
              <a:cs typeface="Google Sans Flex Medium"/>
            </a:endParaRPr>
          </a:p>
        </p:txBody>
      </p:sp>
      <p:sp>
        <p:nvSpPr>
          <p:cNvPr id="88" name="">
            <a:extLst xmlns:a="http://schemas.openxmlformats.org/drawingml/2006/main">
              <a:ext uri="{FF2B5EF4-FFF2-40B4-BE49-F238E27FC236}">
                <a16:creationId xmlns:a16="http://schemas.microsoft.com/office/drawing/2014/main" id="{4B0D2FFA-1255-41A9-8F47-86DBC6C2E00C}"/>
              </a:ext>
            </a:extLst>
          </p:cNvPr>
          <p:cNvSpPr>
            <a:spLocks xmlns:a="http://schemas.openxmlformats.org/drawingml/2006/main" noGrp="1"/>
          </p:cNvSpPr>
          <p:nvPr/>
        </p:nvSpPr>
        <p:spPr>
          <a:xfrm xmlns:a="http://schemas.openxmlformats.org/drawingml/2006/main">
            <a:off x="457200" y="1381125"/>
            <a:ext cx="3952875"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D8DEE8"/>
            </a:solidFill>
            <a:prstDash val="solid"/>
          </a:ln>
        </p:spPr>
      </p:sp>
      <p:sp>
        <p:nvSpPr>
          <p:cNvPr id="89" name="">
            <a:extLst xmlns:a="http://schemas.openxmlformats.org/drawingml/2006/main">
              <a:ext uri="{FF2B5EF4-FFF2-40B4-BE49-F238E27FC236}">
                <a16:creationId xmlns:a16="http://schemas.microsoft.com/office/drawing/2014/main" id="{64341383-0D80-4C09-90AB-565FB9F72715}"/>
              </a:ext>
            </a:extLst>
          </p:cNvPr>
          <p:cNvSpPr>
            <a:spLocks xmlns:a="http://schemas.openxmlformats.org/drawingml/2006/main" noGrp="1"/>
          </p:cNvSpPr>
          <p:nvPr/>
        </p:nvSpPr>
        <p:spPr>
          <a:xfrm xmlns:a="http://schemas.openxmlformats.org/drawingml/2006/main">
            <a:off x="628650" y="1524000"/>
            <a:ext cx="3571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3788E8"/>
                </a:solidFill>
              </a:defRPr>
            </a:defPPr>
          </a:lstStyle>
          <a:p xmlns:a="http://schemas.openxmlformats.org/drawingml/2006/main">
            <a:pPr algn="l">
              <a:defRPr sz="1350" b="1">
                <a:solidFill>
                  <a:srgbClr val="3788E8"/>
                </a:solidFill>
              </a:defRPr>
            </a:pPr>
            <a:r>
              <a:rPr sz="1350" b="1">
                <a:solidFill>
                  <a:srgbClr val="3788E8"/>
                </a:solidFill>
              </a:rPr>
              <a:t>Mindful giveaway</a:t>
            </a:r>
          </a:p>
        </p:txBody>
      </p:sp>
      <p:sp>
        <p:nvSpPr>
          <p:cNvPr id="90" name="">
            <a:extLst xmlns:a="http://schemas.openxmlformats.org/drawingml/2006/main">
              <a:ext uri="{FF2B5EF4-FFF2-40B4-BE49-F238E27FC236}">
                <a16:creationId xmlns:a16="http://schemas.microsoft.com/office/drawing/2014/main" id="{90EB9689-BE80-4DC0-AF3C-67B2E0965BA5}"/>
              </a:ext>
            </a:extLst>
          </p:cNvPr>
          <p:cNvSpPr>
            <a:spLocks xmlns:a="http://schemas.openxmlformats.org/drawingml/2006/main" noGrp="1"/>
          </p:cNvSpPr>
          <p:nvPr/>
        </p:nvSpPr>
        <p:spPr>
          <a:xfrm xmlns:a="http://schemas.openxmlformats.org/drawingml/2006/main">
            <a:off x="628650" y="1809750"/>
            <a:ext cx="3571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86273"/>
                </a:solidFill>
              </a:defRPr>
            </a:defPPr>
          </a:lstStyle>
          <a:p xmlns:a="http://schemas.openxmlformats.org/drawingml/2006/main">
            <a:pPr algn="l">
              <a:defRPr sz="1050" b="0">
                <a:solidFill>
                  <a:srgbClr val="586273"/>
                </a:solidFill>
              </a:defRPr>
            </a:pPr>
            <a:r>
              <a:rPr sz="1050" b="0">
                <a:solidFill>
                  <a:srgbClr val="586273"/>
                </a:solidFill>
              </a:rPr>
              <a:t>Resources move to someone who needs them without turning the experience into resale.</a:t>
            </a:r>
          </a:p>
        </p:txBody>
      </p:sp>
      <p:sp>
        <p:nvSpPr>
          <p:cNvPr id="91" name="">
            <a:extLst xmlns:a="http://schemas.openxmlformats.org/drawingml/2006/main">
              <a:ext uri="{FF2B5EF4-FFF2-40B4-BE49-F238E27FC236}">
                <a16:creationId xmlns:a16="http://schemas.microsoft.com/office/drawing/2014/main" id="{C95D82D8-AA5F-4A93-A7BC-0CDB3E6F15C6}"/>
              </a:ext>
            </a:extLst>
          </p:cNvPr>
          <p:cNvSpPr>
            <a:spLocks xmlns:a="http://schemas.openxmlformats.org/drawingml/2006/main" noGrp="1"/>
          </p:cNvSpPr>
          <p:nvPr/>
        </p:nvSpPr>
        <p:spPr>
          <a:xfrm xmlns:a="http://schemas.openxmlformats.org/drawingml/2006/main">
            <a:off x="4714875" y="1381125"/>
            <a:ext cx="3952875"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D8DEE8"/>
            </a:solidFill>
            <a:prstDash val="solid"/>
          </a:ln>
        </p:spPr>
      </p:sp>
      <p:sp>
        <p:nvSpPr>
          <p:cNvPr id="92" name="">
            <a:extLst xmlns:a="http://schemas.openxmlformats.org/drawingml/2006/main">
              <a:ext uri="{FF2B5EF4-FFF2-40B4-BE49-F238E27FC236}">
                <a16:creationId xmlns:a16="http://schemas.microsoft.com/office/drawing/2014/main" id="{8593D58F-F067-47B6-A5A6-D671337BB599}"/>
              </a:ext>
            </a:extLst>
          </p:cNvPr>
          <p:cNvSpPr>
            <a:spLocks xmlns:a="http://schemas.openxmlformats.org/drawingml/2006/main" noGrp="1"/>
          </p:cNvSpPr>
          <p:nvPr/>
        </p:nvSpPr>
        <p:spPr>
          <a:xfrm xmlns:a="http://schemas.openxmlformats.org/drawingml/2006/main">
            <a:off x="4886325" y="1524000"/>
            <a:ext cx="3571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7041D9"/>
                </a:solidFill>
              </a:defRPr>
            </a:defPPr>
          </a:lstStyle>
          <a:p xmlns:a="http://schemas.openxmlformats.org/drawingml/2006/main">
            <a:pPr algn="l">
              <a:defRPr sz="1350" b="1">
                <a:solidFill>
                  <a:srgbClr val="7041D9"/>
                </a:solidFill>
              </a:defRPr>
            </a:pPr>
            <a:r>
              <a:rPr sz="1350" b="1">
                <a:solidFill>
                  <a:srgbClr val="7041D9"/>
                </a:solidFill>
              </a:rPr>
              <a:t>Rewards system</a:t>
            </a:r>
          </a:p>
        </p:txBody>
      </p:sp>
      <p:sp>
        <p:nvSpPr>
          <p:cNvPr id="93" name="">
            <a:extLst xmlns:a="http://schemas.openxmlformats.org/drawingml/2006/main">
              <a:ext uri="{FF2B5EF4-FFF2-40B4-BE49-F238E27FC236}">
                <a16:creationId xmlns:a16="http://schemas.microsoft.com/office/drawing/2014/main" id="{C5817CD1-D293-4FCA-81ED-0D4A9F7F746D}"/>
              </a:ext>
            </a:extLst>
          </p:cNvPr>
          <p:cNvSpPr>
            <a:spLocks xmlns:a="http://schemas.openxmlformats.org/drawingml/2006/main" noGrp="1"/>
          </p:cNvSpPr>
          <p:nvPr/>
        </p:nvSpPr>
        <p:spPr>
          <a:xfrm xmlns:a="http://schemas.openxmlformats.org/drawingml/2006/main">
            <a:off x="4886325" y="1809750"/>
            <a:ext cx="3571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86273"/>
                </a:solidFill>
              </a:defRPr>
            </a:defPPr>
          </a:lstStyle>
          <a:p xmlns:a="http://schemas.openxmlformats.org/drawingml/2006/main">
            <a:pPr algn="l">
              <a:defRPr sz="1050" b="0">
                <a:solidFill>
                  <a:srgbClr val="586273"/>
                </a:solidFill>
              </a:defRPr>
            </a:pPr>
            <a:r>
              <a:rPr sz="1050" b="0">
                <a:solidFill>
                  <a:srgbClr val="586273"/>
                </a:solidFill>
              </a:rPr>
              <a:t>Recognises people who give useful resources and complete successful handoffs.</a:t>
            </a:r>
          </a:p>
        </p:txBody>
      </p:sp>
      <p:sp>
        <p:nvSpPr>
          <p:cNvPr id="94" name="">
            <a:extLst xmlns:a="http://schemas.openxmlformats.org/drawingml/2006/main">
              <a:ext uri="{FF2B5EF4-FFF2-40B4-BE49-F238E27FC236}">
                <a16:creationId xmlns:a16="http://schemas.microsoft.com/office/drawing/2014/main" id="{160CBB08-3DF6-41D5-A5FB-95F794EE38CE}"/>
              </a:ext>
            </a:extLst>
          </p:cNvPr>
          <p:cNvSpPr>
            <a:spLocks xmlns:a="http://schemas.openxmlformats.org/drawingml/2006/main" noGrp="1"/>
          </p:cNvSpPr>
          <p:nvPr/>
        </p:nvSpPr>
        <p:spPr>
          <a:xfrm xmlns:a="http://schemas.openxmlformats.org/drawingml/2006/main">
            <a:off x="457200" y="2505075"/>
            <a:ext cx="3952875"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D8DEE8"/>
            </a:solidFill>
            <a:prstDash val="solid"/>
          </a:ln>
        </p:spPr>
      </p:sp>
      <p:sp>
        <p:nvSpPr>
          <p:cNvPr id="95" name="">
            <a:extLst xmlns:a="http://schemas.openxmlformats.org/drawingml/2006/main">
              <a:ext uri="{FF2B5EF4-FFF2-40B4-BE49-F238E27FC236}">
                <a16:creationId xmlns:a16="http://schemas.microsoft.com/office/drawing/2014/main" id="{9E5B15F8-9953-4805-9327-765085C60A88}"/>
              </a:ext>
            </a:extLst>
          </p:cNvPr>
          <p:cNvSpPr>
            <a:spLocks xmlns:a="http://schemas.openxmlformats.org/drawingml/2006/main" noGrp="1"/>
          </p:cNvSpPr>
          <p:nvPr/>
        </p:nvSpPr>
        <p:spPr>
          <a:xfrm xmlns:a="http://schemas.openxmlformats.org/drawingml/2006/main">
            <a:off x="628650" y="2647950"/>
            <a:ext cx="3571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3788E8"/>
                </a:solidFill>
              </a:defRPr>
            </a:defPPr>
          </a:lstStyle>
          <a:p xmlns:a="http://schemas.openxmlformats.org/drawingml/2006/main">
            <a:pPr algn="l">
              <a:defRPr sz="1350" b="1">
                <a:solidFill>
                  <a:srgbClr val="3788E8"/>
                </a:solidFill>
              </a:defRPr>
            </a:pPr>
            <a:r>
              <a:rPr sz="1350" b="1">
                <a:solidFill>
                  <a:srgbClr val="3788E8"/>
                </a:solidFill>
              </a:rPr>
              <a:t>Three entry points</a:t>
            </a:r>
          </a:p>
        </p:txBody>
      </p:sp>
      <p:sp>
        <p:nvSpPr>
          <p:cNvPr id="96" name="">
            <a:extLst xmlns:a="http://schemas.openxmlformats.org/drawingml/2006/main">
              <a:ext uri="{FF2B5EF4-FFF2-40B4-BE49-F238E27FC236}">
                <a16:creationId xmlns:a16="http://schemas.microsoft.com/office/drawing/2014/main" id="{5B14CC94-C2D8-43BF-9F95-AE5F3844CC24}"/>
              </a:ext>
            </a:extLst>
          </p:cNvPr>
          <p:cNvSpPr>
            <a:spLocks xmlns:a="http://schemas.openxmlformats.org/drawingml/2006/main" noGrp="1"/>
          </p:cNvSpPr>
          <p:nvPr/>
        </p:nvSpPr>
        <p:spPr>
          <a:xfrm xmlns:a="http://schemas.openxmlformats.org/drawingml/2006/main">
            <a:off x="628650" y="2933700"/>
            <a:ext cx="3571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86273"/>
                </a:solidFill>
              </a:defRPr>
            </a:defPPr>
          </a:lstStyle>
          <a:p xmlns:a="http://schemas.openxmlformats.org/drawingml/2006/main">
            <a:pPr algn="l">
              <a:defRPr sz="1050" b="0">
                <a:solidFill>
                  <a:srgbClr val="586273"/>
                </a:solidFill>
              </a:defRPr>
            </a:pPr>
            <a:r>
              <a:rPr sz="1050" b="0">
                <a:solidFill>
                  <a:srgbClr val="586273"/>
                </a:solidFill>
              </a:rPr>
              <a:t>Start with Need a resource, Give a resource or Build something.</a:t>
            </a:r>
          </a:p>
        </p:txBody>
      </p:sp>
      <p:sp>
        <p:nvSpPr>
          <p:cNvPr id="97" name="">
            <a:extLst xmlns:a="http://schemas.openxmlformats.org/drawingml/2006/main">
              <a:ext uri="{FF2B5EF4-FFF2-40B4-BE49-F238E27FC236}">
                <a16:creationId xmlns:a16="http://schemas.microsoft.com/office/drawing/2014/main" id="{AAB44292-CE93-4DE6-B845-2D2302CEFD04}"/>
              </a:ext>
            </a:extLst>
          </p:cNvPr>
          <p:cNvSpPr>
            <a:spLocks xmlns:a="http://schemas.openxmlformats.org/drawingml/2006/main" noGrp="1"/>
          </p:cNvSpPr>
          <p:nvPr/>
        </p:nvSpPr>
        <p:spPr>
          <a:xfrm xmlns:a="http://schemas.openxmlformats.org/drawingml/2006/main">
            <a:off x="4714875" y="2505075"/>
            <a:ext cx="3952875"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D8DEE8"/>
            </a:solidFill>
            <a:prstDash val="solid"/>
          </a:ln>
        </p:spPr>
      </p:sp>
      <p:sp>
        <p:nvSpPr>
          <p:cNvPr id="98" name="">
            <a:extLst xmlns:a="http://schemas.openxmlformats.org/drawingml/2006/main">
              <a:ext uri="{FF2B5EF4-FFF2-40B4-BE49-F238E27FC236}">
                <a16:creationId xmlns:a16="http://schemas.microsoft.com/office/drawing/2014/main" id="{CC9A17CB-DF40-4B33-A2AA-7C5FE1AE2F9A}"/>
              </a:ext>
            </a:extLst>
          </p:cNvPr>
          <p:cNvSpPr>
            <a:spLocks xmlns:a="http://schemas.openxmlformats.org/drawingml/2006/main" noGrp="1"/>
          </p:cNvSpPr>
          <p:nvPr/>
        </p:nvSpPr>
        <p:spPr>
          <a:xfrm xmlns:a="http://schemas.openxmlformats.org/drawingml/2006/main">
            <a:off x="4886325" y="2647950"/>
            <a:ext cx="3571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7041D9"/>
                </a:solidFill>
              </a:defRPr>
            </a:defPPr>
          </a:lstStyle>
          <a:p xmlns:a="http://schemas.openxmlformats.org/drawingml/2006/main">
            <a:pPr algn="l">
              <a:defRPr sz="1350" b="1">
                <a:solidFill>
                  <a:srgbClr val="7041D9"/>
                </a:solidFill>
              </a:defRPr>
            </a:pPr>
            <a:r>
              <a:rPr sz="1350" b="1">
                <a:solidFill>
                  <a:srgbClr val="7041D9"/>
                </a:solidFill>
              </a:rPr>
              <a:t>Chat + dashboard</a:t>
            </a:r>
          </a:p>
        </p:txBody>
      </p:sp>
      <p:sp>
        <p:nvSpPr>
          <p:cNvPr id="99" name="">
            <a:extLst xmlns:a="http://schemas.openxmlformats.org/drawingml/2006/main">
              <a:ext uri="{FF2B5EF4-FFF2-40B4-BE49-F238E27FC236}">
                <a16:creationId xmlns:a16="http://schemas.microsoft.com/office/drawing/2014/main" id="{C8E64430-CF1A-472F-A032-9DAD83B8ABC9}"/>
              </a:ext>
            </a:extLst>
          </p:cNvPr>
          <p:cNvSpPr>
            <a:spLocks xmlns:a="http://schemas.openxmlformats.org/drawingml/2006/main" noGrp="1"/>
          </p:cNvSpPr>
          <p:nvPr/>
        </p:nvSpPr>
        <p:spPr>
          <a:xfrm xmlns:a="http://schemas.openxmlformats.org/drawingml/2006/main">
            <a:off x="4886325" y="2933700"/>
            <a:ext cx="3571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86273"/>
                </a:solidFill>
              </a:defRPr>
            </a:defPPr>
          </a:lstStyle>
          <a:p xmlns:a="http://schemas.openxmlformats.org/drawingml/2006/main">
            <a:pPr algn="l">
              <a:defRPr sz="1050" b="0">
                <a:solidFill>
                  <a:srgbClr val="586273"/>
                </a:solidFill>
              </a:defRPr>
            </a:pPr>
            <a:r>
              <a:rPr sz="1050" b="0">
                <a:solidFill>
                  <a:srgbClr val="586273"/>
                </a:solidFill>
              </a:rPr>
              <a:t>Switch between guided conversation and a structured overview of listings and progress.</a:t>
            </a:r>
          </a:p>
        </p:txBody>
      </p:sp>
      <p:sp>
        <p:nvSpPr>
          <p:cNvPr id="100" name="">
            <a:extLst xmlns:a="http://schemas.openxmlformats.org/drawingml/2006/main">
              <a:ext uri="{FF2B5EF4-FFF2-40B4-BE49-F238E27FC236}">
                <a16:creationId xmlns:a16="http://schemas.microsoft.com/office/drawing/2014/main" id="{5ED865E9-B686-4528-974E-04BDC9CE938B}"/>
              </a:ext>
            </a:extLst>
          </p:cNvPr>
          <p:cNvSpPr>
            <a:spLocks xmlns:a="http://schemas.openxmlformats.org/drawingml/2006/main" noGrp="1"/>
          </p:cNvSpPr>
          <p:nvPr/>
        </p:nvSpPr>
        <p:spPr>
          <a:xfrm xmlns:a="http://schemas.openxmlformats.org/drawingml/2006/main">
            <a:off x="457200" y="3629025"/>
            <a:ext cx="3952875"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D8DEE8"/>
            </a:solidFill>
            <a:prstDash val="solid"/>
          </a:ln>
        </p:spPr>
      </p:sp>
      <p:sp>
        <p:nvSpPr>
          <p:cNvPr id="101" name="">
            <a:extLst xmlns:a="http://schemas.openxmlformats.org/drawingml/2006/main">
              <a:ext uri="{FF2B5EF4-FFF2-40B4-BE49-F238E27FC236}">
                <a16:creationId xmlns:a16="http://schemas.microsoft.com/office/drawing/2014/main" id="{17C86C17-46D4-4821-B27F-4919E1F01F43}"/>
              </a:ext>
            </a:extLst>
          </p:cNvPr>
          <p:cNvSpPr>
            <a:spLocks xmlns:a="http://schemas.openxmlformats.org/drawingml/2006/main" noGrp="1"/>
          </p:cNvSpPr>
          <p:nvPr/>
        </p:nvSpPr>
        <p:spPr>
          <a:xfrm xmlns:a="http://schemas.openxmlformats.org/drawingml/2006/main">
            <a:off x="628650" y="3771900"/>
            <a:ext cx="3571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3788E8"/>
                </a:solidFill>
              </a:defRPr>
            </a:defPPr>
          </a:lstStyle>
          <a:p xmlns:a="http://schemas.openxmlformats.org/drawingml/2006/main">
            <a:pPr algn="l">
              <a:defRPr sz="1350" b="1">
                <a:solidFill>
                  <a:srgbClr val="3788E8"/>
                </a:solidFill>
              </a:defRPr>
            </a:pPr>
            <a:r>
              <a:rPr sz="1350" b="1">
                <a:solidFill>
                  <a:srgbClr val="3788E8"/>
                </a:solidFill>
              </a:rPr>
              <a:t>Mobile-first access</a:t>
            </a:r>
          </a:p>
        </p:txBody>
      </p:sp>
      <p:sp>
        <p:nvSpPr>
          <p:cNvPr id="102" name="">
            <a:extLst xmlns:a="http://schemas.openxmlformats.org/drawingml/2006/main">
              <a:ext uri="{FF2B5EF4-FFF2-40B4-BE49-F238E27FC236}">
                <a16:creationId xmlns:a16="http://schemas.microsoft.com/office/drawing/2014/main" id="{FE9AEBDF-E0A1-4527-9B01-65A554D10900}"/>
              </a:ext>
            </a:extLst>
          </p:cNvPr>
          <p:cNvSpPr>
            <a:spLocks xmlns:a="http://schemas.openxmlformats.org/drawingml/2006/main" noGrp="1"/>
          </p:cNvSpPr>
          <p:nvPr/>
        </p:nvSpPr>
        <p:spPr>
          <a:xfrm xmlns:a="http://schemas.openxmlformats.org/drawingml/2006/main">
            <a:off x="628650" y="4057650"/>
            <a:ext cx="3571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86273"/>
                </a:solidFill>
              </a:defRPr>
            </a:defPPr>
          </a:lstStyle>
          <a:p xmlns:a="http://schemas.openxmlformats.org/drawingml/2006/main">
            <a:pPr algn="l">
              <a:defRPr sz="1050" b="0">
                <a:solidFill>
                  <a:srgbClr val="586273"/>
                </a:solidFill>
              </a:defRPr>
            </a:pPr>
            <a:r>
              <a:rPr sz="1050" b="0">
                <a:solidFill>
                  <a:srgbClr val="586273"/>
                </a:solidFill>
              </a:rPr>
              <a:t>Keeps the complete journey usable across phones, tablets and desktop screens.</a:t>
            </a:r>
          </a:p>
        </p:txBody>
      </p:sp>
      <p:sp>
        <p:nvSpPr>
          <p:cNvPr id="103" name="">
            <a:extLst xmlns:a="http://schemas.openxmlformats.org/drawingml/2006/main">
              <a:ext uri="{FF2B5EF4-FFF2-40B4-BE49-F238E27FC236}">
                <a16:creationId xmlns:a16="http://schemas.microsoft.com/office/drawing/2014/main" id="{0F94A9B2-0D70-4A3B-8E0B-6C9A98DBE5A7}"/>
              </a:ext>
            </a:extLst>
          </p:cNvPr>
          <p:cNvSpPr>
            <a:spLocks xmlns:a="http://schemas.openxmlformats.org/drawingml/2006/main" noGrp="1"/>
          </p:cNvSpPr>
          <p:nvPr/>
        </p:nvSpPr>
        <p:spPr>
          <a:xfrm xmlns:a="http://schemas.openxmlformats.org/drawingml/2006/main">
            <a:off x="4714875" y="3629025"/>
            <a:ext cx="3952875"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D8DEE8"/>
            </a:solidFill>
            <a:prstDash val="solid"/>
          </a:ln>
        </p:spPr>
      </p:sp>
      <p:sp>
        <p:nvSpPr>
          <p:cNvPr id="104" name="">
            <a:extLst xmlns:a="http://schemas.openxmlformats.org/drawingml/2006/main">
              <a:ext uri="{FF2B5EF4-FFF2-40B4-BE49-F238E27FC236}">
                <a16:creationId xmlns:a16="http://schemas.microsoft.com/office/drawing/2014/main" id="{D072630D-2D41-431C-BEA0-72F7E7FFF15A}"/>
              </a:ext>
            </a:extLst>
          </p:cNvPr>
          <p:cNvSpPr>
            <a:spLocks xmlns:a="http://schemas.openxmlformats.org/drawingml/2006/main" noGrp="1"/>
          </p:cNvSpPr>
          <p:nvPr/>
        </p:nvSpPr>
        <p:spPr>
          <a:xfrm xmlns:a="http://schemas.openxmlformats.org/drawingml/2006/main">
            <a:off x="4886325" y="3771900"/>
            <a:ext cx="3571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7041D9"/>
                </a:solidFill>
              </a:defRPr>
            </a:defPPr>
          </a:lstStyle>
          <a:p xmlns:a="http://schemas.openxmlformats.org/drawingml/2006/main">
            <a:pPr algn="l">
              <a:defRPr sz="1350" b="1">
                <a:solidFill>
                  <a:srgbClr val="7041D9"/>
                </a:solidFill>
              </a:defRPr>
            </a:pPr>
            <a:r>
              <a:rPr sz="1350" b="1">
                <a:solidFill>
                  <a:srgbClr val="7041D9"/>
                </a:solidFill>
              </a:rPr>
              <a:t>Tracked handoff</a:t>
            </a:r>
          </a:p>
        </p:txBody>
      </p:sp>
      <p:sp>
        <p:nvSpPr>
          <p:cNvPr id="105" name="">
            <a:extLst xmlns:a="http://schemas.openxmlformats.org/drawingml/2006/main">
              <a:ext uri="{FF2B5EF4-FFF2-40B4-BE49-F238E27FC236}">
                <a16:creationId xmlns:a16="http://schemas.microsoft.com/office/drawing/2014/main" id="{2EFCB54A-2BE7-4332-894A-844AAFD2C5BA}"/>
              </a:ext>
            </a:extLst>
          </p:cNvPr>
          <p:cNvSpPr>
            <a:spLocks xmlns:a="http://schemas.openxmlformats.org/drawingml/2006/main" noGrp="1"/>
          </p:cNvSpPr>
          <p:nvPr/>
        </p:nvSpPr>
        <p:spPr>
          <a:xfrm xmlns:a="http://schemas.openxmlformats.org/drawingml/2006/main">
            <a:off x="4886325" y="4057650"/>
            <a:ext cx="35718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050" b="0">
                <a:solidFill>
                  <a:srgbClr val="586273"/>
                </a:solidFill>
              </a:defRPr>
            </a:defPPr>
          </a:lstStyle>
          <a:p xmlns:a="http://schemas.openxmlformats.org/drawingml/2006/main">
            <a:pPr algn="l">
              <a:defRPr sz="1050" b="0">
                <a:solidFill>
                  <a:srgbClr val="586273"/>
                </a:solidFill>
              </a:defRPr>
            </a:pPr>
            <a:r>
              <a:rPr sz="1050" b="0">
                <a:solidFill>
                  <a:srgbClr val="586273"/>
                </a:solidFill>
              </a:rPr>
              <a:t>Follows a matched resource until collection or delivery through a partner such as Porter.</a:t>
            </a:r>
          </a:p>
        </p:txBody>
      </p:sp>
    </p:spTree>
    <p:extLst>
      <p:ext uri="{BB962C8B-B14F-4D97-AF65-F5344CB8AC3E}">
        <p14:creationId xmlns:p14="http://schemas.microsoft.com/office/powerpoint/2010/main" val="175724835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92" name="Google Shape;92;p18">
            <a:extLst xmlns:a="http://schemas.openxmlformats.org/drawingml/2006/main">
              <a:ext uri="{FF2B5EF4-FFF2-40B4-BE49-F238E27FC236}">
                <a16:creationId xmlns:a16="http://schemas.microsoft.com/office/drawing/2014/main" id="{68AB6739-BE0C-4A26-A152-3990A516387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0236d9ba1c64fa4">
            <a:alphaModFix/>
          </a:blip>
          <a:srcRect xmlns:a="http://schemas.openxmlformats.org/drawingml/2006/main" l="0" t="0" r="0" b="98001"/>
          <a:stretch xmlns:a="http://schemas.openxmlformats.org/drawingml/2006/main"/>
        </p:blipFill>
        <p:spPr>
          <a:xfrm xmlns:a="http://schemas.openxmlformats.org/drawingml/2006/main">
            <a:off x="0" y="5093562"/>
            <a:ext cx="9144000" cy="54275"/>
          </a:xfrm>
          <a:prstGeom xmlns:a="http://schemas.openxmlformats.org/drawingml/2006/main" prst="rect">
            <a:avLst/>
          </a:prstGeom>
          <a:ln xmlns:a="http://schemas.openxmlformats.org/drawingml/2006/main">
            <a:noFill/>
          </a:ln>
        </p:spPr>
      </p:pic>
      <p:pic>
        <p:nvPicPr>
          <p:cNvPr id="93" name="Google Shape;93;p18">
            <a:extLst xmlns:a="http://schemas.openxmlformats.org/drawingml/2006/main">
              <a:ext uri="{FF2B5EF4-FFF2-40B4-BE49-F238E27FC236}">
                <a16:creationId xmlns:a16="http://schemas.microsoft.com/office/drawing/2014/main" id="{A6B384A9-CBC6-4B0E-8FDB-0DDF075798EC}"/>
              </a:ext>
            </a:extLst>
          </p:cNvPr>
          <p:cNvPicPr>
            <a:picLocks xmlns:a="http://schemas.openxmlformats.org/drawingml/2006/main" noChangeAspect="1"/>
          </p:cNvPicPr>
          <p:nvPr/>
        </p:nvPicPr>
        <p:blipFill>
          <a:blip xmlns:r="http://schemas.openxmlformats.org/officeDocument/2006/relationships" xmlns:a="http://schemas.openxmlformats.org/drawingml/2006/main" r:embed="R5cb25eede8e4449f">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94" name="Google Shape;94;p18">
            <a:extLst xmlns:a="http://schemas.openxmlformats.org/drawingml/2006/main">
              <a:ext uri="{FF2B5EF4-FFF2-40B4-BE49-F238E27FC236}">
                <a16:creationId xmlns:a16="http://schemas.microsoft.com/office/drawing/2014/main" id="{6CE460B3-EF0D-438D-BA0D-0779533EAF45}"/>
              </a:ext>
            </a:extLst>
          </p:cNvPr>
          <p:cNvSpPr>
            <a:spLocks xmlns:a="http://schemas.openxmlformats.org/drawingml/2006/main" noGrp="1"/>
          </p:cNvSpPr>
          <p:nvPr/>
        </p:nvSpPr>
        <p:spPr>
          <a:xfrm xmlns:a="http://schemas.openxmlformats.org/drawingml/2006/main">
            <a:off x="-29250" y="5071875"/>
            <a:ext cx="9173400" cy="978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95" name="Google Shape;95;p18">
            <a:extLst xmlns:a="http://schemas.openxmlformats.org/drawingml/2006/main">
              <a:ext uri="{FF2B5EF4-FFF2-40B4-BE49-F238E27FC236}">
                <a16:creationId xmlns:a16="http://schemas.microsoft.com/office/drawing/2014/main" id="{C0E77BC9-019E-46DF-9DA0-EA7CF63C062E}"/>
              </a:ext>
            </a:extLst>
          </p:cNvPr>
          <p:cNvSpPr>
            <a:spLocks xmlns:a="http://schemas.openxmlformats.org/drawingml/2006/main" noGrp="1"/>
          </p:cNvSpPr>
          <p:nvPr/>
        </p:nvSpPr>
        <p:spPr>
          <a:xfrm xmlns:a="http://schemas.openxmlformats.org/drawingml/2006/main">
            <a:off x="265367" y="663797"/>
            <a:ext cx="85725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lgn="l">
              <a:defRPr sz="1600" b="1">
                <a:solidFill>
                  <a:srgbClr val="000000"/>
                </a:solidFill>
              </a:defRPr>
            </a:defPPr>
          </a:lstStyle>
          <a:p xmlns:a="http://schemas.openxmlformats.org/drawingml/2006/main">
            <a:pPr marL="0" lvl="0" indent="0" algn="l">
              <a:spcBef>
                <a:spcPts val="0"/>
              </a:spcBef>
              <a:spcAft>
                <a:spcPts val="0"/>
              </a:spcAft>
              <a:buNone/>
              <a:defRPr sz="1600" b="1">
                <a:solidFill>
                  <a:srgbClr val="000000"/>
                </a:solidFill>
              </a:defRPr>
            </a:pPr>
            <a:r>
              <a:rPr sz="1600" b="1">
                <a:solidFill>
                  <a:srgbClr val="000000"/>
                </a:solidFill>
                <a:latin typeface="Google Sans Flex Medium"/>
                <a:ea typeface="Google Sans Flex Medium"/>
                <a:cs typeface="Google Sans Flex Medium"/>
              </a:rPr>
              <a:t>Three interactive entry journeys</a:t>
            </a:r>
            <a:endParaRPr sz="1600">
              <a:latin typeface="Google Sans Flex Medium"/>
              <a:ea typeface="Google Sans Flex Medium"/>
              <a:cs typeface="Google Sans Flex Medium"/>
            </a:endParaRPr>
          </a:p>
        </p:txBody>
      </p:sp>
      <p:sp>
        <p:nvSpPr>
          <p:cNvPr id="96" name="">
            <a:extLst xmlns:a="http://schemas.openxmlformats.org/drawingml/2006/main">
              <a:ext uri="{FF2B5EF4-FFF2-40B4-BE49-F238E27FC236}">
                <a16:creationId xmlns:a16="http://schemas.microsoft.com/office/drawing/2014/main" id="{5008015E-37D0-4E6B-9D7A-050D5B76AC97}"/>
              </a:ext>
            </a:extLst>
          </p:cNvPr>
          <p:cNvSpPr>
            <a:spLocks xmlns:a="http://schemas.openxmlformats.org/drawingml/2006/main" noGrp="1"/>
          </p:cNvSpPr>
          <p:nvPr/>
        </p:nvSpPr>
        <p:spPr>
          <a:xfrm xmlns:a="http://schemas.openxmlformats.org/drawingml/2006/main">
            <a:off x="428625" y="148590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1">
                <a:solidFill>
                  <a:srgbClr val="25D9F0"/>
                </a:solidFill>
              </a:defRPr>
            </a:defPPr>
          </a:lstStyle>
          <a:p xmlns:a="http://schemas.openxmlformats.org/drawingml/2006/main">
            <a:pPr algn="l">
              <a:defRPr sz="1125" b="1">
                <a:solidFill>
                  <a:srgbClr val="25D9F0"/>
                </a:solidFill>
              </a:defRPr>
            </a:pPr>
            <a:r>
              <a:rPr sz="1125" b="1">
                <a:solidFill>
                  <a:srgbClr val="25D9F0"/>
                </a:solidFill>
              </a:rPr>
              <a:t>NEED</a:t>
            </a:r>
          </a:p>
        </p:txBody>
      </p:sp>
      <p:sp>
        <p:nvSpPr>
          <p:cNvPr id="97" name="">
            <a:extLst xmlns:a="http://schemas.openxmlformats.org/drawingml/2006/main">
              <a:ext uri="{FF2B5EF4-FFF2-40B4-BE49-F238E27FC236}">
                <a16:creationId xmlns:a16="http://schemas.microsoft.com/office/drawing/2014/main" id="{A67143D8-C77C-44C9-A0F5-DF53B1937FE0}"/>
              </a:ext>
            </a:extLst>
          </p:cNvPr>
          <p:cNvSpPr>
            <a:spLocks xmlns:a="http://schemas.openxmlformats.org/drawingml/2006/main" noGrp="1"/>
          </p:cNvSpPr>
          <p:nvPr/>
        </p:nvSpPr>
        <p:spPr>
          <a:xfrm xmlns:a="http://schemas.openxmlformats.org/drawingml/2006/main">
            <a:off x="1524000" y="1285875"/>
            <a:ext cx="142875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9525">
            <a:solidFill>
              <a:srgbClr val="25D9F0"/>
            </a:solidFill>
            <a:prstDash val="solid"/>
          </a:ln>
        </p:spPr>
        <p:txBody>
          <a:bodyPr xmlns:a="http://schemas.openxmlformats.org/drawingml/2006/main" lIns="76200" tIns="76200" rIns="76200" bIns="76200" anchor="ctr"/>
          <a:lstStyle xmlns:a="http://schemas.openxmlformats.org/drawingml/2006/main">
            <a:defPPr algn="ctr">
              <a:defRPr sz="1050" b="1">
                <a:solidFill>
                  <a:srgbClr val="111827"/>
                </a:solidFill>
              </a:defRPr>
            </a:defPPr>
          </a:lstStyle>
          <a:p xmlns:a="http://schemas.openxmlformats.org/drawingml/2006/main">
            <a:pPr algn="ctr">
              <a:defRPr sz="1050" b="1">
                <a:solidFill>
                  <a:srgbClr val="111827"/>
                </a:solidFill>
              </a:defRPr>
            </a:pPr>
            <a:r>
              <a:rPr sz="1050" b="1">
                <a:solidFill>
                  <a:srgbClr val="111827"/>
                </a:solidFill>
              </a:rPr>
              <a:t>1</a:t>
            </a:r>
          </a:p>
          <a:p xmlns:a="http://schemas.openxmlformats.org/drawingml/2006/main">
            <a:pPr algn="ctr">
              <a:defRPr sz="1050" b="1">
                <a:solidFill>
                  <a:srgbClr val="111827"/>
                </a:solidFill>
              </a:defRPr>
            </a:pPr>
            <a:r>
              <a:rPr sz="1050" b="1">
                <a:solidFill>
                  <a:srgbClr val="111827"/>
                </a:solidFill>
              </a:rPr>
              <a:t>State the need</a:t>
            </a:r>
          </a:p>
        </p:txBody>
      </p:sp>
      <p:sp>
        <p:nvSpPr>
          <p:cNvPr id="98" name="">
            <a:extLst xmlns:a="http://schemas.openxmlformats.org/drawingml/2006/main">
              <a:ext uri="{FF2B5EF4-FFF2-40B4-BE49-F238E27FC236}">
                <a16:creationId xmlns:a16="http://schemas.microsoft.com/office/drawing/2014/main" id="{72E7434D-8347-4E84-8E55-98D1D070784D}"/>
              </a:ext>
            </a:extLst>
          </p:cNvPr>
          <p:cNvSpPr>
            <a:spLocks xmlns:a="http://schemas.openxmlformats.org/drawingml/2006/main" noGrp="1"/>
          </p:cNvSpPr>
          <p:nvPr/>
        </p:nvSpPr>
        <p:spPr>
          <a:xfrm xmlns:a="http://schemas.openxmlformats.org/drawingml/2006/main">
            <a:off x="3019425" y="1495425"/>
            <a:ext cx="238125" cy="228600"/>
          </a:xfrm>
          <a:prstGeom xmlns:a="http://schemas.openxmlformats.org/drawingml/2006/main" prst="rightArrow">
            <a:avLst/>
          </a:prstGeom>
          <a:solidFill xmlns:a="http://schemas.openxmlformats.org/drawingml/2006/main">
            <a:srgbClr val="25D9F0"/>
          </a:solidFill>
          <a:ln xmlns:a="http://schemas.openxmlformats.org/drawingml/2006/main" w="0">
            <a:solidFill>
              <a:srgbClr val="25D9F0"/>
            </a:solidFill>
            <a:prstDash val="solid"/>
          </a:ln>
        </p:spPr>
      </p:sp>
      <p:sp>
        <p:nvSpPr>
          <p:cNvPr id="99" name="">
            <a:extLst xmlns:a="http://schemas.openxmlformats.org/drawingml/2006/main">
              <a:ext uri="{FF2B5EF4-FFF2-40B4-BE49-F238E27FC236}">
                <a16:creationId xmlns:a16="http://schemas.microsoft.com/office/drawing/2014/main" id="{01481EDF-DE3E-4C8B-88A0-B9C18BED707A}"/>
              </a:ext>
            </a:extLst>
          </p:cNvPr>
          <p:cNvSpPr>
            <a:spLocks xmlns:a="http://schemas.openxmlformats.org/drawingml/2006/main" noGrp="1"/>
          </p:cNvSpPr>
          <p:nvPr/>
        </p:nvSpPr>
        <p:spPr>
          <a:xfrm xmlns:a="http://schemas.openxmlformats.org/drawingml/2006/main">
            <a:off x="3333750" y="1285875"/>
            <a:ext cx="142875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9525">
            <a:solidFill>
              <a:srgbClr val="25D9F0"/>
            </a:solidFill>
            <a:prstDash val="solid"/>
          </a:ln>
        </p:spPr>
        <p:txBody>
          <a:bodyPr xmlns:a="http://schemas.openxmlformats.org/drawingml/2006/main" lIns="76200" tIns="76200" rIns="76200" bIns="76200" anchor="ctr"/>
          <a:lstStyle xmlns:a="http://schemas.openxmlformats.org/drawingml/2006/main">
            <a:defPPr algn="ctr">
              <a:defRPr sz="1050" b="1">
                <a:solidFill>
                  <a:srgbClr val="111827"/>
                </a:solidFill>
              </a:defRPr>
            </a:defPPr>
          </a:lstStyle>
          <a:p xmlns:a="http://schemas.openxmlformats.org/drawingml/2006/main">
            <a:pPr algn="ctr">
              <a:defRPr sz="1050" b="1">
                <a:solidFill>
                  <a:srgbClr val="111827"/>
                </a:solidFill>
              </a:defRPr>
            </a:pPr>
            <a:r>
              <a:rPr sz="1050" b="1">
                <a:solidFill>
                  <a:srgbClr val="111827"/>
                </a:solidFill>
              </a:rPr>
              <a:t>2</a:t>
            </a:r>
          </a:p>
          <a:p xmlns:a="http://schemas.openxmlformats.org/drawingml/2006/main">
            <a:pPr algn="ctr">
              <a:defRPr sz="1050" b="1">
                <a:solidFill>
                  <a:srgbClr val="111827"/>
                </a:solidFill>
              </a:defRPr>
            </a:pPr>
            <a:r>
              <a:rPr sz="1050" b="1">
                <a:solidFill>
                  <a:srgbClr val="111827"/>
                </a:solidFill>
              </a:rPr>
              <a:t>AI clarifies</a:t>
            </a:r>
          </a:p>
        </p:txBody>
      </p:sp>
      <p:sp>
        <p:nvSpPr>
          <p:cNvPr id="100" name="">
            <a:extLst xmlns:a="http://schemas.openxmlformats.org/drawingml/2006/main">
              <a:ext uri="{FF2B5EF4-FFF2-40B4-BE49-F238E27FC236}">
                <a16:creationId xmlns:a16="http://schemas.microsoft.com/office/drawing/2014/main" id="{2BBE5784-3197-4269-B35E-624FCCD31D05}"/>
              </a:ext>
            </a:extLst>
          </p:cNvPr>
          <p:cNvSpPr>
            <a:spLocks xmlns:a="http://schemas.openxmlformats.org/drawingml/2006/main" noGrp="1"/>
          </p:cNvSpPr>
          <p:nvPr/>
        </p:nvSpPr>
        <p:spPr>
          <a:xfrm xmlns:a="http://schemas.openxmlformats.org/drawingml/2006/main">
            <a:off x="4829175" y="1495425"/>
            <a:ext cx="238125" cy="228600"/>
          </a:xfrm>
          <a:prstGeom xmlns:a="http://schemas.openxmlformats.org/drawingml/2006/main" prst="rightArrow">
            <a:avLst/>
          </a:prstGeom>
          <a:solidFill xmlns:a="http://schemas.openxmlformats.org/drawingml/2006/main">
            <a:srgbClr val="25D9F0"/>
          </a:solidFill>
          <a:ln xmlns:a="http://schemas.openxmlformats.org/drawingml/2006/main" w="0">
            <a:solidFill>
              <a:srgbClr val="25D9F0"/>
            </a:solidFill>
            <a:prstDash val="solid"/>
          </a:ln>
        </p:spPr>
      </p:sp>
      <p:sp>
        <p:nvSpPr>
          <p:cNvPr id="101" name="">
            <a:extLst xmlns:a="http://schemas.openxmlformats.org/drawingml/2006/main">
              <a:ext uri="{FF2B5EF4-FFF2-40B4-BE49-F238E27FC236}">
                <a16:creationId xmlns:a16="http://schemas.microsoft.com/office/drawing/2014/main" id="{79F34159-2C59-465F-B837-5DA70426145E}"/>
              </a:ext>
            </a:extLst>
          </p:cNvPr>
          <p:cNvSpPr>
            <a:spLocks xmlns:a="http://schemas.openxmlformats.org/drawingml/2006/main" noGrp="1"/>
          </p:cNvSpPr>
          <p:nvPr/>
        </p:nvSpPr>
        <p:spPr>
          <a:xfrm xmlns:a="http://schemas.openxmlformats.org/drawingml/2006/main">
            <a:off x="5143500" y="1285875"/>
            <a:ext cx="142875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9525">
            <a:solidFill>
              <a:srgbClr val="25D9F0"/>
            </a:solidFill>
            <a:prstDash val="solid"/>
          </a:ln>
        </p:spPr>
        <p:txBody>
          <a:bodyPr xmlns:a="http://schemas.openxmlformats.org/drawingml/2006/main" lIns="76200" tIns="76200" rIns="76200" bIns="76200" anchor="ctr"/>
          <a:lstStyle xmlns:a="http://schemas.openxmlformats.org/drawingml/2006/main">
            <a:defPPr algn="ctr">
              <a:defRPr sz="1050" b="1">
                <a:solidFill>
                  <a:srgbClr val="111827"/>
                </a:solidFill>
              </a:defRPr>
            </a:defPPr>
          </a:lstStyle>
          <a:p xmlns:a="http://schemas.openxmlformats.org/drawingml/2006/main">
            <a:pPr algn="ctr">
              <a:defRPr sz="1050" b="1">
                <a:solidFill>
                  <a:srgbClr val="111827"/>
                </a:solidFill>
              </a:defRPr>
            </a:pPr>
            <a:r>
              <a:rPr sz="1050" b="1">
                <a:solidFill>
                  <a:srgbClr val="111827"/>
                </a:solidFill>
              </a:rPr>
              <a:t>3</a:t>
            </a:r>
          </a:p>
          <a:p xmlns:a="http://schemas.openxmlformats.org/drawingml/2006/main">
            <a:pPr algn="ctr">
              <a:defRPr sz="1050" b="1">
                <a:solidFill>
                  <a:srgbClr val="111827"/>
                </a:solidFill>
              </a:defRPr>
            </a:pPr>
            <a:r>
              <a:rPr sz="1050" b="1">
                <a:solidFill>
                  <a:srgbClr val="111827"/>
                </a:solidFill>
              </a:rPr>
              <a:t>Find giveaways</a:t>
            </a:r>
          </a:p>
        </p:txBody>
      </p:sp>
      <p:sp>
        <p:nvSpPr>
          <p:cNvPr id="102" name="">
            <a:extLst xmlns:a="http://schemas.openxmlformats.org/drawingml/2006/main">
              <a:ext uri="{FF2B5EF4-FFF2-40B4-BE49-F238E27FC236}">
                <a16:creationId xmlns:a16="http://schemas.microsoft.com/office/drawing/2014/main" id="{FB6C683D-D052-4785-86EB-6368AD86F03D}"/>
              </a:ext>
            </a:extLst>
          </p:cNvPr>
          <p:cNvSpPr>
            <a:spLocks xmlns:a="http://schemas.openxmlformats.org/drawingml/2006/main" noGrp="1"/>
          </p:cNvSpPr>
          <p:nvPr/>
        </p:nvSpPr>
        <p:spPr>
          <a:xfrm xmlns:a="http://schemas.openxmlformats.org/drawingml/2006/main">
            <a:off x="6638925" y="1495425"/>
            <a:ext cx="238125" cy="228600"/>
          </a:xfrm>
          <a:prstGeom xmlns:a="http://schemas.openxmlformats.org/drawingml/2006/main" prst="rightArrow">
            <a:avLst/>
          </a:prstGeom>
          <a:solidFill xmlns:a="http://schemas.openxmlformats.org/drawingml/2006/main">
            <a:srgbClr val="25D9F0"/>
          </a:solidFill>
          <a:ln xmlns:a="http://schemas.openxmlformats.org/drawingml/2006/main" w="0">
            <a:solidFill>
              <a:srgbClr val="25D9F0"/>
            </a:solidFill>
            <a:prstDash val="solid"/>
          </a:ln>
        </p:spPr>
      </p:sp>
      <p:sp>
        <p:nvSpPr>
          <p:cNvPr id="103" name="">
            <a:extLst xmlns:a="http://schemas.openxmlformats.org/drawingml/2006/main">
              <a:ext uri="{FF2B5EF4-FFF2-40B4-BE49-F238E27FC236}">
                <a16:creationId xmlns:a16="http://schemas.microsoft.com/office/drawing/2014/main" id="{D83AB0D4-D1E5-49E5-93F7-0CD536D0B5E8}"/>
              </a:ext>
            </a:extLst>
          </p:cNvPr>
          <p:cNvSpPr>
            <a:spLocks xmlns:a="http://schemas.openxmlformats.org/drawingml/2006/main" noGrp="1"/>
          </p:cNvSpPr>
          <p:nvPr/>
        </p:nvSpPr>
        <p:spPr>
          <a:xfrm xmlns:a="http://schemas.openxmlformats.org/drawingml/2006/main">
            <a:off x="6953250" y="1285875"/>
            <a:ext cx="142875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9525">
            <a:solidFill>
              <a:srgbClr val="25D9F0"/>
            </a:solidFill>
            <a:prstDash val="solid"/>
          </a:ln>
        </p:spPr>
        <p:txBody>
          <a:bodyPr xmlns:a="http://schemas.openxmlformats.org/drawingml/2006/main" lIns="76200" tIns="76200" rIns="76200" bIns="76200" anchor="ctr"/>
          <a:lstStyle xmlns:a="http://schemas.openxmlformats.org/drawingml/2006/main">
            <a:defPPr algn="ctr">
              <a:defRPr sz="1050" b="1">
                <a:solidFill>
                  <a:srgbClr val="111827"/>
                </a:solidFill>
              </a:defRPr>
            </a:defPPr>
          </a:lstStyle>
          <a:p xmlns:a="http://schemas.openxmlformats.org/drawingml/2006/main">
            <a:pPr algn="ctr">
              <a:defRPr sz="1050" b="1">
                <a:solidFill>
                  <a:srgbClr val="111827"/>
                </a:solidFill>
              </a:defRPr>
            </a:pPr>
            <a:r>
              <a:rPr sz="1050" b="1">
                <a:solidFill>
                  <a:srgbClr val="111827"/>
                </a:solidFill>
              </a:rPr>
              <a:t>4</a:t>
            </a:r>
          </a:p>
          <a:p xmlns:a="http://schemas.openxmlformats.org/drawingml/2006/main">
            <a:pPr algn="ctr">
              <a:defRPr sz="1050" b="1">
                <a:solidFill>
                  <a:srgbClr val="111827"/>
                </a:solidFill>
              </a:defRPr>
            </a:pPr>
            <a:r>
              <a:rPr sz="1050" b="1">
                <a:solidFill>
                  <a:srgbClr val="111827"/>
                </a:solidFill>
              </a:rPr>
              <a:t>Track handoff</a:t>
            </a:r>
          </a:p>
        </p:txBody>
      </p:sp>
      <p:sp>
        <p:nvSpPr>
          <p:cNvPr id="104" name="">
            <a:extLst xmlns:a="http://schemas.openxmlformats.org/drawingml/2006/main">
              <a:ext uri="{FF2B5EF4-FFF2-40B4-BE49-F238E27FC236}">
                <a16:creationId xmlns:a16="http://schemas.microsoft.com/office/drawing/2014/main" id="{0A7E5AA8-C02D-4DC6-9B29-1F21B4009159}"/>
              </a:ext>
            </a:extLst>
          </p:cNvPr>
          <p:cNvSpPr>
            <a:spLocks xmlns:a="http://schemas.openxmlformats.org/drawingml/2006/main" noGrp="1"/>
          </p:cNvSpPr>
          <p:nvPr/>
        </p:nvSpPr>
        <p:spPr>
          <a:xfrm xmlns:a="http://schemas.openxmlformats.org/drawingml/2006/main">
            <a:off x="428625" y="255270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1">
                <a:solidFill>
                  <a:srgbClr val="7041D9"/>
                </a:solidFill>
              </a:defRPr>
            </a:defPPr>
          </a:lstStyle>
          <a:p xmlns:a="http://schemas.openxmlformats.org/drawingml/2006/main">
            <a:pPr algn="l">
              <a:defRPr sz="1125" b="1">
                <a:solidFill>
                  <a:srgbClr val="7041D9"/>
                </a:solidFill>
              </a:defRPr>
            </a:pPr>
            <a:r>
              <a:rPr sz="1125" b="1">
                <a:solidFill>
                  <a:srgbClr val="7041D9"/>
                </a:solidFill>
              </a:rPr>
              <a:t>GIVE</a:t>
            </a:r>
          </a:p>
        </p:txBody>
      </p:sp>
      <p:sp>
        <p:nvSpPr>
          <p:cNvPr id="105" name="">
            <a:extLst xmlns:a="http://schemas.openxmlformats.org/drawingml/2006/main">
              <a:ext uri="{FF2B5EF4-FFF2-40B4-BE49-F238E27FC236}">
                <a16:creationId xmlns:a16="http://schemas.microsoft.com/office/drawing/2014/main" id="{85E1CD38-9349-4652-989A-1C2A16E068D8}"/>
              </a:ext>
            </a:extLst>
          </p:cNvPr>
          <p:cNvSpPr>
            <a:spLocks xmlns:a="http://schemas.openxmlformats.org/drawingml/2006/main" noGrp="1"/>
          </p:cNvSpPr>
          <p:nvPr/>
        </p:nvSpPr>
        <p:spPr>
          <a:xfrm xmlns:a="http://schemas.openxmlformats.org/drawingml/2006/main">
            <a:off x="1524000" y="2352675"/>
            <a:ext cx="142875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9525">
            <a:solidFill>
              <a:srgbClr val="7041D9"/>
            </a:solidFill>
            <a:prstDash val="solid"/>
          </a:ln>
        </p:spPr>
        <p:txBody>
          <a:bodyPr xmlns:a="http://schemas.openxmlformats.org/drawingml/2006/main" lIns="76200" tIns="76200" rIns="76200" bIns="76200" anchor="ctr"/>
          <a:lstStyle xmlns:a="http://schemas.openxmlformats.org/drawingml/2006/main">
            <a:defPPr algn="ctr">
              <a:defRPr sz="1050" b="1">
                <a:solidFill>
                  <a:srgbClr val="111827"/>
                </a:solidFill>
              </a:defRPr>
            </a:defPPr>
          </a:lstStyle>
          <a:p xmlns:a="http://schemas.openxmlformats.org/drawingml/2006/main">
            <a:pPr algn="ctr">
              <a:defRPr sz="1050" b="1">
                <a:solidFill>
                  <a:srgbClr val="111827"/>
                </a:solidFill>
              </a:defRPr>
            </a:pPr>
            <a:r>
              <a:rPr sz="1050" b="1">
                <a:solidFill>
                  <a:srgbClr val="111827"/>
                </a:solidFill>
              </a:rPr>
              <a:t>1</a:t>
            </a:r>
          </a:p>
          <a:p xmlns:a="http://schemas.openxmlformats.org/drawingml/2006/main">
            <a:pPr algn="ctr">
              <a:defRPr sz="1050" b="1">
                <a:solidFill>
                  <a:srgbClr val="111827"/>
                </a:solidFill>
              </a:defRPr>
            </a:pPr>
            <a:r>
              <a:rPr sz="1050" b="1">
                <a:solidFill>
                  <a:srgbClr val="111827"/>
                </a:solidFill>
              </a:rPr>
              <a:t>Add resource</a:t>
            </a:r>
          </a:p>
        </p:txBody>
      </p:sp>
      <p:sp>
        <p:nvSpPr>
          <p:cNvPr id="106" name="">
            <a:extLst xmlns:a="http://schemas.openxmlformats.org/drawingml/2006/main">
              <a:ext uri="{FF2B5EF4-FFF2-40B4-BE49-F238E27FC236}">
                <a16:creationId xmlns:a16="http://schemas.microsoft.com/office/drawing/2014/main" id="{A4DC8412-BB8B-4D7D-8BF8-CA61290E149C}"/>
              </a:ext>
            </a:extLst>
          </p:cNvPr>
          <p:cNvSpPr>
            <a:spLocks xmlns:a="http://schemas.openxmlformats.org/drawingml/2006/main" noGrp="1"/>
          </p:cNvSpPr>
          <p:nvPr/>
        </p:nvSpPr>
        <p:spPr>
          <a:xfrm xmlns:a="http://schemas.openxmlformats.org/drawingml/2006/main">
            <a:off x="3019425" y="2562225"/>
            <a:ext cx="238125" cy="228600"/>
          </a:xfrm>
          <a:prstGeom xmlns:a="http://schemas.openxmlformats.org/drawingml/2006/main" prst="rightArrow">
            <a:avLst/>
          </a:prstGeom>
          <a:solidFill xmlns:a="http://schemas.openxmlformats.org/drawingml/2006/main">
            <a:srgbClr val="7041D9"/>
          </a:solidFill>
          <a:ln xmlns:a="http://schemas.openxmlformats.org/drawingml/2006/main" w="0">
            <a:solidFill>
              <a:srgbClr val="7041D9"/>
            </a:solidFill>
            <a:prstDash val="solid"/>
          </a:ln>
        </p:spPr>
      </p:sp>
      <p:sp>
        <p:nvSpPr>
          <p:cNvPr id="107" name="">
            <a:extLst xmlns:a="http://schemas.openxmlformats.org/drawingml/2006/main">
              <a:ext uri="{FF2B5EF4-FFF2-40B4-BE49-F238E27FC236}">
                <a16:creationId xmlns:a16="http://schemas.microsoft.com/office/drawing/2014/main" id="{C6498474-84D3-48E7-B77A-402A322712F7}"/>
              </a:ext>
            </a:extLst>
          </p:cNvPr>
          <p:cNvSpPr>
            <a:spLocks xmlns:a="http://schemas.openxmlformats.org/drawingml/2006/main" noGrp="1"/>
          </p:cNvSpPr>
          <p:nvPr/>
        </p:nvSpPr>
        <p:spPr>
          <a:xfrm xmlns:a="http://schemas.openxmlformats.org/drawingml/2006/main">
            <a:off x="3333750" y="2352675"/>
            <a:ext cx="142875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9525">
            <a:solidFill>
              <a:srgbClr val="7041D9"/>
            </a:solidFill>
            <a:prstDash val="solid"/>
          </a:ln>
        </p:spPr>
        <p:txBody>
          <a:bodyPr xmlns:a="http://schemas.openxmlformats.org/drawingml/2006/main" lIns="76200" tIns="76200" rIns="76200" bIns="76200" anchor="ctr"/>
          <a:lstStyle xmlns:a="http://schemas.openxmlformats.org/drawingml/2006/main">
            <a:defPPr algn="ctr">
              <a:defRPr sz="1050" b="1">
                <a:solidFill>
                  <a:srgbClr val="111827"/>
                </a:solidFill>
              </a:defRPr>
            </a:defPPr>
          </a:lstStyle>
          <a:p xmlns:a="http://schemas.openxmlformats.org/drawingml/2006/main">
            <a:pPr algn="ctr">
              <a:defRPr sz="1050" b="1">
                <a:solidFill>
                  <a:srgbClr val="111827"/>
                </a:solidFill>
              </a:defRPr>
            </a:pPr>
            <a:r>
              <a:rPr sz="1050" b="1">
                <a:solidFill>
                  <a:srgbClr val="111827"/>
                </a:solidFill>
              </a:rPr>
              <a:t>2</a:t>
            </a:r>
          </a:p>
          <a:p xmlns:a="http://schemas.openxmlformats.org/drawingml/2006/main">
            <a:pPr algn="ctr">
              <a:defRPr sz="1050" b="1">
                <a:solidFill>
                  <a:srgbClr val="111827"/>
                </a:solidFill>
              </a:defRPr>
            </a:pPr>
            <a:r>
              <a:rPr sz="1050" b="1">
                <a:solidFill>
                  <a:srgbClr val="111827"/>
                </a:solidFill>
              </a:rPr>
              <a:t>Confirm details</a:t>
            </a:r>
          </a:p>
        </p:txBody>
      </p:sp>
      <p:sp>
        <p:nvSpPr>
          <p:cNvPr id="108" name="">
            <a:extLst xmlns:a="http://schemas.openxmlformats.org/drawingml/2006/main">
              <a:ext uri="{FF2B5EF4-FFF2-40B4-BE49-F238E27FC236}">
                <a16:creationId xmlns:a16="http://schemas.microsoft.com/office/drawing/2014/main" id="{1D3B5C2C-9B7E-473D-B643-40F653057CE9}"/>
              </a:ext>
            </a:extLst>
          </p:cNvPr>
          <p:cNvSpPr>
            <a:spLocks xmlns:a="http://schemas.openxmlformats.org/drawingml/2006/main" noGrp="1"/>
          </p:cNvSpPr>
          <p:nvPr/>
        </p:nvSpPr>
        <p:spPr>
          <a:xfrm xmlns:a="http://schemas.openxmlformats.org/drawingml/2006/main">
            <a:off x="4829175" y="2562225"/>
            <a:ext cx="238125" cy="228600"/>
          </a:xfrm>
          <a:prstGeom xmlns:a="http://schemas.openxmlformats.org/drawingml/2006/main" prst="rightArrow">
            <a:avLst/>
          </a:prstGeom>
          <a:solidFill xmlns:a="http://schemas.openxmlformats.org/drawingml/2006/main">
            <a:srgbClr val="7041D9"/>
          </a:solidFill>
          <a:ln xmlns:a="http://schemas.openxmlformats.org/drawingml/2006/main" w="0">
            <a:solidFill>
              <a:srgbClr val="7041D9"/>
            </a:solidFill>
            <a:prstDash val="solid"/>
          </a:ln>
        </p:spPr>
      </p:sp>
      <p:sp>
        <p:nvSpPr>
          <p:cNvPr id="109" name="">
            <a:extLst xmlns:a="http://schemas.openxmlformats.org/drawingml/2006/main">
              <a:ext uri="{FF2B5EF4-FFF2-40B4-BE49-F238E27FC236}">
                <a16:creationId xmlns:a16="http://schemas.microsoft.com/office/drawing/2014/main" id="{64B8C205-4A9F-47AE-BB5F-97448CEE9F2F}"/>
              </a:ext>
            </a:extLst>
          </p:cNvPr>
          <p:cNvSpPr>
            <a:spLocks xmlns:a="http://schemas.openxmlformats.org/drawingml/2006/main" noGrp="1"/>
          </p:cNvSpPr>
          <p:nvPr/>
        </p:nvSpPr>
        <p:spPr>
          <a:xfrm xmlns:a="http://schemas.openxmlformats.org/drawingml/2006/main">
            <a:off x="5143500" y="2352675"/>
            <a:ext cx="142875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9525">
            <a:solidFill>
              <a:srgbClr val="7041D9"/>
            </a:solidFill>
            <a:prstDash val="solid"/>
          </a:ln>
        </p:spPr>
        <p:txBody>
          <a:bodyPr xmlns:a="http://schemas.openxmlformats.org/drawingml/2006/main" lIns="76200" tIns="76200" rIns="76200" bIns="76200" anchor="ctr"/>
          <a:lstStyle xmlns:a="http://schemas.openxmlformats.org/drawingml/2006/main">
            <a:defPPr algn="ctr">
              <a:defRPr sz="1050" b="1">
                <a:solidFill>
                  <a:srgbClr val="111827"/>
                </a:solidFill>
              </a:defRPr>
            </a:defPPr>
          </a:lstStyle>
          <a:p xmlns:a="http://schemas.openxmlformats.org/drawingml/2006/main">
            <a:pPr algn="ctr">
              <a:defRPr sz="1050" b="1">
                <a:solidFill>
                  <a:srgbClr val="111827"/>
                </a:solidFill>
              </a:defRPr>
            </a:pPr>
            <a:r>
              <a:rPr sz="1050" b="1">
                <a:solidFill>
                  <a:srgbClr val="111827"/>
                </a:solidFill>
              </a:rPr>
              <a:t>3</a:t>
            </a:r>
          </a:p>
          <a:p xmlns:a="http://schemas.openxmlformats.org/drawingml/2006/main">
            <a:pPr algn="ctr">
              <a:defRPr sz="1050" b="1">
                <a:solidFill>
                  <a:srgbClr val="111827"/>
                </a:solidFill>
              </a:defRPr>
            </a:pPr>
            <a:r>
              <a:rPr sz="1050" b="1">
                <a:solidFill>
                  <a:srgbClr val="111827"/>
                </a:solidFill>
              </a:rPr>
              <a:t>Share listing</a:t>
            </a:r>
          </a:p>
        </p:txBody>
      </p:sp>
      <p:sp>
        <p:nvSpPr>
          <p:cNvPr id="110" name="">
            <a:extLst xmlns:a="http://schemas.openxmlformats.org/drawingml/2006/main">
              <a:ext uri="{FF2B5EF4-FFF2-40B4-BE49-F238E27FC236}">
                <a16:creationId xmlns:a16="http://schemas.microsoft.com/office/drawing/2014/main" id="{B0004FA5-2AFE-4CB2-86D2-4BBD424B3490}"/>
              </a:ext>
            </a:extLst>
          </p:cNvPr>
          <p:cNvSpPr>
            <a:spLocks xmlns:a="http://schemas.openxmlformats.org/drawingml/2006/main" noGrp="1"/>
          </p:cNvSpPr>
          <p:nvPr/>
        </p:nvSpPr>
        <p:spPr>
          <a:xfrm xmlns:a="http://schemas.openxmlformats.org/drawingml/2006/main">
            <a:off x="6638925" y="2562225"/>
            <a:ext cx="238125" cy="228600"/>
          </a:xfrm>
          <a:prstGeom xmlns:a="http://schemas.openxmlformats.org/drawingml/2006/main" prst="rightArrow">
            <a:avLst/>
          </a:prstGeom>
          <a:solidFill xmlns:a="http://schemas.openxmlformats.org/drawingml/2006/main">
            <a:srgbClr val="7041D9"/>
          </a:solidFill>
          <a:ln xmlns:a="http://schemas.openxmlformats.org/drawingml/2006/main" w="0">
            <a:solidFill>
              <a:srgbClr val="7041D9"/>
            </a:solidFill>
            <a:prstDash val="solid"/>
          </a:ln>
        </p:spPr>
      </p:sp>
      <p:sp>
        <p:nvSpPr>
          <p:cNvPr id="111" name="">
            <a:extLst xmlns:a="http://schemas.openxmlformats.org/drawingml/2006/main">
              <a:ext uri="{FF2B5EF4-FFF2-40B4-BE49-F238E27FC236}">
                <a16:creationId xmlns:a16="http://schemas.microsoft.com/office/drawing/2014/main" id="{2D7960F5-6EB7-49DE-A353-0F864434A11F}"/>
              </a:ext>
            </a:extLst>
          </p:cNvPr>
          <p:cNvSpPr>
            <a:spLocks xmlns:a="http://schemas.openxmlformats.org/drawingml/2006/main" noGrp="1"/>
          </p:cNvSpPr>
          <p:nvPr/>
        </p:nvSpPr>
        <p:spPr>
          <a:xfrm xmlns:a="http://schemas.openxmlformats.org/drawingml/2006/main">
            <a:off x="6953250" y="2352675"/>
            <a:ext cx="142875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9525">
            <a:solidFill>
              <a:srgbClr val="7041D9"/>
            </a:solidFill>
            <a:prstDash val="solid"/>
          </a:ln>
        </p:spPr>
        <p:txBody>
          <a:bodyPr xmlns:a="http://schemas.openxmlformats.org/drawingml/2006/main" lIns="76200" tIns="76200" rIns="76200" bIns="76200" anchor="ctr"/>
          <a:lstStyle xmlns:a="http://schemas.openxmlformats.org/drawingml/2006/main">
            <a:defPPr algn="ctr">
              <a:defRPr sz="1050" b="1">
                <a:solidFill>
                  <a:srgbClr val="111827"/>
                </a:solidFill>
              </a:defRPr>
            </a:defPPr>
          </a:lstStyle>
          <a:p xmlns:a="http://schemas.openxmlformats.org/drawingml/2006/main">
            <a:pPr algn="ctr">
              <a:defRPr sz="1050" b="1">
                <a:solidFill>
                  <a:srgbClr val="111827"/>
                </a:solidFill>
              </a:defRPr>
            </a:pPr>
            <a:r>
              <a:rPr sz="1050" b="1">
                <a:solidFill>
                  <a:srgbClr val="111827"/>
                </a:solidFill>
              </a:rPr>
              <a:t>4</a:t>
            </a:r>
          </a:p>
          <a:p xmlns:a="http://schemas.openxmlformats.org/drawingml/2006/main">
            <a:pPr algn="ctr">
              <a:defRPr sz="1050" b="1">
                <a:solidFill>
                  <a:srgbClr val="111827"/>
                </a:solidFill>
              </a:defRPr>
            </a:pPr>
            <a:r>
              <a:rPr sz="1050" b="1">
                <a:solidFill>
                  <a:srgbClr val="111827"/>
                </a:solidFill>
              </a:rPr>
              <a:t>Earn reward</a:t>
            </a:r>
          </a:p>
        </p:txBody>
      </p:sp>
      <p:sp>
        <p:nvSpPr>
          <p:cNvPr id="112" name="">
            <a:extLst xmlns:a="http://schemas.openxmlformats.org/drawingml/2006/main">
              <a:ext uri="{FF2B5EF4-FFF2-40B4-BE49-F238E27FC236}">
                <a16:creationId xmlns:a16="http://schemas.microsoft.com/office/drawing/2014/main" id="{F3645FDB-EC97-4B1E-AB15-CE1927B34619}"/>
              </a:ext>
            </a:extLst>
          </p:cNvPr>
          <p:cNvSpPr>
            <a:spLocks xmlns:a="http://schemas.openxmlformats.org/drawingml/2006/main" noGrp="1"/>
          </p:cNvSpPr>
          <p:nvPr/>
        </p:nvSpPr>
        <p:spPr>
          <a:xfrm xmlns:a="http://schemas.openxmlformats.org/drawingml/2006/main">
            <a:off x="428625" y="361950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1">
                <a:solidFill>
                  <a:srgbClr val="3788E8"/>
                </a:solidFill>
              </a:defRPr>
            </a:defPPr>
          </a:lstStyle>
          <a:p xmlns:a="http://schemas.openxmlformats.org/drawingml/2006/main">
            <a:pPr algn="l">
              <a:defRPr sz="1125" b="1">
                <a:solidFill>
                  <a:srgbClr val="3788E8"/>
                </a:solidFill>
              </a:defRPr>
            </a:pPr>
            <a:r>
              <a:rPr sz="1125" b="1">
                <a:solidFill>
                  <a:srgbClr val="3788E8"/>
                </a:solidFill>
              </a:rPr>
              <a:t>BUILD</a:t>
            </a:r>
          </a:p>
        </p:txBody>
      </p:sp>
      <p:sp>
        <p:nvSpPr>
          <p:cNvPr id="113" name="">
            <a:extLst xmlns:a="http://schemas.openxmlformats.org/drawingml/2006/main">
              <a:ext uri="{FF2B5EF4-FFF2-40B4-BE49-F238E27FC236}">
                <a16:creationId xmlns:a16="http://schemas.microsoft.com/office/drawing/2014/main" id="{F7554720-D8D0-4D42-9059-8EE595FDAFA1}"/>
              </a:ext>
            </a:extLst>
          </p:cNvPr>
          <p:cNvSpPr>
            <a:spLocks xmlns:a="http://schemas.openxmlformats.org/drawingml/2006/main" noGrp="1"/>
          </p:cNvSpPr>
          <p:nvPr/>
        </p:nvSpPr>
        <p:spPr>
          <a:xfrm xmlns:a="http://schemas.openxmlformats.org/drawingml/2006/main">
            <a:off x="1524000" y="3419475"/>
            <a:ext cx="142875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9525">
            <a:solidFill>
              <a:srgbClr val="3788E8"/>
            </a:solidFill>
            <a:prstDash val="solid"/>
          </a:ln>
        </p:spPr>
        <p:txBody>
          <a:bodyPr xmlns:a="http://schemas.openxmlformats.org/drawingml/2006/main" lIns="76200" tIns="76200" rIns="76200" bIns="76200" anchor="ctr"/>
          <a:lstStyle xmlns:a="http://schemas.openxmlformats.org/drawingml/2006/main">
            <a:defPPr algn="ctr">
              <a:defRPr sz="1050" b="1">
                <a:solidFill>
                  <a:srgbClr val="111827"/>
                </a:solidFill>
              </a:defRPr>
            </a:defPPr>
          </a:lstStyle>
          <a:p xmlns:a="http://schemas.openxmlformats.org/drawingml/2006/main">
            <a:pPr algn="ctr">
              <a:defRPr sz="1050" b="1">
                <a:solidFill>
                  <a:srgbClr val="111827"/>
                </a:solidFill>
              </a:defRPr>
            </a:pPr>
            <a:r>
              <a:rPr sz="1050" b="1">
                <a:solidFill>
                  <a:srgbClr val="111827"/>
                </a:solidFill>
              </a:rPr>
              <a:t>1</a:t>
            </a:r>
          </a:p>
          <a:p xmlns:a="http://schemas.openxmlformats.org/drawingml/2006/main">
            <a:pPr algn="ctr">
              <a:defRPr sz="1050" b="1">
                <a:solidFill>
                  <a:srgbClr val="111827"/>
                </a:solidFill>
              </a:defRPr>
            </a:pPr>
            <a:r>
              <a:rPr sz="1050" b="1">
                <a:solidFill>
                  <a:srgbClr val="111827"/>
                </a:solidFill>
              </a:rPr>
              <a:t>Describe project</a:t>
            </a:r>
          </a:p>
        </p:txBody>
      </p:sp>
      <p:sp>
        <p:nvSpPr>
          <p:cNvPr id="114" name="">
            <a:extLst xmlns:a="http://schemas.openxmlformats.org/drawingml/2006/main">
              <a:ext uri="{FF2B5EF4-FFF2-40B4-BE49-F238E27FC236}">
                <a16:creationId xmlns:a16="http://schemas.microsoft.com/office/drawing/2014/main" id="{718D11F6-053E-43CE-8EA5-95361031B750}"/>
              </a:ext>
            </a:extLst>
          </p:cNvPr>
          <p:cNvSpPr>
            <a:spLocks xmlns:a="http://schemas.openxmlformats.org/drawingml/2006/main" noGrp="1"/>
          </p:cNvSpPr>
          <p:nvPr/>
        </p:nvSpPr>
        <p:spPr>
          <a:xfrm xmlns:a="http://schemas.openxmlformats.org/drawingml/2006/main">
            <a:off x="3019425" y="3629025"/>
            <a:ext cx="238125" cy="228600"/>
          </a:xfrm>
          <a:prstGeom xmlns:a="http://schemas.openxmlformats.org/drawingml/2006/main" prst="rightArrow">
            <a:avLst/>
          </a:prstGeom>
          <a:solidFill xmlns:a="http://schemas.openxmlformats.org/drawingml/2006/main">
            <a:srgbClr val="3788E8"/>
          </a:solidFill>
          <a:ln xmlns:a="http://schemas.openxmlformats.org/drawingml/2006/main" w="0">
            <a:solidFill>
              <a:srgbClr val="3788E8"/>
            </a:solidFill>
            <a:prstDash val="solid"/>
          </a:ln>
        </p:spPr>
      </p:sp>
      <p:sp>
        <p:nvSpPr>
          <p:cNvPr id="115" name="">
            <a:extLst xmlns:a="http://schemas.openxmlformats.org/drawingml/2006/main">
              <a:ext uri="{FF2B5EF4-FFF2-40B4-BE49-F238E27FC236}">
                <a16:creationId xmlns:a16="http://schemas.microsoft.com/office/drawing/2014/main" id="{E114CE2C-06F0-4586-BBE4-61D032F3A749}"/>
              </a:ext>
            </a:extLst>
          </p:cNvPr>
          <p:cNvSpPr>
            <a:spLocks xmlns:a="http://schemas.openxmlformats.org/drawingml/2006/main" noGrp="1"/>
          </p:cNvSpPr>
          <p:nvPr/>
        </p:nvSpPr>
        <p:spPr>
          <a:xfrm xmlns:a="http://schemas.openxmlformats.org/drawingml/2006/main">
            <a:off x="3333750" y="3419475"/>
            <a:ext cx="142875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9525">
            <a:solidFill>
              <a:srgbClr val="3788E8"/>
            </a:solidFill>
            <a:prstDash val="solid"/>
          </a:ln>
        </p:spPr>
        <p:txBody>
          <a:bodyPr xmlns:a="http://schemas.openxmlformats.org/drawingml/2006/main" lIns="76200" tIns="76200" rIns="76200" bIns="76200" anchor="ctr"/>
          <a:lstStyle xmlns:a="http://schemas.openxmlformats.org/drawingml/2006/main">
            <a:defPPr algn="ctr">
              <a:defRPr sz="1050" b="1">
                <a:solidFill>
                  <a:srgbClr val="111827"/>
                </a:solidFill>
              </a:defRPr>
            </a:defPPr>
          </a:lstStyle>
          <a:p xmlns:a="http://schemas.openxmlformats.org/drawingml/2006/main">
            <a:pPr algn="ctr">
              <a:defRPr sz="1050" b="1">
                <a:solidFill>
                  <a:srgbClr val="111827"/>
                </a:solidFill>
              </a:defRPr>
            </a:pPr>
            <a:r>
              <a:rPr sz="1050" b="1">
                <a:solidFill>
                  <a:srgbClr val="111827"/>
                </a:solidFill>
              </a:rPr>
              <a:t>2</a:t>
            </a:r>
          </a:p>
          <a:p xmlns:a="http://schemas.openxmlformats.org/drawingml/2006/main">
            <a:pPr algn="ctr">
              <a:defRPr sz="1050" b="1">
                <a:solidFill>
                  <a:srgbClr val="111827"/>
                </a:solidFill>
              </a:defRPr>
            </a:pPr>
            <a:r>
              <a:rPr sz="1050" b="1">
                <a:solidFill>
                  <a:srgbClr val="111827"/>
                </a:solidFill>
              </a:rPr>
              <a:t>List materials</a:t>
            </a:r>
          </a:p>
        </p:txBody>
      </p:sp>
      <p:sp>
        <p:nvSpPr>
          <p:cNvPr id="116" name="">
            <a:extLst xmlns:a="http://schemas.openxmlformats.org/drawingml/2006/main">
              <a:ext uri="{FF2B5EF4-FFF2-40B4-BE49-F238E27FC236}">
                <a16:creationId xmlns:a16="http://schemas.microsoft.com/office/drawing/2014/main" id="{3BEBA703-50E2-4873-8439-B7687BDF3272}"/>
              </a:ext>
            </a:extLst>
          </p:cNvPr>
          <p:cNvSpPr>
            <a:spLocks xmlns:a="http://schemas.openxmlformats.org/drawingml/2006/main" noGrp="1"/>
          </p:cNvSpPr>
          <p:nvPr/>
        </p:nvSpPr>
        <p:spPr>
          <a:xfrm xmlns:a="http://schemas.openxmlformats.org/drawingml/2006/main">
            <a:off x="4829175" y="3629025"/>
            <a:ext cx="238125" cy="228600"/>
          </a:xfrm>
          <a:prstGeom xmlns:a="http://schemas.openxmlformats.org/drawingml/2006/main" prst="rightArrow">
            <a:avLst/>
          </a:prstGeom>
          <a:solidFill xmlns:a="http://schemas.openxmlformats.org/drawingml/2006/main">
            <a:srgbClr val="3788E8"/>
          </a:solidFill>
          <a:ln xmlns:a="http://schemas.openxmlformats.org/drawingml/2006/main" w="0">
            <a:solidFill>
              <a:srgbClr val="3788E8"/>
            </a:solidFill>
            <a:prstDash val="solid"/>
          </a:ln>
        </p:spPr>
      </p:sp>
      <p:sp>
        <p:nvSpPr>
          <p:cNvPr id="117" name="">
            <a:extLst xmlns:a="http://schemas.openxmlformats.org/drawingml/2006/main">
              <a:ext uri="{FF2B5EF4-FFF2-40B4-BE49-F238E27FC236}">
                <a16:creationId xmlns:a16="http://schemas.microsoft.com/office/drawing/2014/main" id="{7F2BD34B-DD25-4F3D-8F77-3836C48A2E68}"/>
              </a:ext>
            </a:extLst>
          </p:cNvPr>
          <p:cNvSpPr>
            <a:spLocks xmlns:a="http://schemas.openxmlformats.org/drawingml/2006/main" noGrp="1"/>
          </p:cNvSpPr>
          <p:nvPr/>
        </p:nvSpPr>
        <p:spPr>
          <a:xfrm xmlns:a="http://schemas.openxmlformats.org/drawingml/2006/main">
            <a:off x="5143500" y="3419475"/>
            <a:ext cx="142875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9525">
            <a:solidFill>
              <a:srgbClr val="3788E8"/>
            </a:solidFill>
            <a:prstDash val="solid"/>
          </a:ln>
        </p:spPr>
        <p:txBody>
          <a:bodyPr xmlns:a="http://schemas.openxmlformats.org/drawingml/2006/main" lIns="76200" tIns="76200" rIns="76200" bIns="76200" anchor="ctr"/>
          <a:lstStyle xmlns:a="http://schemas.openxmlformats.org/drawingml/2006/main">
            <a:defPPr algn="ctr">
              <a:defRPr sz="1050" b="1">
                <a:solidFill>
                  <a:srgbClr val="111827"/>
                </a:solidFill>
              </a:defRPr>
            </a:defPPr>
          </a:lstStyle>
          <a:p xmlns:a="http://schemas.openxmlformats.org/drawingml/2006/main">
            <a:pPr algn="ctr">
              <a:defRPr sz="1050" b="1">
                <a:solidFill>
                  <a:srgbClr val="111827"/>
                </a:solidFill>
              </a:defRPr>
            </a:pPr>
            <a:r>
              <a:rPr sz="1050" b="1">
                <a:solidFill>
                  <a:srgbClr val="111827"/>
                </a:solidFill>
              </a:rPr>
              <a:t>3</a:t>
            </a:r>
          </a:p>
          <a:p xmlns:a="http://schemas.openxmlformats.org/drawingml/2006/main">
            <a:pPr algn="ctr">
              <a:defRPr sz="1050" b="1">
                <a:solidFill>
                  <a:srgbClr val="111827"/>
                </a:solidFill>
              </a:defRPr>
            </a:pPr>
            <a:r>
              <a:rPr sz="1050" b="1">
                <a:solidFill>
                  <a:srgbClr val="111827"/>
                </a:solidFill>
              </a:rPr>
              <a:t>Match supply</a:t>
            </a:r>
          </a:p>
        </p:txBody>
      </p:sp>
      <p:sp>
        <p:nvSpPr>
          <p:cNvPr id="118" name="">
            <a:extLst xmlns:a="http://schemas.openxmlformats.org/drawingml/2006/main">
              <a:ext uri="{FF2B5EF4-FFF2-40B4-BE49-F238E27FC236}">
                <a16:creationId xmlns:a16="http://schemas.microsoft.com/office/drawing/2014/main" id="{11D81185-256A-43DB-9AC9-E6B0AE30EC61}"/>
              </a:ext>
            </a:extLst>
          </p:cNvPr>
          <p:cNvSpPr>
            <a:spLocks xmlns:a="http://schemas.openxmlformats.org/drawingml/2006/main" noGrp="1"/>
          </p:cNvSpPr>
          <p:nvPr/>
        </p:nvSpPr>
        <p:spPr>
          <a:xfrm xmlns:a="http://schemas.openxmlformats.org/drawingml/2006/main">
            <a:off x="6638925" y="3629025"/>
            <a:ext cx="238125" cy="228600"/>
          </a:xfrm>
          <a:prstGeom xmlns:a="http://schemas.openxmlformats.org/drawingml/2006/main" prst="rightArrow">
            <a:avLst/>
          </a:prstGeom>
          <a:solidFill xmlns:a="http://schemas.openxmlformats.org/drawingml/2006/main">
            <a:srgbClr val="3788E8"/>
          </a:solidFill>
          <a:ln xmlns:a="http://schemas.openxmlformats.org/drawingml/2006/main" w="0">
            <a:solidFill>
              <a:srgbClr val="3788E8"/>
            </a:solidFill>
            <a:prstDash val="solid"/>
          </a:ln>
        </p:spPr>
      </p:sp>
      <p:sp>
        <p:nvSpPr>
          <p:cNvPr id="119" name="">
            <a:extLst xmlns:a="http://schemas.openxmlformats.org/drawingml/2006/main">
              <a:ext uri="{FF2B5EF4-FFF2-40B4-BE49-F238E27FC236}">
                <a16:creationId xmlns:a16="http://schemas.microsoft.com/office/drawing/2014/main" id="{F275EA5E-B07D-43BB-B883-BC80436B57F5}"/>
              </a:ext>
            </a:extLst>
          </p:cNvPr>
          <p:cNvSpPr>
            <a:spLocks xmlns:a="http://schemas.openxmlformats.org/drawingml/2006/main" noGrp="1"/>
          </p:cNvSpPr>
          <p:nvPr/>
        </p:nvSpPr>
        <p:spPr>
          <a:xfrm xmlns:a="http://schemas.openxmlformats.org/drawingml/2006/main">
            <a:off x="6953250" y="3419475"/>
            <a:ext cx="142875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9525">
            <a:solidFill>
              <a:srgbClr val="3788E8"/>
            </a:solidFill>
            <a:prstDash val="solid"/>
          </a:ln>
        </p:spPr>
        <p:txBody>
          <a:bodyPr xmlns:a="http://schemas.openxmlformats.org/drawingml/2006/main" lIns="76200" tIns="76200" rIns="76200" bIns="76200" anchor="ctr"/>
          <a:lstStyle xmlns:a="http://schemas.openxmlformats.org/drawingml/2006/main">
            <a:defPPr algn="ctr">
              <a:defRPr sz="1050" b="1">
                <a:solidFill>
                  <a:srgbClr val="111827"/>
                </a:solidFill>
              </a:defRPr>
            </a:defPPr>
          </a:lstStyle>
          <a:p xmlns:a="http://schemas.openxmlformats.org/drawingml/2006/main">
            <a:pPr algn="ctr">
              <a:defRPr sz="1050" b="1">
                <a:solidFill>
                  <a:srgbClr val="111827"/>
                </a:solidFill>
              </a:defRPr>
            </a:pPr>
            <a:r>
              <a:rPr sz="1050" b="1">
                <a:solidFill>
                  <a:srgbClr val="111827"/>
                </a:solidFill>
              </a:rPr>
              <a:t>4</a:t>
            </a:r>
          </a:p>
          <a:p xmlns:a="http://schemas.openxmlformats.org/drawingml/2006/main">
            <a:pPr algn="ctr">
              <a:defRPr sz="1050" b="1">
                <a:solidFill>
                  <a:srgbClr val="111827"/>
                </a:solidFill>
              </a:defRPr>
            </a:pPr>
            <a:r>
              <a:rPr sz="1050" b="1">
                <a:solidFill>
                  <a:srgbClr val="111827"/>
                </a:solidFill>
              </a:rPr>
              <a:t>Track plan</a:t>
            </a:r>
          </a:p>
        </p:txBody>
      </p:sp>
      <p:sp>
        <p:nvSpPr>
          <p:cNvPr id="120" name="">
            <a:extLst xmlns:a="http://schemas.openxmlformats.org/drawingml/2006/main">
              <a:ext uri="{FF2B5EF4-FFF2-40B4-BE49-F238E27FC236}">
                <a16:creationId xmlns:a16="http://schemas.microsoft.com/office/drawing/2014/main" id="{404CA9D4-876C-43BA-8F70-106E3D97CF52}"/>
              </a:ext>
            </a:extLst>
          </p:cNvPr>
          <p:cNvSpPr>
            <a:spLocks xmlns:a="http://schemas.openxmlformats.org/drawingml/2006/main" noGrp="1"/>
          </p:cNvSpPr>
          <p:nvPr/>
        </p:nvSpPr>
        <p:spPr>
          <a:xfrm xmlns:a="http://schemas.openxmlformats.org/drawingml/2006/main">
            <a:off x="762000" y="4552950"/>
            <a:ext cx="7620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25" b="1">
                <a:solidFill>
                  <a:srgbClr val="586273"/>
                </a:solidFill>
              </a:defRPr>
            </a:defPPr>
          </a:lstStyle>
          <a:p xmlns:a="http://schemas.openxmlformats.org/drawingml/2006/main">
            <a:pPr algn="ctr">
              <a:defRPr sz="1125" b="1">
                <a:solidFill>
                  <a:srgbClr val="586273"/>
                </a:solidFill>
              </a:defRPr>
            </a:pPr>
            <a:r>
              <a:rPr sz="1125" b="1">
                <a:solidFill>
                  <a:srgbClr val="586273"/>
                </a:solidFill>
              </a:rPr>
              <a:t>One interactive entry point routes each person into the right journey. Every matched resource stays visible until the recipient confirms the handoff.</a:t>
            </a:r>
          </a:p>
        </p:txBody>
      </p:sp>
    </p:spTree>
    <p:extLst>
      <p:ext uri="{BB962C8B-B14F-4D97-AF65-F5344CB8AC3E}">
        <p14:creationId xmlns:p14="http://schemas.microsoft.com/office/powerpoint/2010/main" val="21937101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00" name="Google Shape;100;p19">
            <a:extLst xmlns:a="http://schemas.openxmlformats.org/drawingml/2006/main">
              <a:ext uri="{FF2B5EF4-FFF2-40B4-BE49-F238E27FC236}">
                <a16:creationId xmlns:a16="http://schemas.microsoft.com/office/drawing/2014/main" id="{6F838C11-5946-4226-8232-42514FAE7F3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e19bcc2680342d6">
            <a:alphaModFix/>
          </a:blip>
          <a:srcRect xmlns:a="http://schemas.openxmlformats.org/drawingml/2006/main" l="0" t="0" r="0" b="98001"/>
          <a:stretch xmlns:a="http://schemas.openxmlformats.org/drawingml/2006/main"/>
        </p:blipFill>
        <p:spPr>
          <a:xfrm xmlns:a="http://schemas.openxmlformats.org/drawingml/2006/main">
            <a:off x="0" y="5093562"/>
            <a:ext cx="9144000" cy="54275"/>
          </a:xfrm>
          <a:prstGeom xmlns:a="http://schemas.openxmlformats.org/drawingml/2006/main" prst="rect">
            <a:avLst/>
          </a:prstGeom>
          <a:ln xmlns:a="http://schemas.openxmlformats.org/drawingml/2006/main">
            <a:noFill/>
          </a:ln>
        </p:spPr>
      </p:pic>
      <p:pic>
        <p:nvPicPr>
          <p:cNvPr id="101" name="Google Shape;101;p19">
            <a:extLst xmlns:a="http://schemas.openxmlformats.org/drawingml/2006/main">
              <a:ext uri="{FF2B5EF4-FFF2-40B4-BE49-F238E27FC236}">
                <a16:creationId xmlns:a16="http://schemas.microsoft.com/office/drawing/2014/main" id="{F4FCFD60-9DEB-4978-BBF9-98B8C924546F}"/>
              </a:ext>
            </a:extLst>
          </p:cNvPr>
          <p:cNvPicPr>
            <a:picLocks xmlns:a="http://schemas.openxmlformats.org/drawingml/2006/main" noChangeAspect="1"/>
          </p:cNvPicPr>
          <p:nvPr/>
        </p:nvPicPr>
        <p:blipFill>
          <a:blip xmlns:r="http://schemas.openxmlformats.org/officeDocument/2006/relationships" xmlns:a="http://schemas.openxmlformats.org/drawingml/2006/main" r:embed="Refb8f4281ad847c2">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02" name="Google Shape;102;p19">
            <a:extLst xmlns:a="http://schemas.openxmlformats.org/drawingml/2006/main">
              <a:ext uri="{FF2B5EF4-FFF2-40B4-BE49-F238E27FC236}">
                <a16:creationId xmlns:a16="http://schemas.microsoft.com/office/drawing/2014/main" id="{1CF61344-08F4-4D58-B19E-494E4F3CE9A0}"/>
              </a:ext>
            </a:extLst>
          </p:cNvPr>
          <p:cNvSpPr>
            <a:spLocks xmlns:a="http://schemas.openxmlformats.org/drawingml/2006/main" noGrp="1"/>
          </p:cNvSpPr>
          <p:nvPr/>
        </p:nvSpPr>
        <p:spPr>
          <a:xfrm xmlns:a="http://schemas.openxmlformats.org/drawingml/2006/main">
            <a:off x="-29250" y="5071875"/>
            <a:ext cx="9173400" cy="978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03" name="Google Shape;103;p19">
            <a:extLst xmlns:a="http://schemas.openxmlformats.org/drawingml/2006/main">
              <a:ext uri="{FF2B5EF4-FFF2-40B4-BE49-F238E27FC236}">
                <a16:creationId xmlns:a16="http://schemas.microsoft.com/office/drawing/2014/main" id="{EEE207DE-AB44-48CD-8838-92636288E327}"/>
              </a:ext>
            </a:extLst>
          </p:cNvPr>
          <p:cNvSpPr>
            <a:spLocks xmlns:a="http://schemas.openxmlformats.org/drawingml/2006/main" noGrp="1"/>
          </p:cNvSpPr>
          <p:nvPr/>
        </p:nvSpPr>
        <p:spPr>
          <a:xfrm xmlns:a="http://schemas.openxmlformats.org/drawingml/2006/main">
            <a:off x="265367" y="663797"/>
            <a:ext cx="85725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lgn="l">
              <a:defRPr sz="1600" b="1">
                <a:solidFill>
                  <a:srgbClr val="000000"/>
                </a:solidFill>
              </a:defRPr>
            </a:defPPr>
          </a:lstStyle>
          <a:p xmlns:a="http://schemas.openxmlformats.org/drawingml/2006/main">
            <a:pPr marL="0" lvl="0" indent="0" algn="l">
              <a:spcBef>
                <a:spcPts val="0"/>
              </a:spcBef>
              <a:spcAft>
                <a:spcPts val="0"/>
              </a:spcAft>
              <a:buNone/>
              <a:defRPr sz="1600" b="1">
                <a:solidFill>
                  <a:srgbClr val="000000"/>
                </a:solidFill>
              </a:defRPr>
            </a:pPr>
            <a:r>
              <a:rPr sz="1600" b="1">
                <a:solidFill>
                  <a:srgbClr val="000000"/>
                </a:solidFill>
                <a:latin typeface="Google Sans Flex Medium"/>
                <a:ea typeface="Google Sans Flex Medium"/>
                <a:cs typeface="Google Sans Flex Medium"/>
              </a:rPr>
              <a:t>Two interface modes, designed mobile first</a:t>
            </a:r>
            <a:endParaRPr sz="1600">
              <a:latin typeface="Google Sans Flex Medium"/>
              <a:ea typeface="Google Sans Flex Medium"/>
              <a:cs typeface="Google Sans Flex Medium"/>
            </a:endParaRPr>
          </a:p>
        </p:txBody>
      </p:sp>
      <p:sp>
        <p:nvSpPr>
          <p:cNvPr id="104" name="">
            <a:extLst xmlns:a="http://schemas.openxmlformats.org/drawingml/2006/main">
              <a:ext uri="{FF2B5EF4-FFF2-40B4-BE49-F238E27FC236}">
                <a16:creationId xmlns:a16="http://schemas.microsoft.com/office/drawing/2014/main" id="{2C8C41DA-C268-4CE3-AEA2-371EC46A441C}"/>
              </a:ext>
            </a:extLst>
          </p:cNvPr>
          <p:cNvSpPr>
            <a:spLocks xmlns:a="http://schemas.openxmlformats.org/drawingml/2006/main" noGrp="1"/>
          </p:cNvSpPr>
          <p:nvPr/>
        </p:nvSpPr>
        <p:spPr>
          <a:xfrm xmlns:a="http://schemas.openxmlformats.org/drawingml/2006/main">
            <a:off x="400050" y="1381125"/>
            <a:ext cx="2571750" cy="2762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8DEE8"/>
            </a:solidFill>
            <a:prstDash val="solid"/>
          </a:ln>
        </p:spPr>
      </p:sp>
      <p:sp>
        <p:nvSpPr>
          <p:cNvPr id="105" name="">
            <a:extLst xmlns:a="http://schemas.openxmlformats.org/drawingml/2006/main">
              <a:ext uri="{FF2B5EF4-FFF2-40B4-BE49-F238E27FC236}">
                <a16:creationId xmlns:a16="http://schemas.microsoft.com/office/drawing/2014/main" id="{07839C93-2981-4CA8-84D5-50AAB5DB385F}"/>
              </a:ext>
            </a:extLst>
          </p:cNvPr>
          <p:cNvSpPr>
            <a:spLocks xmlns:a="http://schemas.openxmlformats.org/drawingml/2006/main" noGrp="1"/>
          </p:cNvSpPr>
          <p:nvPr/>
        </p:nvSpPr>
        <p:spPr>
          <a:xfrm xmlns:a="http://schemas.openxmlformats.org/drawingml/2006/main">
            <a:off x="590550" y="1571625"/>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3788E8"/>
                </a:solidFill>
              </a:defRPr>
            </a:defPPr>
          </a:lstStyle>
          <a:p xmlns:a="http://schemas.openxmlformats.org/drawingml/2006/main">
            <a:pPr algn="l">
              <a:defRPr sz="1650" b="1">
                <a:solidFill>
                  <a:srgbClr val="3788E8"/>
                </a:solidFill>
              </a:defRPr>
            </a:pPr>
            <a:r>
              <a:rPr sz="1650" b="1">
                <a:solidFill>
                  <a:srgbClr val="3788E8"/>
                </a:solidFill>
              </a:rPr>
              <a:t>1. Chat mode</a:t>
            </a:r>
          </a:p>
        </p:txBody>
      </p:sp>
      <p:sp>
        <p:nvSpPr>
          <p:cNvPr id="106" name="">
            <a:extLst xmlns:a="http://schemas.openxmlformats.org/drawingml/2006/main">
              <a:ext uri="{FF2B5EF4-FFF2-40B4-BE49-F238E27FC236}">
                <a16:creationId xmlns:a16="http://schemas.microsoft.com/office/drawing/2014/main" id="{A9804EDC-9D8B-4F38-AABC-85263290E377}"/>
              </a:ext>
            </a:extLst>
          </p:cNvPr>
          <p:cNvSpPr>
            <a:spLocks xmlns:a="http://schemas.openxmlformats.org/drawingml/2006/main" noGrp="1"/>
          </p:cNvSpPr>
          <p:nvPr/>
        </p:nvSpPr>
        <p:spPr>
          <a:xfrm xmlns:a="http://schemas.openxmlformats.org/drawingml/2006/main">
            <a:off x="590550" y="2009775"/>
            <a:ext cx="2190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586273"/>
                </a:solidFill>
              </a:defRPr>
            </a:defPPr>
          </a:lstStyle>
          <a:p xmlns:a="http://schemas.openxmlformats.org/drawingml/2006/main">
            <a:pPr algn="l">
              <a:defRPr sz="1125" b="0">
                <a:solidFill>
                  <a:srgbClr val="586273"/>
                </a:solidFill>
              </a:defRPr>
            </a:pPr>
            <a:r>
              <a:rPr sz="1125" b="0">
                <a:solidFill>
                  <a:srgbClr val="586273"/>
                </a:solidFill>
              </a:rPr>
              <a:t>A guided conversation understands whether the person needs, gives or wants to build.</a:t>
            </a:r>
          </a:p>
        </p:txBody>
      </p:sp>
      <p:sp>
        <p:nvSpPr>
          <p:cNvPr id="107" name="">
            <a:extLst xmlns:a="http://schemas.openxmlformats.org/drawingml/2006/main">
              <a:ext uri="{FF2B5EF4-FFF2-40B4-BE49-F238E27FC236}">
                <a16:creationId xmlns:a16="http://schemas.microsoft.com/office/drawing/2014/main" id="{8B0120D1-96CD-4ED5-A8FC-BA309042203C}"/>
              </a:ext>
            </a:extLst>
          </p:cNvPr>
          <p:cNvSpPr>
            <a:spLocks xmlns:a="http://schemas.openxmlformats.org/drawingml/2006/main" noGrp="1"/>
          </p:cNvSpPr>
          <p:nvPr/>
        </p:nvSpPr>
        <p:spPr>
          <a:xfrm xmlns:a="http://schemas.openxmlformats.org/drawingml/2006/main">
            <a:off x="638175" y="3048000"/>
            <a:ext cx="2095500" cy="190500"/>
          </a:xfrm>
          <a:prstGeom xmlns:a="http://schemas.openxmlformats.org/drawingml/2006/main" prst="rect">
            <a:avLst/>
          </a:prstGeom>
          <a:solidFill xmlns:a="http://schemas.openxmlformats.org/drawingml/2006/main">
            <a:srgbClr val="EEF2F6"/>
          </a:solidFill>
          <a:ln xmlns:a="http://schemas.openxmlformats.org/drawingml/2006/main" w="9525">
            <a:solidFill>
              <a:srgbClr val="D8DEE8"/>
            </a:solidFill>
            <a:prstDash val="solid"/>
          </a:ln>
        </p:spPr>
      </p:sp>
      <p:sp>
        <p:nvSpPr>
          <p:cNvPr id="108" name="">
            <a:extLst xmlns:a="http://schemas.openxmlformats.org/drawingml/2006/main">
              <a:ext uri="{FF2B5EF4-FFF2-40B4-BE49-F238E27FC236}">
                <a16:creationId xmlns:a16="http://schemas.microsoft.com/office/drawing/2014/main" id="{7F9352E2-1B71-4ACA-BCCE-478DE6CFD177}"/>
              </a:ext>
            </a:extLst>
          </p:cNvPr>
          <p:cNvSpPr>
            <a:spLocks xmlns:a="http://schemas.openxmlformats.org/drawingml/2006/main" noGrp="1"/>
          </p:cNvSpPr>
          <p:nvPr/>
        </p:nvSpPr>
        <p:spPr>
          <a:xfrm xmlns:a="http://schemas.openxmlformats.org/drawingml/2006/main">
            <a:off x="638175" y="3333750"/>
            <a:ext cx="2095500" cy="171450"/>
          </a:xfrm>
          <a:prstGeom xmlns:a="http://schemas.openxmlformats.org/drawingml/2006/main" prst="rect">
            <a:avLst/>
          </a:prstGeom>
          <a:solidFill xmlns:a="http://schemas.openxmlformats.org/drawingml/2006/main">
            <a:srgbClr val="F7F8FA"/>
          </a:solidFill>
          <a:ln xmlns:a="http://schemas.openxmlformats.org/drawingml/2006/main" w="9525">
            <a:solidFill>
              <a:srgbClr val="D8DEE8"/>
            </a:solidFill>
            <a:prstDash val="solid"/>
          </a:ln>
        </p:spPr>
      </p:sp>
      <p:sp>
        <p:nvSpPr>
          <p:cNvPr id="109" name="">
            <a:extLst xmlns:a="http://schemas.openxmlformats.org/drawingml/2006/main">
              <a:ext uri="{FF2B5EF4-FFF2-40B4-BE49-F238E27FC236}">
                <a16:creationId xmlns:a16="http://schemas.microsoft.com/office/drawing/2014/main" id="{80AA3945-98B8-40D6-8598-9B6B89E8D857}"/>
              </a:ext>
            </a:extLst>
          </p:cNvPr>
          <p:cNvSpPr>
            <a:spLocks xmlns:a="http://schemas.openxmlformats.org/drawingml/2006/main" noGrp="1"/>
          </p:cNvSpPr>
          <p:nvPr/>
        </p:nvSpPr>
        <p:spPr>
          <a:xfrm xmlns:a="http://schemas.openxmlformats.org/drawingml/2006/main">
            <a:off x="638175" y="3619500"/>
            <a:ext cx="2095500" cy="323850"/>
          </a:xfrm>
          <a:prstGeom xmlns:a="http://schemas.openxmlformats.org/drawingml/2006/main" prst="rect">
            <a:avLst/>
          </a:prstGeom>
          <a:solidFill xmlns:a="http://schemas.openxmlformats.org/drawingml/2006/main">
            <a:srgbClr val="F7F8FA"/>
          </a:solidFill>
          <a:ln xmlns:a="http://schemas.openxmlformats.org/drawingml/2006/main" w="9525">
            <a:solidFill>
              <a:srgbClr val="D8DEE8"/>
            </a:solidFill>
            <a:prstDash val="solid"/>
          </a:ln>
        </p:spPr>
      </p:sp>
      <p:sp>
        <p:nvSpPr>
          <p:cNvPr id="110" name="">
            <a:extLst xmlns:a="http://schemas.openxmlformats.org/drawingml/2006/main">
              <a:ext uri="{FF2B5EF4-FFF2-40B4-BE49-F238E27FC236}">
                <a16:creationId xmlns:a16="http://schemas.microsoft.com/office/drawing/2014/main" id="{80F5A664-69FF-4934-AC7D-D43A0BE14700}"/>
              </a:ext>
            </a:extLst>
          </p:cNvPr>
          <p:cNvSpPr>
            <a:spLocks xmlns:a="http://schemas.openxmlformats.org/drawingml/2006/main" noGrp="1"/>
          </p:cNvSpPr>
          <p:nvPr/>
        </p:nvSpPr>
        <p:spPr>
          <a:xfrm xmlns:a="http://schemas.openxmlformats.org/drawingml/2006/main">
            <a:off x="3305175" y="1381125"/>
            <a:ext cx="2571750" cy="2762250"/>
          </a:xfrm>
          <a:prstGeom xmlns:a="http://schemas.openxmlformats.org/drawingml/2006/main" prst="roundRect">
            <a:avLst>
              <a:gd name="adj" fmla="val 4444"/>
            </a:avLst>
          </a:prstGeom>
          <a:solidFill xmlns:a="http://schemas.openxmlformats.org/drawingml/2006/main">
            <a:srgbClr val="F1ECFC"/>
          </a:solidFill>
          <a:ln xmlns:a="http://schemas.openxmlformats.org/drawingml/2006/main" w="9525">
            <a:solidFill>
              <a:srgbClr val="7041D9"/>
            </a:solidFill>
            <a:prstDash val="solid"/>
          </a:ln>
        </p:spPr>
      </p:sp>
      <p:sp>
        <p:nvSpPr>
          <p:cNvPr id="111" name="">
            <a:extLst xmlns:a="http://schemas.openxmlformats.org/drawingml/2006/main">
              <a:ext uri="{FF2B5EF4-FFF2-40B4-BE49-F238E27FC236}">
                <a16:creationId xmlns:a16="http://schemas.microsoft.com/office/drawing/2014/main" id="{7E8BE507-6F1A-411C-94C3-FCB9F51354C1}"/>
              </a:ext>
            </a:extLst>
          </p:cNvPr>
          <p:cNvSpPr>
            <a:spLocks xmlns:a="http://schemas.openxmlformats.org/drawingml/2006/main" noGrp="1"/>
          </p:cNvSpPr>
          <p:nvPr/>
        </p:nvSpPr>
        <p:spPr>
          <a:xfrm xmlns:a="http://schemas.openxmlformats.org/drawingml/2006/main">
            <a:off x="3495675" y="1571625"/>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7041D9"/>
                </a:solidFill>
              </a:defRPr>
            </a:defPPr>
          </a:lstStyle>
          <a:p xmlns:a="http://schemas.openxmlformats.org/drawingml/2006/main">
            <a:pPr algn="l">
              <a:defRPr sz="1650" b="1">
                <a:solidFill>
                  <a:srgbClr val="7041D9"/>
                </a:solidFill>
              </a:defRPr>
            </a:pPr>
            <a:r>
              <a:rPr sz="1650" b="1">
                <a:solidFill>
                  <a:srgbClr val="7041D9"/>
                </a:solidFill>
              </a:rPr>
              <a:t>2. Dashboard mode</a:t>
            </a:r>
          </a:p>
        </p:txBody>
      </p:sp>
      <p:sp>
        <p:nvSpPr>
          <p:cNvPr id="112" name="">
            <a:extLst xmlns:a="http://schemas.openxmlformats.org/drawingml/2006/main">
              <a:ext uri="{FF2B5EF4-FFF2-40B4-BE49-F238E27FC236}">
                <a16:creationId xmlns:a16="http://schemas.microsoft.com/office/drawing/2014/main" id="{7C7FF835-B476-4011-94BA-FF46ECDAA839}"/>
              </a:ext>
            </a:extLst>
          </p:cNvPr>
          <p:cNvSpPr>
            <a:spLocks xmlns:a="http://schemas.openxmlformats.org/drawingml/2006/main" noGrp="1"/>
          </p:cNvSpPr>
          <p:nvPr/>
        </p:nvSpPr>
        <p:spPr>
          <a:xfrm xmlns:a="http://schemas.openxmlformats.org/drawingml/2006/main">
            <a:off x="3495675" y="2009775"/>
            <a:ext cx="2190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586273"/>
                </a:solidFill>
              </a:defRPr>
            </a:defPPr>
          </a:lstStyle>
          <a:p xmlns:a="http://schemas.openxmlformats.org/drawingml/2006/main">
            <a:pPr algn="l">
              <a:defRPr sz="1125" b="0">
                <a:solidFill>
                  <a:srgbClr val="586273"/>
                </a:solidFill>
              </a:defRPr>
            </a:pPr>
            <a:r>
              <a:rPr sz="1125" b="0">
                <a:solidFill>
                  <a:srgbClr val="586273"/>
                </a:solidFill>
              </a:rPr>
              <a:t>A structured view shows resources, rewards, saved plans and handoff status.</a:t>
            </a:r>
          </a:p>
        </p:txBody>
      </p:sp>
      <p:sp>
        <p:nvSpPr>
          <p:cNvPr id="113" name="">
            <a:extLst xmlns:a="http://schemas.openxmlformats.org/drawingml/2006/main">
              <a:ext uri="{FF2B5EF4-FFF2-40B4-BE49-F238E27FC236}">
                <a16:creationId xmlns:a16="http://schemas.microsoft.com/office/drawing/2014/main" id="{F71FBD6B-A011-4017-B7B6-93276BA4687D}"/>
              </a:ext>
            </a:extLst>
          </p:cNvPr>
          <p:cNvSpPr>
            <a:spLocks xmlns:a="http://schemas.openxmlformats.org/drawingml/2006/main" noGrp="1"/>
          </p:cNvSpPr>
          <p:nvPr/>
        </p:nvSpPr>
        <p:spPr>
          <a:xfrm xmlns:a="http://schemas.openxmlformats.org/drawingml/2006/main">
            <a:off x="3543300" y="3048000"/>
            <a:ext cx="2095500" cy="190500"/>
          </a:xfrm>
          <a:prstGeom xmlns:a="http://schemas.openxmlformats.org/drawingml/2006/main" prst="rect">
            <a:avLst/>
          </a:prstGeom>
          <a:solidFill xmlns:a="http://schemas.openxmlformats.org/drawingml/2006/main">
            <a:srgbClr val="EEF2F6"/>
          </a:solidFill>
          <a:ln xmlns:a="http://schemas.openxmlformats.org/drawingml/2006/main" w="9525">
            <a:solidFill>
              <a:srgbClr val="D8DEE8"/>
            </a:solidFill>
            <a:prstDash val="solid"/>
          </a:ln>
        </p:spPr>
      </p:sp>
      <p:sp>
        <p:nvSpPr>
          <p:cNvPr id="114" name="">
            <a:extLst xmlns:a="http://schemas.openxmlformats.org/drawingml/2006/main">
              <a:ext uri="{FF2B5EF4-FFF2-40B4-BE49-F238E27FC236}">
                <a16:creationId xmlns:a16="http://schemas.microsoft.com/office/drawing/2014/main" id="{D2FD24FE-D232-427B-A678-19A1F73358B0}"/>
              </a:ext>
            </a:extLst>
          </p:cNvPr>
          <p:cNvSpPr>
            <a:spLocks xmlns:a="http://schemas.openxmlformats.org/drawingml/2006/main" noGrp="1"/>
          </p:cNvSpPr>
          <p:nvPr/>
        </p:nvSpPr>
        <p:spPr>
          <a:xfrm xmlns:a="http://schemas.openxmlformats.org/drawingml/2006/main">
            <a:off x="3543300" y="3333750"/>
            <a:ext cx="1571625" cy="171450"/>
          </a:xfrm>
          <a:prstGeom xmlns:a="http://schemas.openxmlformats.org/drawingml/2006/main" prst="rect">
            <a:avLst/>
          </a:prstGeom>
          <a:solidFill xmlns:a="http://schemas.openxmlformats.org/drawingml/2006/main">
            <a:srgbClr val="F1ECFC"/>
          </a:solidFill>
          <a:ln xmlns:a="http://schemas.openxmlformats.org/drawingml/2006/main" w="9525">
            <a:solidFill>
              <a:srgbClr val="D8DEE8"/>
            </a:solidFill>
            <a:prstDash val="solid"/>
          </a:ln>
        </p:spPr>
      </p:sp>
      <p:sp>
        <p:nvSpPr>
          <p:cNvPr id="115" name="">
            <a:extLst xmlns:a="http://schemas.openxmlformats.org/drawingml/2006/main">
              <a:ext uri="{FF2B5EF4-FFF2-40B4-BE49-F238E27FC236}">
                <a16:creationId xmlns:a16="http://schemas.microsoft.com/office/drawing/2014/main" id="{1ACC3355-F7A5-403B-81A0-0BA8C2C398E8}"/>
              </a:ext>
            </a:extLst>
          </p:cNvPr>
          <p:cNvSpPr>
            <a:spLocks xmlns:a="http://schemas.openxmlformats.org/drawingml/2006/main" noGrp="1"/>
          </p:cNvSpPr>
          <p:nvPr/>
        </p:nvSpPr>
        <p:spPr>
          <a:xfrm xmlns:a="http://schemas.openxmlformats.org/drawingml/2006/main">
            <a:off x="3543300" y="3619500"/>
            <a:ext cx="2095500" cy="323850"/>
          </a:xfrm>
          <a:prstGeom xmlns:a="http://schemas.openxmlformats.org/drawingml/2006/main" prst="rect">
            <a:avLst/>
          </a:prstGeom>
          <a:solidFill xmlns:a="http://schemas.openxmlformats.org/drawingml/2006/main">
            <a:srgbClr val="F7F8FA"/>
          </a:solidFill>
          <a:ln xmlns:a="http://schemas.openxmlformats.org/drawingml/2006/main" w="9525">
            <a:solidFill>
              <a:srgbClr val="D8DEE8"/>
            </a:solidFill>
            <a:prstDash val="solid"/>
          </a:ln>
        </p:spPr>
      </p:sp>
      <p:sp>
        <p:nvSpPr>
          <p:cNvPr id="116" name="">
            <a:extLst xmlns:a="http://schemas.openxmlformats.org/drawingml/2006/main">
              <a:ext uri="{FF2B5EF4-FFF2-40B4-BE49-F238E27FC236}">
                <a16:creationId xmlns:a16="http://schemas.microsoft.com/office/drawing/2014/main" id="{1019BAB2-52B3-4FD1-B34C-43AD021B626E}"/>
              </a:ext>
            </a:extLst>
          </p:cNvPr>
          <p:cNvSpPr>
            <a:spLocks xmlns:a="http://schemas.openxmlformats.org/drawingml/2006/main" noGrp="1"/>
          </p:cNvSpPr>
          <p:nvPr/>
        </p:nvSpPr>
        <p:spPr>
          <a:xfrm xmlns:a="http://schemas.openxmlformats.org/drawingml/2006/main">
            <a:off x="6210300" y="1381125"/>
            <a:ext cx="2571750" cy="27622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8DEE8"/>
            </a:solidFill>
            <a:prstDash val="solid"/>
          </a:ln>
        </p:spPr>
      </p:sp>
      <p:sp>
        <p:nvSpPr>
          <p:cNvPr id="117" name="">
            <a:extLst xmlns:a="http://schemas.openxmlformats.org/drawingml/2006/main">
              <a:ext uri="{FF2B5EF4-FFF2-40B4-BE49-F238E27FC236}">
                <a16:creationId xmlns:a16="http://schemas.microsoft.com/office/drawing/2014/main" id="{E0326214-96E5-43F1-AE51-2BA4645E1939}"/>
              </a:ext>
            </a:extLst>
          </p:cNvPr>
          <p:cNvSpPr>
            <a:spLocks xmlns:a="http://schemas.openxmlformats.org/drawingml/2006/main" noGrp="1"/>
          </p:cNvSpPr>
          <p:nvPr/>
        </p:nvSpPr>
        <p:spPr>
          <a:xfrm xmlns:a="http://schemas.openxmlformats.org/drawingml/2006/main">
            <a:off x="6400800" y="1571625"/>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3788E8"/>
                </a:solidFill>
              </a:defRPr>
            </a:defPPr>
          </a:lstStyle>
          <a:p xmlns:a="http://schemas.openxmlformats.org/drawingml/2006/main">
            <a:pPr algn="l">
              <a:defRPr sz="1650" b="1">
                <a:solidFill>
                  <a:srgbClr val="3788E8"/>
                </a:solidFill>
              </a:defRPr>
            </a:pPr>
            <a:r>
              <a:rPr sz="1650" b="1">
                <a:solidFill>
                  <a:srgbClr val="3788E8"/>
                </a:solidFill>
              </a:rPr>
              <a:t>3. Mobile first</a:t>
            </a:r>
          </a:p>
        </p:txBody>
      </p:sp>
      <p:sp>
        <p:nvSpPr>
          <p:cNvPr id="118" name="">
            <a:extLst xmlns:a="http://schemas.openxmlformats.org/drawingml/2006/main">
              <a:ext uri="{FF2B5EF4-FFF2-40B4-BE49-F238E27FC236}">
                <a16:creationId xmlns:a16="http://schemas.microsoft.com/office/drawing/2014/main" id="{383BF9CC-0E9A-433B-B4D1-294A7BE4CA5C}"/>
              </a:ext>
            </a:extLst>
          </p:cNvPr>
          <p:cNvSpPr>
            <a:spLocks xmlns:a="http://schemas.openxmlformats.org/drawingml/2006/main" noGrp="1"/>
          </p:cNvSpPr>
          <p:nvPr/>
        </p:nvSpPr>
        <p:spPr>
          <a:xfrm xmlns:a="http://schemas.openxmlformats.org/drawingml/2006/main">
            <a:off x="6400800" y="2009775"/>
            <a:ext cx="2190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586273"/>
                </a:solidFill>
              </a:defRPr>
            </a:defPPr>
          </a:lstStyle>
          <a:p xmlns:a="http://schemas.openxmlformats.org/drawingml/2006/main">
            <a:pPr algn="l">
              <a:defRPr sz="1125" b="0">
                <a:solidFill>
                  <a:srgbClr val="586273"/>
                </a:solidFill>
              </a:defRPr>
            </a:pPr>
            <a:r>
              <a:rPr sz="1125" b="0">
                <a:solidFill>
                  <a:srgbClr val="586273"/>
                </a:solidFill>
              </a:rPr>
              <a:t>Compact navigation and clear actions keep both modes usable on any device.</a:t>
            </a:r>
          </a:p>
        </p:txBody>
      </p:sp>
      <p:sp>
        <p:nvSpPr>
          <p:cNvPr id="119" name="">
            <a:extLst xmlns:a="http://schemas.openxmlformats.org/drawingml/2006/main">
              <a:ext uri="{FF2B5EF4-FFF2-40B4-BE49-F238E27FC236}">
                <a16:creationId xmlns:a16="http://schemas.microsoft.com/office/drawing/2014/main" id="{69C862CB-DC16-4649-942B-B4CB2D41B556}"/>
              </a:ext>
            </a:extLst>
          </p:cNvPr>
          <p:cNvSpPr>
            <a:spLocks xmlns:a="http://schemas.openxmlformats.org/drawingml/2006/main" noGrp="1"/>
          </p:cNvSpPr>
          <p:nvPr/>
        </p:nvSpPr>
        <p:spPr>
          <a:xfrm xmlns:a="http://schemas.openxmlformats.org/drawingml/2006/main">
            <a:off x="6448425" y="3048000"/>
            <a:ext cx="2095500" cy="190500"/>
          </a:xfrm>
          <a:prstGeom xmlns:a="http://schemas.openxmlformats.org/drawingml/2006/main" prst="rect">
            <a:avLst/>
          </a:prstGeom>
          <a:solidFill xmlns:a="http://schemas.openxmlformats.org/drawingml/2006/main">
            <a:srgbClr val="EEF2F6"/>
          </a:solidFill>
          <a:ln xmlns:a="http://schemas.openxmlformats.org/drawingml/2006/main" w="9525">
            <a:solidFill>
              <a:srgbClr val="D8DEE8"/>
            </a:solidFill>
            <a:prstDash val="solid"/>
          </a:ln>
        </p:spPr>
      </p:sp>
      <p:sp>
        <p:nvSpPr>
          <p:cNvPr id="120" name="">
            <a:extLst xmlns:a="http://schemas.openxmlformats.org/drawingml/2006/main">
              <a:ext uri="{FF2B5EF4-FFF2-40B4-BE49-F238E27FC236}">
                <a16:creationId xmlns:a16="http://schemas.microsoft.com/office/drawing/2014/main" id="{7E77583D-8C3B-45A3-9DE4-968F38F2E6A1}"/>
              </a:ext>
            </a:extLst>
          </p:cNvPr>
          <p:cNvSpPr>
            <a:spLocks xmlns:a="http://schemas.openxmlformats.org/drawingml/2006/main" noGrp="1"/>
          </p:cNvSpPr>
          <p:nvPr/>
        </p:nvSpPr>
        <p:spPr>
          <a:xfrm xmlns:a="http://schemas.openxmlformats.org/drawingml/2006/main">
            <a:off x="6448425" y="3333750"/>
            <a:ext cx="2095500" cy="171450"/>
          </a:xfrm>
          <a:prstGeom xmlns:a="http://schemas.openxmlformats.org/drawingml/2006/main" prst="rect">
            <a:avLst/>
          </a:prstGeom>
          <a:solidFill xmlns:a="http://schemas.openxmlformats.org/drawingml/2006/main">
            <a:srgbClr val="F7F8FA"/>
          </a:solidFill>
          <a:ln xmlns:a="http://schemas.openxmlformats.org/drawingml/2006/main" w="9525">
            <a:solidFill>
              <a:srgbClr val="D8DEE8"/>
            </a:solidFill>
            <a:prstDash val="solid"/>
          </a:ln>
        </p:spPr>
      </p:sp>
      <p:sp>
        <p:nvSpPr>
          <p:cNvPr id="121" name="">
            <a:extLst xmlns:a="http://schemas.openxmlformats.org/drawingml/2006/main">
              <a:ext uri="{FF2B5EF4-FFF2-40B4-BE49-F238E27FC236}">
                <a16:creationId xmlns:a16="http://schemas.microsoft.com/office/drawing/2014/main" id="{8C6226C5-14E3-4DD0-B919-4FBA638DFEF7}"/>
              </a:ext>
            </a:extLst>
          </p:cNvPr>
          <p:cNvSpPr>
            <a:spLocks xmlns:a="http://schemas.openxmlformats.org/drawingml/2006/main" noGrp="1"/>
          </p:cNvSpPr>
          <p:nvPr/>
        </p:nvSpPr>
        <p:spPr>
          <a:xfrm xmlns:a="http://schemas.openxmlformats.org/drawingml/2006/main">
            <a:off x="6448425" y="3619500"/>
            <a:ext cx="2095500" cy="323850"/>
          </a:xfrm>
          <a:prstGeom xmlns:a="http://schemas.openxmlformats.org/drawingml/2006/main" prst="rect">
            <a:avLst/>
          </a:prstGeom>
          <a:solidFill xmlns:a="http://schemas.openxmlformats.org/drawingml/2006/main">
            <a:srgbClr val="ECFBFD"/>
          </a:solidFill>
          <a:ln xmlns:a="http://schemas.openxmlformats.org/drawingml/2006/main" w="9525">
            <a:solidFill>
              <a:srgbClr val="D8DEE8"/>
            </a:solidFill>
            <a:prstDash val="solid"/>
          </a:ln>
        </p:spPr>
      </p:sp>
    </p:spTree>
    <p:extLst>
      <p:ext uri="{BB962C8B-B14F-4D97-AF65-F5344CB8AC3E}">
        <p14:creationId xmlns:p14="http://schemas.microsoft.com/office/powerpoint/2010/main" val="163409255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108" name="Google Shape;108;p20">
            <a:extLst xmlns:a="http://schemas.openxmlformats.org/drawingml/2006/main">
              <a:ext uri="{FF2B5EF4-FFF2-40B4-BE49-F238E27FC236}">
                <a16:creationId xmlns:a16="http://schemas.microsoft.com/office/drawing/2014/main" id="{F224FC99-4AA1-4F64-A31E-3FFE13DEAA9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f56725f25254f7e">
            <a:alphaModFix/>
          </a:blip>
          <a:srcRect xmlns:a="http://schemas.openxmlformats.org/drawingml/2006/main" l="0" t="0" r="0" b="98001"/>
          <a:stretch xmlns:a="http://schemas.openxmlformats.org/drawingml/2006/main"/>
        </p:blipFill>
        <p:spPr>
          <a:xfrm xmlns:a="http://schemas.openxmlformats.org/drawingml/2006/main">
            <a:off x="0" y="5093562"/>
            <a:ext cx="9144000" cy="54275"/>
          </a:xfrm>
          <a:prstGeom xmlns:a="http://schemas.openxmlformats.org/drawingml/2006/main" prst="rect">
            <a:avLst/>
          </a:prstGeom>
          <a:ln xmlns:a="http://schemas.openxmlformats.org/drawingml/2006/main">
            <a:noFill/>
          </a:ln>
        </p:spPr>
      </p:pic>
      <p:pic>
        <p:nvPicPr>
          <p:cNvPr id="109" name="Google Shape;109;p20">
            <a:extLst xmlns:a="http://schemas.openxmlformats.org/drawingml/2006/main">
              <a:ext uri="{FF2B5EF4-FFF2-40B4-BE49-F238E27FC236}">
                <a16:creationId xmlns:a16="http://schemas.microsoft.com/office/drawing/2014/main" id="{D53C2CCB-DBEE-4EEA-97E4-D4C7D90403E6}"/>
              </a:ext>
            </a:extLst>
          </p:cNvPr>
          <p:cNvPicPr>
            <a:picLocks xmlns:a="http://schemas.openxmlformats.org/drawingml/2006/main" noChangeAspect="1"/>
          </p:cNvPicPr>
          <p:nvPr/>
        </p:nvPicPr>
        <p:blipFill>
          <a:blip xmlns:r="http://schemas.openxmlformats.org/officeDocument/2006/relationships" xmlns:a="http://schemas.openxmlformats.org/drawingml/2006/main" r:embed="R88f26026deee4ce7">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10" name="Google Shape;110;p20">
            <a:extLst xmlns:a="http://schemas.openxmlformats.org/drawingml/2006/main">
              <a:ext uri="{FF2B5EF4-FFF2-40B4-BE49-F238E27FC236}">
                <a16:creationId xmlns:a16="http://schemas.microsoft.com/office/drawing/2014/main" id="{84F59555-CE1D-4F0D-B3EC-5A7CCBDFCB84}"/>
              </a:ext>
            </a:extLst>
          </p:cNvPr>
          <p:cNvSpPr>
            <a:spLocks xmlns:a="http://schemas.openxmlformats.org/drawingml/2006/main" noGrp="1"/>
          </p:cNvSpPr>
          <p:nvPr/>
        </p:nvSpPr>
        <p:spPr>
          <a:xfrm xmlns:a="http://schemas.openxmlformats.org/drawingml/2006/main">
            <a:off x="-29250" y="5071875"/>
            <a:ext cx="9173400" cy="978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11" name="Google Shape;111;p20">
            <a:extLst xmlns:a="http://schemas.openxmlformats.org/drawingml/2006/main">
              <a:ext uri="{FF2B5EF4-FFF2-40B4-BE49-F238E27FC236}">
                <a16:creationId xmlns:a16="http://schemas.microsoft.com/office/drawing/2014/main" id="{5F2E3164-A011-4B17-B71A-5898D6F89627}"/>
              </a:ext>
            </a:extLst>
          </p:cNvPr>
          <p:cNvSpPr>
            <a:spLocks xmlns:a="http://schemas.openxmlformats.org/drawingml/2006/main" noGrp="1"/>
          </p:cNvSpPr>
          <p:nvPr/>
        </p:nvSpPr>
        <p:spPr>
          <a:xfrm xmlns:a="http://schemas.openxmlformats.org/drawingml/2006/main">
            <a:off x="265367" y="663797"/>
            <a:ext cx="85725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lgn="l">
              <a:defRPr sz="1600" b="1">
                <a:solidFill>
                  <a:srgbClr val="000000"/>
                </a:solidFill>
              </a:defRPr>
            </a:defPPr>
          </a:lstStyle>
          <a:p xmlns:a="http://schemas.openxmlformats.org/drawingml/2006/main">
            <a:pPr marL="0" lvl="0" indent="0" algn="l">
              <a:spcBef>
                <a:spcPts val="0"/>
              </a:spcBef>
              <a:spcAft>
                <a:spcPts val="0"/>
              </a:spcAft>
              <a:buNone/>
              <a:defRPr sz="1600" b="1">
                <a:solidFill>
                  <a:srgbClr val="000000"/>
                </a:solidFill>
              </a:defRPr>
            </a:pPr>
            <a:r>
              <a:rPr sz="1600" b="1">
                <a:solidFill>
                  <a:srgbClr val="000000"/>
                </a:solidFill>
                <a:latin typeface="Google Sans Flex Medium"/>
                <a:ea typeface="Google Sans Flex Medium"/>
                <a:cs typeface="Google Sans Flex Medium"/>
              </a:rPr>
              <a:t>Proposed Google-hosted architecture</a:t>
            </a:r>
            <a:endParaRPr sz="1600">
              <a:latin typeface="Google Sans Flex Medium"/>
              <a:ea typeface="Google Sans Flex Medium"/>
              <a:cs typeface="Google Sans Flex Medium"/>
            </a:endParaRPr>
          </a:p>
        </p:txBody>
      </p:sp>
      <p:sp>
        <p:nvSpPr>
          <p:cNvPr id="112" name="">
            <a:extLst xmlns:a="http://schemas.openxmlformats.org/drawingml/2006/main">
              <a:ext uri="{FF2B5EF4-FFF2-40B4-BE49-F238E27FC236}">
                <a16:creationId xmlns:a16="http://schemas.microsoft.com/office/drawing/2014/main" id="{7DAF0813-3C0C-4116-9F78-8BB7444A4A3B}"/>
              </a:ext>
            </a:extLst>
          </p:cNvPr>
          <p:cNvSpPr>
            <a:spLocks xmlns:a="http://schemas.openxmlformats.org/drawingml/2006/main" noGrp="1"/>
          </p:cNvSpPr>
          <p:nvPr/>
        </p:nvSpPr>
        <p:spPr>
          <a:xfrm xmlns:a="http://schemas.openxmlformats.org/drawingml/2006/main">
            <a:off x="428625" y="1809750"/>
            <a:ext cx="1619250" cy="666750"/>
          </a:xfrm>
          <a:prstGeom xmlns:a="http://schemas.openxmlformats.org/drawingml/2006/main" prst="roundRect">
            <a:avLst>
              <a:gd name="adj" fmla="val 17143"/>
            </a:avLst>
          </a:prstGeom>
          <a:solidFill xmlns:a="http://schemas.openxmlformats.org/drawingml/2006/main">
            <a:srgbClr val="ECFBFD"/>
          </a:solidFill>
          <a:ln xmlns:a="http://schemas.openxmlformats.org/drawingml/2006/main" w="9525">
            <a:solidFill>
              <a:srgbClr val="25D9F0"/>
            </a:solidFill>
            <a:prstDash val="solid"/>
          </a:ln>
        </p:spPr>
        <p:txBody>
          <a:bodyPr xmlns:a="http://schemas.openxmlformats.org/drawingml/2006/main" lIns="76200" tIns="76200" rIns="76200" bIns="76200" anchor="ctr"/>
          <a:lstStyle xmlns:a="http://schemas.openxmlformats.org/drawingml/2006/main">
            <a:defPPr algn="ctr">
              <a:defRPr sz="1275" b="1">
                <a:solidFill>
                  <a:srgbClr val="111827"/>
                </a:solidFill>
              </a:defRPr>
            </a:defPPr>
          </a:lstStyle>
          <a:p xmlns:a="http://schemas.openxmlformats.org/drawingml/2006/main">
            <a:pPr algn="ctr">
              <a:defRPr sz="1275" b="1">
                <a:solidFill>
                  <a:srgbClr val="111827"/>
                </a:solidFill>
              </a:defRPr>
            </a:pPr>
            <a:r>
              <a:rPr sz="1275" b="1">
                <a:solidFill>
                  <a:srgbClr val="111827"/>
                </a:solidFill>
              </a:rPr>
              <a:t>React + TypeScript</a:t>
            </a:r>
          </a:p>
          <a:p xmlns:a="http://schemas.openxmlformats.org/drawingml/2006/main">
            <a:pPr algn="ctr">
              <a:defRPr sz="1275" b="1">
                <a:solidFill>
                  <a:srgbClr val="111827"/>
                </a:solidFill>
              </a:defRPr>
            </a:pPr>
            <a:r>
              <a:rPr sz="1275" b="1">
                <a:solidFill>
                  <a:srgbClr val="111827"/>
                </a:solidFill>
              </a:rPr>
              <a:t>shadcn/ui</a:t>
            </a:r>
          </a:p>
        </p:txBody>
      </p:sp>
      <p:sp>
        <p:nvSpPr>
          <p:cNvPr id="113" name="">
            <a:extLst xmlns:a="http://schemas.openxmlformats.org/drawingml/2006/main">
              <a:ext uri="{FF2B5EF4-FFF2-40B4-BE49-F238E27FC236}">
                <a16:creationId xmlns:a16="http://schemas.microsoft.com/office/drawing/2014/main" id="{4ED39918-7215-4814-BF07-777B31C1A563}"/>
              </a:ext>
            </a:extLst>
          </p:cNvPr>
          <p:cNvSpPr>
            <a:spLocks xmlns:a="http://schemas.openxmlformats.org/drawingml/2006/main" noGrp="1"/>
          </p:cNvSpPr>
          <p:nvPr/>
        </p:nvSpPr>
        <p:spPr>
          <a:xfrm xmlns:a="http://schemas.openxmlformats.org/drawingml/2006/main">
            <a:off x="2476500" y="1809750"/>
            <a:ext cx="1428750" cy="666750"/>
          </a:xfrm>
          <a:prstGeom xmlns:a="http://schemas.openxmlformats.org/drawingml/2006/main" prst="roundRect">
            <a:avLst>
              <a:gd name="adj" fmla="val 17143"/>
            </a:avLst>
          </a:prstGeom>
          <a:solidFill xmlns:a="http://schemas.openxmlformats.org/drawingml/2006/main">
            <a:srgbClr val="ECFBFD"/>
          </a:solidFill>
          <a:ln xmlns:a="http://schemas.openxmlformats.org/drawingml/2006/main" w="9525">
            <a:solidFill>
              <a:srgbClr val="25D9F0"/>
            </a:solidFill>
            <a:prstDash val="solid"/>
          </a:ln>
        </p:spPr>
        <p:txBody>
          <a:bodyPr xmlns:a="http://schemas.openxmlformats.org/drawingml/2006/main" lIns="76200" tIns="76200" rIns="76200" bIns="76200" anchor="ctr"/>
          <a:lstStyle xmlns:a="http://schemas.openxmlformats.org/drawingml/2006/main">
            <a:defPPr algn="ctr">
              <a:defRPr sz="1275" b="1">
                <a:solidFill>
                  <a:srgbClr val="111827"/>
                </a:solidFill>
              </a:defRPr>
            </a:defPPr>
          </a:lstStyle>
          <a:p xmlns:a="http://schemas.openxmlformats.org/drawingml/2006/main">
            <a:pPr algn="ctr">
              <a:defRPr sz="1275" b="1">
                <a:solidFill>
                  <a:srgbClr val="111827"/>
                </a:solidFill>
              </a:defRPr>
            </a:pPr>
            <a:r>
              <a:rPr sz="1275" b="1">
                <a:solidFill>
                  <a:srgbClr val="111827"/>
                </a:solidFill>
              </a:rPr>
              <a:t>Cloud Run</a:t>
            </a:r>
          </a:p>
          <a:p xmlns:a="http://schemas.openxmlformats.org/drawingml/2006/main">
            <a:pPr algn="ctr">
              <a:defRPr sz="1275" b="1">
                <a:solidFill>
                  <a:srgbClr val="111827"/>
                </a:solidFill>
              </a:defRPr>
            </a:pPr>
            <a:r>
              <a:rPr sz="1275" b="1">
                <a:solidFill>
                  <a:srgbClr val="111827"/>
                </a:solidFill>
              </a:rPr>
              <a:t>Express + Vite</a:t>
            </a:r>
          </a:p>
        </p:txBody>
      </p:sp>
      <p:sp>
        <p:nvSpPr>
          <p:cNvPr id="114" name="">
            <a:extLst xmlns:a="http://schemas.openxmlformats.org/drawingml/2006/main">
              <a:ext uri="{FF2B5EF4-FFF2-40B4-BE49-F238E27FC236}">
                <a16:creationId xmlns:a16="http://schemas.microsoft.com/office/drawing/2014/main" id="{33831307-D102-447A-841D-44E4C50B402B}"/>
              </a:ext>
            </a:extLst>
          </p:cNvPr>
          <p:cNvSpPr>
            <a:spLocks xmlns:a="http://schemas.openxmlformats.org/drawingml/2006/main" noGrp="1"/>
          </p:cNvSpPr>
          <p:nvPr/>
        </p:nvSpPr>
        <p:spPr>
          <a:xfrm xmlns:a="http://schemas.openxmlformats.org/drawingml/2006/main">
            <a:off x="4333875" y="1285875"/>
            <a:ext cx="1619250" cy="666750"/>
          </a:xfrm>
          <a:prstGeom xmlns:a="http://schemas.openxmlformats.org/drawingml/2006/main" prst="roundRect">
            <a:avLst>
              <a:gd name="adj" fmla="val 17143"/>
            </a:avLst>
          </a:prstGeom>
          <a:solidFill xmlns:a="http://schemas.openxmlformats.org/drawingml/2006/main">
            <a:srgbClr val="F1ECFC"/>
          </a:solidFill>
          <a:ln xmlns:a="http://schemas.openxmlformats.org/drawingml/2006/main" w="9525">
            <a:solidFill>
              <a:srgbClr val="7041D9"/>
            </a:solidFill>
            <a:prstDash val="solid"/>
          </a:ln>
        </p:spPr>
        <p:txBody>
          <a:bodyPr xmlns:a="http://schemas.openxmlformats.org/drawingml/2006/main" lIns="76200" tIns="76200" rIns="76200" bIns="76200" anchor="ctr"/>
          <a:lstStyle xmlns:a="http://schemas.openxmlformats.org/drawingml/2006/main">
            <a:defPPr algn="ctr">
              <a:defRPr sz="1275" b="1">
                <a:solidFill>
                  <a:srgbClr val="111827"/>
                </a:solidFill>
              </a:defRPr>
            </a:defPPr>
          </a:lstStyle>
          <a:p xmlns:a="http://schemas.openxmlformats.org/drawingml/2006/main">
            <a:pPr algn="ctr">
              <a:defRPr sz="1275" b="1">
                <a:solidFill>
                  <a:srgbClr val="111827"/>
                </a:solidFill>
              </a:defRPr>
            </a:pPr>
            <a:r>
              <a:rPr sz="1275" b="1">
                <a:solidFill>
                  <a:srgbClr val="111827"/>
                </a:solidFill>
              </a:rPr>
              <a:t>Firebase Auth</a:t>
            </a:r>
          </a:p>
        </p:txBody>
      </p:sp>
      <p:sp>
        <p:nvSpPr>
          <p:cNvPr id="115" name="">
            <a:extLst xmlns:a="http://schemas.openxmlformats.org/drawingml/2006/main">
              <a:ext uri="{FF2B5EF4-FFF2-40B4-BE49-F238E27FC236}">
                <a16:creationId xmlns:a16="http://schemas.microsoft.com/office/drawing/2014/main" id="{6D94802C-0008-4C84-A14F-C3FD982714D7}"/>
              </a:ext>
            </a:extLst>
          </p:cNvPr>
          <p:cNvSpPr>
            <a:spLocks xmlns:a="http://schemas.openxmlformats.org/drawingml/2006/main" noGrp="1"/>
          </p:cNvSpPr>
          <p:nvPr/>
        </p:nvSpPr>
        <p:spPr>
          <a:xfrm xmlns:a="http://schemas.openxmlformats.org/drawingml/2006/main">
            <a:off x="4333875" y="2381250"/>
            <a:ext cx="1619250" cy="666750"/>
          </a:xfrm>
          <a:prstGeom xmlns:a="http://schemas.openxmlformats.org/drawingml/2006/main" prst="roundRect">
            <a:avLst>
              <a:gd name="adj" fmla="val 17143"/>
            </a:avLst>
          </a:prstGeom>
          <a:solidFill xmlns:a="http://schemas.openxmlformats.org/drawingml/2006/main">
            <a:srgbClr val="F1ECFC"/>
          </a:solidFill>
          <a:ln xmlns:a="http://schemas.openxmlformats.org/drawingml/2006/main" w="9525">
            <a:solidFill>
              <a:srgbClr val="7041D9"/>
            </a:solidFill>
            <a:prstDash val="solid"/>
          </a:ln>
        </p:spPr>
        <p:txBody>
          <a:bodyPr xmlns:a="http://schemas.openxmlformats.org/drawingml/2006/main" lIns="76200" tIns="76200" rIns="76200" bIns="76200" anchor="ctr"/>
          <a:lstStyle xmlns:a="http://schemas.openxmlformats.org/drawingml/2006/main">
            <a:defPPr algn="ctr">
              <a:defRPr sz="1275" b="1">
                <a:solidFill>
                  <a:srgbClr val="111827"/>
                </a:solidFill>
              </a:defRPr>
            </a:defPPr>
          </a:lstStyle>
          <a:p xmlns:a="http://schemas.openxmlformats.org/drawingml/2006/main">
            <a:pPr algn="ctr">
              <a:defRPr sz="1275" b="1">
                <a:solidFill>
                  <a:srgbClr val="111827"/>
                </a:solidFill>
              </a:defRPr>
            </a:pPr>
            <a:r>
              <a:rPr sz="1275" b="1">
                <a:solidFill>
                  <a:srgbClr val="111827"/>
                </a:solidFill>
              </a:rPr>
              <a:t>Cloud Firestore</a:t>
            </a:r>
          </a:p>
        </p:txBody>
      </p:sp>
      <p:sp>
        <p:nvSpPr>
          <p:cNvPr id="116" name="">
            <a:extLst xmlns:a="http://schemas.openxmlformats.org/drawingml/2006/main">
              <a:ext uri="{FF2B5EF4-FFF2-40B4-BE49-F238E27FC236}">
                <a16:creationId xmlns:a16="http://schemas.microsoft.com/office/drawing/2014/main" id="{6546681B-816B-4C67-861D-A7D3C5D5D96D}"/>
              </a:ext>
            </a:extLst>
          </p:cNvPr>
          <p:cNvSpPr>
            <a:spLocks xmlns:a="http://schemas.openxmlformats.org/drawingml/2006/main" noGrp="1"/>
          </p:cNvSpPr>
          <p:nvPr/>
        </p:nvSpPr>
        <p:spPr>
          <a:xfrm xmlns:a="http://schemas.openxmlformats.org/drawingml/2006/main">
            <a:off x="6477000" y="1809750"/>
            <a:ext cx="1619250" cy="666750"/>
          </a:xfrm>
          <a:prstGeom xmlns:a="http://schemas.openxmlformats.org/drawingml/2006/main" prst="roundRect">
            <a:avLst>
              <a:gd name="adj" fmla="val 17143"/>
            </a:avLst>
          </a:prstGeom>
          <a:solidFill xmlns:a="http://schemas.openxmlformats.org/drawingml/2006/main">
            <a:srgbClr val="ECFBFD"/>
          </a:solidFill>
          <a:ln xmlns:a="http://schemas.openxmlformats.org/drawingml/2006/main" w="9525">
            <a:solidFill>
              <a:srgbClr val="25D9F0"/>
            </a:solidFill>
            <a:prstDash val="solid"/>
          </a:ln>
        </p:spPr>
        <p:txBody>
          <a:bodyPr xmlns:a="http://schemas.openxmlformats.org/drawingml/2006/main" lIns="76200" tIns="76200" rIns="76200" bIns="76200" anchor="ctr"/>
          <a:lstStyle xmlns:a="http://schemas.openxmlformats.org/drawingml/2006/main">
            <a:defPPr algn="ctr">
              <a:defRPr sz="1275" b="1">
                <a:solidFill>
                  <a:srgbClr val="111827"/>
                </a:solidFill>
              </a:defRPr>
            </a:defPPr>
          </a:lstStyle>
          <a:p xmlns:a="http://schemas.openxmlformats.org/drawingml/2006/main">
            <a:pPr algn="ctr">
              <a:defRPr sz="1275" b="1">
                <a:solidFill>
                  <a:srgbClr val="111827"/>
                </a:solidFill>
              </a:defRPr>
            </a:pPr>
            <a:r>
              <a:rPr sz="1275" b="1">
                <a:solidFill>
                  <a:srgbClr val="111827"/>
                </a:solidFill>
              </a:rPr>
              <a:t>Server AI proxy</a:t>
            </a:r>
          </a:p>
        </p:txBody>
      </p:sp>
      <p:sp>
        <p:nvSpPr>
          <p:cNvPr id="117" name="">
            <a:extLst xmlns:a="http://schemas.openxmlformats.org/drawingml/2006/main">
              <a:ext uri="{FF2B5EF4-FFF2-40B4-BE49-F238E27FC236}">
                <a16:creationId xmlns:a16="http://schemas.microsoft.com/office/drawing/2014/main" id="{CD0CE2A0-5ED0-4511-8251-7994A535292B}"/>
              </a:ext>
            </a:extLst>
          </p:cNvPr>
          <p:cNvSpPr>
            <a:spLocks xmlns:a="http://schemas.openxmlformats.org/drawingml/2006/main" noGrp="1"/>
          </p:cNvSpPr>
          <p:nvPr/>
        </p:nvSpPr>
        <p:spPr>
          <a:xfrm xmlns:a="http://schemas.openxmlformats.org/drawingml/2006/main">
            <a:off x="6477000" y="3143250"/>
            <a:ext cx="1619250" cy="666750"/>
          </a:xfrm>
          <a:prstGeom xmlns:a="http://schemas.openxmlformats.org/drawingml/2006/main" prst="roundRect">
            <a:avLst>
              <a:gd name="adj" fmla="val 17143"/>
            </a:avLst>
          </a:prstGeom>
          <a:solidFill xmlns:a="http://schemas.openxmlformats.org/drawingml/2006/main">
            <a:srgbClr val="F1ECFC"/>
          </a:solidFill>
          <a:ln xmlns:a="http://schemas.openxmlformats.org/drawingml/2006/main" w="9525">
            <a:solidFill>
              <a:srgbClr val="7041D9"/>
            </a:solidFill>
            <a:prstDash val="solid"/>
          </a:ln>
        </p:spPr>
        <p:txBody>
          <a:bodyPr xmlns:a="http://schemas.openxmlformats.org/drawingml/2006/main" lIns="76200" tIns="76200" rIns="76200" bIns="76200" anchor="ctr"/>
          <a:lstStyle xmlns:a="http://schemas.openxmlformats.org/drawingml/2006/main">
            <a:defPPr algn="ctr">
              <a:defRPr sz="1275" b="1">
                <a:solidFill>
                  <a:srgbClr val="111827"/>
                </a:solidFill>
              </a:defRPr>
            </a:defPPr>
          </a:lstStyle>
          <a:p xmlns:a="http://schemas.openxmlformats.org/drawingml/2006/main">
            <a:pPr algn="ctr">
              <a:defRPr sz="1275" b="1">
                <a:solidFill>
                  <a:srgbClr val="111827"/>
                </a:solidFill>
              </a:defRPr>
            </a:pPr>
            <a:r>
              <a:rPr sz="1275" b="1">
                <a:solidFill>
                  <a:srgbClr val="111827"/>
                </a:solidFill>
              </a:rPr>
              <a:t>Gemini API</a:t>
            </a:r>
          </a:p>
        </p:txBody>
      </p:sp>
      <p:sp>
        <p:nvSpPr>
          <p:cNvPr id="118" name="">
            <a:extLst xmlns:a="http://schemas.openxmlformats.org/drawingml/2006/main">
              <a:ext uri="{FF2B5EF4-FFF2-40B4-BE49-F238E27FC236}">
                <a16:creationId xmlns:a16="http://schemas.microsoft.com/office/drawing/2014/main" id="{0456C27E-9934-4C8A-B353-11B6A643D1E2}"/>
              </a:ext>
            </a:extLst>
          </p:cNvPr>
          <p:cNvSpPr>
            <a:spLocks xmlns:a="http://schemas.openxmlformats.org/drawingml/2006/main" noGrp="1"/>
          </p:cNvSpPr>
          <p:nvPr/>
        </p:nvSpPr>
        <p:spPr>
          <a:xfrm xmlns:a="http://schemas.openxmlformats.org/drawingml/2006/main">
            <a:off x="2047875" y="2028825"/>
            <a:ext cx="333375" cy="228600"/>
          </a:xfrm>
          <a:prstGeom xmlns:a="http://schemas.openxmlformats.org/drawingml/2006/main" prst="rightArrow">
            <a:avLst/>
          </a:prstGeom>
          <a:solidFill xmlns:a="http://schemas.openxmlformats.org/drawingml/2006/main">
            <a:srgbClr val="25D9F0"/>
          </a:solidFill>
          <a:ln xmlns:a="http://schemas.openxmlformats.org/drawingml/2006/main" w="0">
            <a:noFill/>
            <a:prstDash val="solid"/>
          </a:ln>
        </p:spPr>
      </p:sp>
      <p:sp>
        <p:nvSpPr>
          <p:cNvPr id="119" name="">
            <a:extLst xmlns:a="http://schemas.openxmlformats.org/drawingml/2006/main">
              <a:ext uri="{FF2B5EF4-FFF2-40B4-BE49-F238E27FC236}">
                <a16:creationId xmlns:a16="http://schemas.microsoft.com/office/drawing/2014/main" id="{89756937-2233-48F7-9FA4-FD7D7B8FCFCB}"/>
              </a:ext>
            </a:extLst>
          </p:cNvPr>
          <p:cNvSpPr>
            <a:spLocks xmlns:a="http://schemas.openxmlformats.org/drawingml/2006/main" noGrp="1"/>
          </p:cNvSpPr>
          <p:nvPr/>
        </p:nvSpPr>
        <p:spPr>
          <a:xfrm xmlns:a="http://schemas.openxmlformats.org/drawingml/2006/main">
            <a:off x="3905250" y="2028825"/>
            <a:ext cx="333375" cy="228600"/>
          </a:xfrm>
          <a:prstGeom xmlns:a="http://schemas.openxmlformats.org/drawingml/2006/main" prst="rightArrow">
            <a:avLst/>
          </a:prstGeom>
          <a:solidFill xmlns:a="http://schemas.openxmlformats.org/drawingml/2006/main">
            <a:srgbClr val="7041D9"/>
          </a:solidFill>
          <a:ln xmlns:a="http://schemas.openxmlformats.org/drawingml/2006/main" w="0">
            <a:noFill/>
            <a:prstDash val="solid"/>
          </a:ln>
        </p:spPr>
      </p:sp>
      <p:sp>
        <p:nvSpPr>
          <p:cNvPr id="120" name="">
            <a:extLst xmlns:a="http://schemas.openxmlformats.org/drawingml/2006/main">
              <a:ext uri="{FF2B5EF4-FFF2-40B4-BE49-F238E27FC236}">
                <a16:creationId xmlns:a16="http://schemas.microsoft.com/office/drawing/2014/main" id="{1E2E5193-9406-4165-AF1B-AABD38E465AB}"/>
              </a:ext>
            </a:extLst>
          </p:cNvPr>
          <p:cNvSpPr>
            <a:spLocks xmlns:a="http://schemas.openxmlformats.org/drawingml/2006/main" noGrp="1"/>
          </p:cNvSpPr>
          <p:nvPr/>
        </p:nvSpPr>
        <p:spPr>
          <a:xfrm xmlns:a="http://schemas.openxmlformats.org/drawingml/2006/main">
            <a:off x="5953125" y="2028825"/>
            <a:ext cx="428625" cy="228600"/>
          </a:xfrm>
          <a:prstGeom xmlns:a="http://schemas.openxmlformats.org/drawingml/2006/main" prst="rightArrow">
            <a:avLst/>
          </a:prstGeom>
          <a:solidFill xmlns:a="http://schemas.openxmlformats.org/drawingml/2006/main">
            <a:srgbClr val="25D9F0"/>
          </a:solidFill>
          <a:ln xmlns:a="http://schemas.openxmlformats.org/drawingml/2006/main" w="0">
            <a:noFill/>
            <a:prstDash val="solid"/>
          </a:ln>
        </p:spPr>
      </p:sp>
      <p:sp>
        <p:nvSpPr>
          <p:cNvPr id="121" name="">
            <a:extLst xmlns:a="http://schemas.openxmlformats.org/drawingml/2006/main">
              <a:ext uri="{FF2B5EF4-FFF2-40B4-BE49-F238E27FC236}">
                <a16:creationId xmlns:a16="http://schemas.microsoft.com/office/drawing/2014/main" id="{66E0B2E6-6496-40FA-B845-0F028576B4B1}"/>
              </a:ext>
            </a:extLst>
          </p:cNvPr>
          <p:cNvSpPr>
            <a:spLocks xmlns:a="http://schemas.openxmlformats.org/drawingml/2006/main" noGrp="1"/>
          </p:cNvSpPr>
          <p:nvPr/>
        </p:nvSpPr>
        <p:spPr>
          <a:xfrm xmlns:a="http://schemas.openxmlformats.org/drawingml/2006/main">
            <a:off x="7096125" y="2571750"/>
            <a:ext cx="285750" cy="476250"/>
          </a:xfrm>
          <a:prstGeom xmlns:a="http://schemas.openxmlformats.org/drawingml/2006/main" prst="downArrow">
            <a:avLst/>
          </a:prstGeom>
          <a:solidFill xmlns:a="http://schemas.openxmlformats.org/drawingml/2006/main">
            <a:srgbClr val="7041D9"/>
          </a:solidFill>
          <a:ln xmlns:a="http://schemas.openxmlformats.org/drawingml/2006/main" w="0">
            <a:noFill/>
            <a:prstDash val="solid"/>
          </a:ln>
        </p:spPr>
      </p:sp>
      <p:sp>
        <p:nvSpPr>
          <p:cNvPr id="122" name="">
            <a:extLst xmlns:a="http://schemas.openxmlformats.org/drawingml/2006/main">
              <a:ext uri="{FF2B5EF4-FFF2-40B4-BE49-F238E27FC236}">
                <a16:creationId xmlns:a16="http://schemas.microsoft.com/office/drawing/2014/main" id="{29809B62-9E5E-4AE0-A52D-F146C7BFA0EF}"/>
              </a:ext>
            </a:extLst>
          </p:cNvPr>
          <p:cNvSpPr>
            <a:spLocks xmlns:a="http://schemas.openxmlformats.org/drawingml/2006/main" noGrp="1"/>
          </p:cNvSpPr>
          <p:nvPr/>
        </p:nvSpPr>
        <p:spPr>
          <a:xfrm xmlns:a="http://schemas.openxmlformats.org/drawingml/2006/main">
            <a:off x="2476500" y="3429000"/>
            <a:ext cx="347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350" b="1">
                <a:solidFill>
                  <a:srgbClr val="3788E8"/>
                </a:solidFill>
              </a:defRPr>
            </a:defPPr>
          </a:lstStyle>
          <a:p xmlns:a="http://schemas.openxmlformats.org/drawingml/2006/main">
            <a:pPr algn="ctr">
              <a:defRPr sz="1350" b="1">
                <a:solidFill>
                  <a:srgbClr val="3788E8"/>
                </a:solidFill>
              </a:defRPr>
            </a:pPr>
            <a:r>
              <a:rPr sz="1350" b="1">
                <a:solidFill>
                  <a:srgbClr val="3788E8"/>
                </a:solidFill>
              </a:rPr>
              <a:t>Application services</a:t>
            </a:r>
          </a:p>
        </p:txBody>
      </p:sp>
      <p:sp>
        <p:nvSpPr>
          <p:cNvPr id="123" name="">
            <a:extLst xmlns:a="http://schemas.openxmlformats.org/drawingml/2006/main">
              <a:ext uri="{FF2B5EF4-FFF2-40B4-BE49-F238E27FC236}">
                <a16:creationId xmlns:a16="http://schemas.microsoft.com/office/drawing/2014/main" id="{E15CC6D6-25F8-47CC-9F6C-6A9DF734E44C}"/>
              </a:ext>
            </a:extLst>
          </p:cNvPr>
          <p:cNvSpPr>
            <a:spLocks xmlns:a="http://schemas.openxmlformats.org/drawingml/2006/main" noGrp="1"/>
          </p:cNvSpPr>
          <p:nvPr/>
        </p:nvSpPr>
        <p:spPr>
          <a:xfrm xmlns:a="http://schemas.openxmlformats.org/drawingml/2006/main">
            <a:off x="2095500" y="3790950"/>
            <a:ext cx="4238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125" b="0">
                <a:solidFill>
                  <a:srgbClr val="586273"/>
                </a:solidFill>
              </a:defRPr>
            </a:defPPr>
          </a:lstStyle>
          <a:p xmlns:a="http://schemas.openxmlformats.org/drawingml/2006/main">
            <a:pPr algn="ctr">
              <a:defRPr sz="1125" b="0">
                <a:solidFill>
                  <a:srgbClr val="586273"/>
                </a:solidFill>
              </a:defRPr>
            </a:pPr>
            <a:r>
              <a:rPr sz="1125" b="0">
                <a:solidFill>
                  <a:srgbClr val="586273"/>
                </a:solidFill>
              </a:rPr>
              <a:t>Firestore records giveaways, reward events and handoff status. Deterministic code handles material calculations.</a:t>
            </a:r>
          </a:p>
        </p:txBody>
      </p:sp>
      <p:sp>
        <p:nvSpPr>
          <p:cNvPr id="124" name="">
            <a:extLst xmlns:a="http://schemas.openxmlformats.org/drawingml/2006/main">
              <a:ext uri="{FF2B5EF4-FFF2-40B4-BE49-F238E27FC236}">
                <a16:creationId xmlns:a16="http://schemas.microsoft.com/office/drawing/2014/main" id="{A00E7D4D-F1B0-4A14-9BA3-0E62237084D1}"/>
              </a:ext>
            </a:extLst>
          </p:cNvPr>
          <p:cNvSpPr>
            <a:spLocks xmlns:a="http://schemas.openxmlformats.org/drawingml/2006/main" noGrp="1"/>
          </p:cNvSpPr>
          <p:nvPr/>
        </p:nvSpPr>
        <p:spPr>
          <a:xfrm xmlns:a="http://schemas.openxmlformats.org/drawingml/2006/main">
            <a:off x="904875" y="4552950"/>
            <a:ext cx="733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0">
                <a:solidFill>
                  <a:srgbClr val="586273"/>
                </a:solidFill>
              </a:defRPr>
            </a:defPPr>
          </a:lstStyle>
          <a:p xmlns:a="http://schemas.openxmlformats.org/drawingml/2006/main">
            <a:pPr algn="ctr">
              <a:defRPr sz="1050" b="0">
                <a:solidFill>
                  <a:srgbClr val="586273"/>
                </a:solidFill>
              </a:defRPr>
            </a:pPr>
            <a:r>
              <a:rPr sz="1050" b="0">
                <a:solidFill>
                  <a:srgbClr val="586273"/>
                </a:solidFill>
              </a:rPr>
              <a:t>Delivery partner tracking is a planned integration after a match is accepted.</a:t>
            </a:r>
          </a:p>
        </p:txBody>
      </p:sp>
    </p:spTree>
    <p:extLst>
      <p:ext uri="{BB962C8B-B14F-4D97-AF65-F5344CB8AC3E}">
        <p14:creationId xmlns:p14="http://schemas.microsoft.com/office/powerpoint/2010/main" val="185873792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116" name="Google Shape;116;p21">
            <a:extLst xmlns:a="http://schemas.openxmlformats.org/drawingml/2006/main">
              <a:ext uri="{FF2B5EF4-FFF2-40B4-BE49-F238E27FC236}">
                <a16:creationId xmlns:a16="http://schemas.microsoft.com/office/drawing/2014/main" id="{8DDCB7A5-F3D8-42C2-B976-677A9638E5C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8cfd7caa08045ad">
            <a:alphaModFix/>
          </a:blip>
          <a:srcRect xmlns:a="http://schemas.openxmlformats.org/drawingml/2006/main" l="0" t="0" r="0" b="98001"/>
          <a:stretch xmlns:a="http://schemas.openxmlformats.org/drawingml/2006/main"/>
        </p:blipFill>
        <p:spPr>
          <a:xfrm xmlns:a="http://schemas.openxmlformats.org/drawingml/2006/main">
            <a:off x="0" y="5093562"/>
            <a:ext cx="9144000" cy="54275"/>
          </a:xfrm>
          <a:prstGeom xmlns:a="http://schemas.openxmlformats.org/drawingml/2006/main" prst="rect">
            <a:avLst/>
          </a:prstGeom>
          <a:ln xmlns:a="http://schemas.openxmlformats.org/drawingml/2006/main">
            <a:noFill/>
          </a:ln>
        </p:spPr>
      </p:pic>
      <p:pic>
        <p:nvPicPr>
          <p:cNvPr id="117" name="Google Shape;117;p21">
            <a:extLst xmlns:a="http://schemas.openxmlformats.org/drawingml/2006/main">
              <a:ext uri="{FF2B5EF4-FFF2-40B4-BE49-F238E27FC236}">
                <a16:creationId xmlns:a16="http://schemas.microsoft.com/office/drawing/2014/main" id="{43CA7B97-7C94-41AC-A7E6-D76DE5E1392E}"/>
              </a:ext>
            </a:extLst>
          </p:cNvPr>
          <p:cNvPicPr>
            <a:picLocks xmlns:a="http://schemas.openxmlformats.org/drawingml/2006/main" noChangeAspect="1"/>
          </p:cNvPicPr>
          <p:nvPr/>
        </p:nvPicPr>
        <p:blipFill>
          <a:blip xmlns:r="http://schemas.openxmlformats.org/officeDocument/2006/relationships" xmlns:a="http://schemas.openxmlformats.org/drawingml/2006/main" r:embed="R78ab7dc6c1474a48">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18" name="Google Shape;118;p21">
            <a:extLst xmlns:a="http://schemas.openxmlformats.org/drawingml/2006/main">
              <a:ext uri="{FF2B5EF4-FFF2-40B4-BE49-F238E27FC236}">
                <a16:creationId xmlns:a16="http://schemas.microsoft.com/office/drawing/2014/main" id="{4D3AD22B-17B7-49D0-BE37-97B07086A21A}"/>
              </a:ext>
            </a:extLst>
          </p:cNvPr>
          <p:cNvSpPr>
            <a:spLocks xmlns:a="http://schemas.openxmlformats.org/drawingml/2006/main" noGrp="1"/>
          </p:cNvSpPr>
          <p:nvPr/>
        </p:nvSpPr>
        <p:spPr>
          <a:xfrm xmlns:a="http://schemas.openxmlformats.org/drawingml/2006/main">
            <a:off x="-29250" y="5071875"/>
            <a:ext cx="9173400" cy="978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19" name="Google Shape;119;p21">
            <a:extLst xmlns:a="http://schemas.openxmlformats.org/drawingml/2006/main">
              <a:ext uri="{FF2B5EF4-FFF2-40B4-BE49-F238E27FC236}">
                <a16:creationId xmlns:a16="http://schemas.microsoft.com/office/drawing/2014/main" id="{FE2E12F4-061A-41E6-AA59-6717D22E034D}"/>
              </a:ext>
            </a:extLst>
          </p:cNvPr>
          <p:cNvSpPr>
            <a:spLocks xmlns:a="http://schemas.openxmlformats.org/drawingml/2006/main" noGrp="1"/>
          </p:cNvSpPr>
          <p:nvPr/>
        </p:nvSpPr>
        <p:spPr>
          <a:xfrm xmlns:a="http://schemas.openxmlformats.org/drawingml/2006/main">
            <a:off x="265367" y="663797"/>
            <a:ext cx="85725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lgn="l">
              <a:defRPr sz="1600" b="1">
                <a:solidFill>
                  <a:srgbClr val="000000"/>
                </a:solidFill>
              </a:defRPr>
            </a:defPPr>
          </a:lstStyle>
          <a:p xmlns:a="http://schemas.openxmlformats.org/drawingml/2006/main">
            <a:pPr marL="0" lvl="0" indent="0" algn="l">
              <a:spcBef>
                <a:spcPts val="0"/>
              </a:spcBef>
              <a:spcAft>
                <a:spcPts val="0"/>
              </a:spcAft>
              <a:buNone/>
              <a:defRPr sz="1600" b="1">
                <a:solidFill>
                  <a:srgbClr val="000000"/>
                </a:solidFill>
              </a:defRPr>
            </a:pPr>
            <a:r>
              <a:rPr sz="1600" b="1">
                <a:solidFill>
                  <a:srgbClr val="000000"/>
                </a:solidFill>
                <a:latin typeface="Google Sans Flex Medium"/>
                <a:ea typeface="Google Sans Flex Medium"/>
                <a:cs typeface="Google Sans Flex Medium"/>
              </a:rPr>
              <a:t>Technology choices</a:t>
            </a:r>
            <a:endParaRPr sz="1600">
              <a:latin typeface="Google Sans Flex Medium"/>
              <a:ea typeface="Google Sans Flex Medium"/>
              <a:cs typeface="Google Sans Flex Medium"/>
            </a:endParaRPr>
          </a:p>
        </p:txBody>
      </p:sp>
      <p:sp>
        <p:nvSpPr>
          <p:cNvPr id="120" name="">
            <a:extLst xmlns:a="http://schemas.openxmlformats.org/drawingml/2006/main">
              <a:ext uri="{FF2B5EF4-FFF2-40B4-BE49-F238E27FC236}">
                <a16:creationId xmlns:a16="http://schemas.microsoft.com/office/drawing/2014/main" id="{6C42D3AE-E980-40A7-AECE-CCC10687F43E}"/>
              </a:ext>
            </a:extLst>
          </p:cNvPr>
          <p:cNvSpPr>
            <a:spLocks xmlns:a="http://schemas.openxmlformats.org/drawingml/2006/main" noGrp="1"/>
          </p:cNvSpPr>
          <p:nvPr/>
        </p:nvSpPr>
        <p:spPr>
          <a:xfrm xmlns:a="http://schemas.openxmlformats.org/drawingml/2006/main">
            <a:off x="523875" y="147637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3788E8"/>
                </a:solidFill>
              </a:defRPr>
            </a:defPPr>
          </a:lstStyle>
          <a:p xmlns:a="http://schemas.openxmlformats.org/drawingml/2006/main">
            <a:pPr algn="l">
              <a:defRPr sz="1350" b="1">
                <a:solidFill>
                  <a:srgbClr val="3788E8"/>
                </a:solidFill>
              </a:defRPr>
            </a:pPr>
            <a:r>
              <a:rPr sz="1350" b="1">
                <a:solidFill>
                  <a:srgbClr val="3788E8"/>
                </a:solidFill>
              </a:rPr>
              <a:t>Frontend</a:t>
            </a:r>
          </a:p>
        </p:txBody>
      </p:sp>
      <p:sp>
        <p:nvSpPr>
          <p:cNvPr id="121" name="">
            <a:extLst xmlns:a="http://schemas.openxmlformats.org/drawingml/2006/main">
              <a:ext uri="{FF2B5EF4-FFF2-40B4-BE49-F238E27FC236}">
                <a16:creationId xmlns:a16="http://schemas.microsoft.com/office/drawing/2014/main" id="{4B627298-E551-4080-A201-77830C308DBF}"/>
              </a:ext>
            </a:extLst>
          </p:cNvPr>
          <p:cNvSpPr>
            <a:spLocks xmlns:a="http://schemas.openxmlformats.org/drawingml/2006/main" noGrp="1"/>
          </p:cNvSpPr>
          <p:nvPr/>
        </p:nvSpPr>
        <p:spPr>
          <a:xfrm xmlns:a="http://schemas.openxmlformats.org/drawingml/2006/main">
            <a:off x="2238375" y="1476375"/>
            <a:ext cx="514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11827"/>
                </a:solidFill>
              </a:defRPr>
            </a:defPPr>
          </a:lstStyle>
          <a:p xmlns:a="http://schemas.openxmlformats.org/drawingml/2006/main">
            <a:pPr algn="l">
              <a:defRPr sz="1275" b="0">
                <a:solidFill>
                  <a:srgbClr val="111827"/>
                </a:solidFill>
              </a:defRPr>
            </a:pPr>
            <a:r>
              <a:rPr sz="1275" b="0">
                <a:solidFill>
                  <a:srgbClr val="111827"/>
                </a:solidFill>
              </a:rPr>
              <a:t>React 19, TypeScript, Vite 8, Tailwind CSS and shadcn/ui</a:t>
            </a:r>
          </a:p>
        </p:txBody>
      </p:sp>
      <p:sp>
        <p:nvSpPr>
          <p:cNvPr id="122" name="">
            <a:extLst xmlns:a="http://schemas.openxmlformats.org/drawingml/2006/main">
              <a:ext uri="{FF2B5EF4-FFF2-40B4-BE49-F238E27FC236}">
                <a16:creationId xmlns:a16="http://schemas.microsoft.com/office/drawing/2014/main" id="{93F9EE4D-A09A-4699-8AB7-0E89C9331F03}"/>
              </a:ext>
            </a:extLst>
          </p:cNvPr>
          <p:cNvSpPr>
            <a:spLocks xmlns:a="http://schemas.openxmlformats.org/drawingml/2006/main" noGrp="1"/>
          </p:cNvSpPr>
          <p:nvPr/>
        </p:nvSpPr>
        <p:spPr>
          <a:xfrm xmlns:a="http://schemas.openxmlformats.org/drawingml/2006/main">
            <a:off x="523875" y="22669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7041D9"/>
                </a:solidFill>
              </a:defRPr>
            </a:defPPr>
          </a:lstStyle>
          <a:p xmlns:a="http://schemas.openxmlformats.org/drawingml/2006/main">
            <a:pPr algn="l">
              <a:defRPr sz="1350" b="1">
                <a:solidFill>
                  <a:srgbClr val="7041D9"/>
                </a:solidFill>
              </a:defRPr>
            </a:pPr>
            <a:r>
              <a:rPr sz="1350" b="1">
                <a:solidFill>
                  <a:srgbClr val="7041D9"/>
                </a:solidFill>
              </a:rPr>
              <a:t>Google services</a:t>
            </a:r>
          </a:p>
        </p:txBody>
      </p:sp>
      <p:sp>
        <p:nvSpPr>
          <p:cNvPr id="123" name="">
            <a:extLst xmlns:a="http://schemas.openxmlformats.org/drawingml/2006/main">
              <a:ext uri="{FF2B5EF4-FFF2-40B4-BE49-F238E27FC236}">
                <a16:creationId xmlns:a16="http://schemas.microsoft.com/office/drawing/2014/main" id="{E833EA71-7071-4434-9102-31E58BB8306B}"/>
              </a:ext>
            </a:extLst>
          </p:cNvPr>
          <p:cNvSpPr>
            <a:spLocks xmlns:a="http://schemas.openxmlformats.org/drawingml/2006/main" noGrp="1"/>
          </p:cNvSpPr>
          <p:nvPr/>
        </p:nvSpPr>
        <p:spPr>
          <a:xfrm xmlns:a="http://schemas.openxmlformats.org/drawingml/2006/main">
            <a:off x="2238375" y="2266950"/>
            <a:ext cx="514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11827"/>
                </a:solidFill>
              </a:defRPr>
            </a:defPPr>
          </a:lstStyle>
          <a:p xmlns:a="http://schemas.openxmlformats.org/drawingml/2006/main">
            <a:pPr algn="l">
              <a:defRPr sz="1275" b="0">
                <a:solidFill>
                  <a:srgbClr val="111827"/>
                </a:solidFill>
              </a:defRPr>
            </a:pPr>
            <a:r>
              <a:rPr sz="1275" b="0">
                <a:solidFill>
                  <a:srgbClr val="111827"/>
                </a:solidFill>
              </a:rPr>
              <a:t>Cloud Run deployment with Firebase Authentication and configured Firebase services</a:t>
            </a:r>
          </a:p>
        </p:txBody>
      </p:sp>
      <p:sp>
        <p:nvSpPr>
          <p:cNvPr id="124" name="">
            <a:extLst xmlns:a="http://schemas.openxmlformats.org/drawingml/2006/main">
              <a:ext uri="{FF2B5EF4-FFF2-40B4-BE49-F238E27FC236}">
                <a16:creationId xmlns:a16="http://schemas.microsoft.com/office/drawing/2014/main" id="{32981043-6EBA-4D94-8B53-7DB138DFF7AA}"/>
              </a:ext>
            </a:extLst>
          </p:cNvPr>
          <p:cNvSpPr>
            <a:spLocks xmlns:a="http://schemas.openxmlformats.org/drawingml/2006/main" noGrp="1"/>
          </p:cNvSpPr>
          <p:nvPr/>
        </p:nvSpPr>
        <p:spPr>
          <a:xfrm xmlns:a="http://schemas.openxmlformats.org/drawingml/2006/main">
            <a:off x="523875" y="305752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3788E8"/>
                </a:solidFill>
              </a:defRPr>
            </a:defPPr>
          </a:lstStyle>
          <a:p xmlns:a="http://schemas.openxmlformats.org/drawingml/2006/main">
            <a:pPr algn="l">
              <a:defRPr sz="1350" b="1">
                <a:solidFill>
                  <a:srgbClr val="3788E8"/>
                </a:solidFill>
              </a:defRPr>
            </a:pPr>
            <a:r>
              <a:rPr sz="1350" b="1">
                <a:solidFill>
                  <a:srgbClr val="3788E8"/>
                </a:solidFill>
              </a:rPr>
              <a:t>AI</a:t>
            </a:r>
          </a:p>
        </p:txBody>
      </p:sp>
      <p:sp>
        <p:nvSpPr>
          <p:cNvPr id="125" name="">
            <a:extLst xmlns:a="http://schemas.openxmlformats.org/drawingml/2006/main">
              <a:ext uri="{FF2B5EF4-FFF2-40B4-BE49-F238E27FC236}">
                <a16:creationId xmlns:a16="http://schemas.microsoft.com/office/drawing/2014/main" id="{6A4CA0C6-65BE-45C8-9EC4-A37CE20541D7}"/>
              </a:ext>
            </a:extLst>
          </p:cNvPr>
          <p:cNvSpPr>
            <a:spLocks xmlns:a="http://schemas.openxmlformats.org/drawingml/2006/main" noGrp="1"/>
          </p:cNvSpPr>
          <p:nvPr/>
        </p:nvSpPr>
        <p:spPr>
          <a:xfrm xmlns:a="http://schemas.openxmlformats.org/drawingml/2006/main">
            <a:off x="2238375" y="3057525"/>
            <a:ext cx="514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11827"/>
                </a:solidFill>
              </a:defRPr>
            </a:defPPr>
          </a:lstStyle>
          <a:p xmlns:a="http://schemas.openxmlformats.org/drawingml/2006/main">
            <a:pPr algn="l">
              <a:defRPr sz="1275" b="0">
                <a:solidFill>
                  <a:srgbClr val="111827"/>
                </a:solidFill>
              </a:defRPr>
            </a:pPr>
            <a:r>
              <a:rPr sz="1275" b="0">
                <a:solidFill>
                  <a:srgbClr val="111827"/>
                </a:solidFill>
              </a:rPr>
              <a:t>Gemini through a secure Cloud Run server proxy using the Google Gen AI SDK</a:t>
            </a:r>
          </a:p>
        </p:txBody>
      </p:sp>
      <p:sp>
        <p:nvSpPr>
          <p:cNvPr id="126" name="">
            <a:extLst xmlns:a="http://schemas.openxmlformats.org/drawingml/2006/main">
              <a:ext uri="{FF2B5EF4-FFF2-40B4-BE49-F238E27FC236}">
                <a16:creationId xmlns:a16="http://schemas.microsoft.com/office/drawing/2014/main" id="{1C921D78-A4BD-423E-AFF8-0255844C668F}"/>
              </a:ext>
            </a:extLst>
          </p:cNvPr>
          <p:cNvSpPr>
            <a:spLocks xmlns:a="http://schemas.openxmlformats.org/drawingml/2006/main" noGrp="1"/>
          </p:cNvSpPr>
          <p:nvPr/>
        </p:nvSpPr>
        <p:spPr>
          <a:xfrm xmlns:a="http://schemas.openxmlformats.org/drawingml/2006/main">
            <a:off x="523875" y="38481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1">
                <a:solidFill>
                  <a:srgbClr val="7041D9"/>
                </a:solidFill>
              </a:defRPr>
            </a:defPPr>
          </a:lstStyle>
          <a:p xmlns:a="http://schemas.openxmlformats.org/drawingml/2006/main">
            <a:pPr algn="l">
              <a:defRPr sz="1350" b="1">
                <a:solidFill>
                  <a:srgbClr val="7041D9"/>
                </a:solidFill>
              </a:defRPr>
            </a:pPr>
            <a:r>
              <a:rPr sz="1350" b="1">
                <a:solidFill>
                  <a:srgbClr val="7041D9"/>
                </a:solidFill>
              </a:rPr>
              <a:t>Handoff integration</a:t>
            </a:r>
          </a:p>
        </p:txBody>
      </p:sp>
      <p:sp>
        <p:nvSpPr>
          <p:cNvPr id="127" name="">
            <a:extLst xmlns:a="http://schemas.openxmlformats.org/drawingml/2006/main">
              <a:ext uri="{FF2B5EF4-FFF2-40B4-BE49-F238E27FC236}">
                <a16:creationId xmlns:a16="http://schemas.microsoft.com/office/drawing/2014/main" id="{8DCDDDCE-BD18-4A47-B0C7-42CEE65F2B5E}"/>
              </a:ext>
            </a:extLst>
          </p:cNvPr>
          <p:cNvSpPr>
            <a:spLocks xmlns:a="http://schemas.openxmlformats.org/drawingml/2006/main" noGrp="1"/>
          </p:cNvSpPr>
          <p:nvPr/>
        </p:nvSpPr>
        <p:spPr>
          <a:xfrm xmlns:a="http://schemas.openxmlformats.org/drawingml/2006/main">
            <a:off x="2238375" y="3848100"/>
            <a:ext cx="514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0">
                <a:solidFill>
                  <a:srgbClr val="111827"/>
                </a:solidFill>
              </a:defRPr>
            </a:defPPr>
          </a:lstStyle>
          <a:p xmlns:a="http://schemas.openxmlformats.org/drawingml/2006/main">
            <a:pPr algn="l">
              <a:defRPr sz="1275" b="0">
                <a:solidFill>
                  <a:srgbClr val="111827"/>
                </a:solidFill>
              </a:defRPr>
            </a:pPr>
            <a:r>
              <a:rPr sz="1275" b="0">
                <a:solidFill>
                  <a:srgbClr val="111827"/>
                </a:solidFill>
              </a:rPr>
              <a:t>Delivery-status link with a third-party provider such as Porter (planned)</a:t>
            </a:r>
          </a:p>
        </p:txBody>
      </p:sp>
      <p:pic>
        <p:nvPicPr>
          <p:cNvPr id="128" name="">
            <a:extLst xmlns:a="http://schemas.openxmlformats.org/drawingml/2006/main">
              <a:ext uri="{FF2B5EF4-FFF2-40B4-BE49-F238E27FC236}">
                <a16:creationId xmlns:a16="http://schemas.microsoft.com/office/drawing/2014/main" id="{D23A53EE-F7B5-42AD-88B8-B562BCCA5C93}"/>
              </a:ext>
            </a:extLst>
          </p:cNvPr>
          <p:cNvPicPr>
            <a:picLocks xmlns:a="http://schemas.openxmlformats.org/drawingml/2006/main" noChangeAspect="1"/>
          </p:cNvPicPr>
          <p:nvPr/>
        </p:nvPicPr>
        <p:blipFill>
          <a:blip xmlns:r="http://schemas.openxmlformats.org/officeDocument/2006/relationships" xmlns:a="http://schemas.openxmlformats.org/drawingml/2006/main" r:embed="R4ccad7336da14c2f"/>
          <a:stretch xmlns:a="http://schemas.openxmlformats.org/drawingml/2006/main"/>
        </p:blipFill>
        <p:spPr>
          <a:xfrm xmlns:a="http://schemas.openxmlformats.org/drawingml/2006/main">
            <a:off x="7096125" y="1910137"/>
            <a:ext cx="1619250" cy="1704225"/>
          </a:xfrm>
          <a:prstGeom xmlns:a="http://schemas.openxmlformats.org/drawingml/2006/main" prst="rect">
            <a:avLst/>
          </a:prstGeom>
        </p:spPr>
      </p:pic>
      <p:sp>
        <p:nvSpPr>
          <p:cNvPr id="129" name="">
            <a:extLst xmlns:a="http://schemas.openxmlformats.org/drawingml/2006/main">
              <a:ext uri="{FF2B5EF4-FFF2-40B4-BE49-F238E27FC236}">
                <a16:creationId xmlns:a16="http://schemas.microsoft.com/office/drawing/2014/main" id="{3420E100-2906-4644-8210-F4FBC0B0F65F}"/>
              </a:ext>
            </a:extLst>
          </p:cNvPr>
          <p:cNvSpPr>
            <a:spLocks xmlns:a="http://schemas.openxmlformats.org/drawingml/2006/main" noGrp="1"/>
          </p:cNvSpPr>
          <p:nvPr/>
        </p:nvSpPr>
        <p:spPr>
          <a:xfrm xmlns:a="http://schemas.openxmlformats.org/drawingml/2006/main">
            <a:off x="2238375" y="44386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1">
                <a:solidFill>
                  <a:srgbClr val="586273"/>
                </a:solidFill>
              </a:defRPr>
            </a:defPPr>
          </a:lstStyle>
          <a:p xmlns:a="http://schemas.openxmlformats.org/drawingml/2006/main">
            <a:pPr algn="l">
              <a:defRPr sz="1125" b="1">
                <a:solidFill>
                  <a:srgbClr val="586273"/>
                </a:solidFill>
              </a:defRPr>
            </a:pPr>
            <a:r>
              <a:rPr sz="1125" b="1">
                <a:solidFill>
                  <a:srgbClr val="586273"/>
                </a:solidFill>
              </a:rPr>
              <a:t>Open-source UI foundation: shadcn/ui (MIT)</a:t>
            </a:r>
          </a:p>
        </p:txBody>
      </p:sp>
    </p:spTree>
    <p:extLst>
      <p:ext uri="{BB962C8B-B14F-4D97-AF65-F5344CB8AC3E}">
        <p14:creationId xmlns:p14="http://schemas.microsoft.com/office/powerpoint/2010/main" val="203428990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24" name="Google Shape;124;p22">
            <a:extLst xmlns:a="http://schemas.openxmlformats.org/drawingml/2006/main">
              <a:ext uri="{FF2B5EF4-FFF2-40B4-BE49-F238E27FC236}">
                <a16:creationId xmlns:a16="http://schemas.microsoft.com/office/drawing/2014/main" id="{54C6B5A3-94D3-4B1E-AE75-9F32D8D0A51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9e647de3dcb4df0">
            <a:alphaModFix/>
          </a:blip>
          <a:srcRect xmlns:a="http://schemas.openxmlformats.org/drawingml/2006/main" l="0" t="0" r="0" b="98001"/>
          <a:stretch xmlns:a="http://schemas.openxmlformats.org/drawingml/2006/main"/>
        </p:blipFill>
        <p:spPr>
          <a:xfrm xmlns:a="http://schemas.openxmlformats.org/drawingml/2006/main">
            <a:off x="0" y="5093562"/>
            <a:ext cx="9144000" cy="54275"/>
          </a:xfrm>
          <a:prstGeom xmlns:a="http://schemas.openxmlformats.org/drawingml/2006/main" prst="rect">
            <a:avLst/>
          </a:prstGeom>
          <a:ln xmlns:a="http://schemas.openxmlformats.org/drawingml/2006/main">
            <a:noFill/>
          </a:ln>
        </p:spPr>
      </p:pic>
      <p:pic>
        <p:nvPicPr>
          <p:cNvPr id="125" name="Google Shape;125;p22">
            <a:extLst xmlns:a="http://schemas.openxmlformats.org/drawingml/2006/main">
              <a:ext uri="{FF2B5EF4-FFF2-40B4-BE49-F238E27FC236}">
                <a16:creationId xmlns:a16="http://schemas.microsoft.com/office/drawing/2014/main" id="{EE0AD7A5-D886-49F2-99F3-4C57A3CF3EE9}"/>
              </a:ext>
            </a:extLst>
          </p:cNvPr>
          <p:cNvPicPr>
            <a:picLocks xmlns:a="http://schemas.openxmlformats.org/drawingml/2006/main" noChangeAspect="1"/>
          </p:cNvPicPr>
          <p:nvPr/>
        </p:nvPicPr>
        <p:blipFill>
          <a:blip xmlns:r="http://schemas.openxmlformats.org/officeDocument/2006/relationships" xmlns:a="http://schemas.openxmlformats.org/drawingml/2006/main" r:embed="R30b0079f158d4c8b">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26" name="Google Shape;126;p22">
            <a:extLst xmlns:a="http://schemas.openxmlformats.org/drawingml/2006/main">
              <a:ext uri="{FF2B5EF4-FFF2-40B4-BE49-F238E27FC236}">
                <a16:creationId xmlns:a16="http://schemas.microsoft.com/office/drawing/2014/main" id="{25BFF97E-FE5B-456E-B511-FE8C25B1FEF1}"/>
              </a:ext>
            </a:extLst>
          </p:cNvPr>
          <p:cNvSpPr>
            <a:spLocks xmlns:a="http://schemas.openxmlformats.org/drawingml/2006/main" noGrp="1"/>
          </p:cNvSpPr>
          <p:nvPr/>
        </p:nvSpPr>
        <p:spPr>
          <a:xfrm xmlns:a="http://schemas.openxmlformats.org/drawingml/2006/main">
            <a:off x="-29250" y="5071875"/>
            <a:ext cx="9173400" cy="978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27" name="Google Shape;127;p22">
            <a:extLst xmlns:a="http://schemas.openxmlformats.org/drawingml/2006/main">
              <a:ext uri="{FF2B5EF4-FFF2-40B4-BE49-F238E27FC236}">
                <a16:creationId xmlns:a16="http://schemas.microsoft.com/office/drawing/2014/main" id="{40EF70C7-31EF-4328-A8AF-20CE82F367AB}"/>
              </a:ext>
            </a:extLst>
          </p:cNvPr>
          <p:cNvSpPr>
            <a:spLocks xmlns:a="http://schemas.openxmlformats.org/drawingml/2006/main" noGrp="1"/>
          </p:cNvSpPr>
          <p:nvPr/>
        </p:nvSpPr>
        <p:spPr>
          <a:xfrm xmlns:a="http://schemas.openxmlformats.org/drawingml/2006/main">
            <a:off x="265367" y="663797"/>
            <a:ext cx="85725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lgn="l">
              <a:defRPr sz="1600" b="1">
                <a:solidFill>
                  <a:srgbClr val="000000"/>
                </a:solidFill>
              </a:defRPr>
            </a:defPPr>
          </a:lstStyle>
          <a:p xmlns:a="http://schemas.openxmlformats.org/drawingml/2006/main">
            <a:pPr marL="0" lvl="0" indent="0" algn="l">
              <a:spcBef>
                <a:spcPts val="0"/>
              </a:spcBef>
              <a:spcAft>
                <a:spcPts val="0"/>
              </a:spcAft>
              <a:buNone/>
              <a:defRPr sz="1600" b="1">
                <a:solidFill>
                  <a:srgbClr val="000000"/>
                </a:solidFill>
              </a:defRPr>
            </a:pPr>
            <a:r>
              <a:rPr sz="1600" b="1">
                <a:solidFill>
                  <a:srgbClr val="000000"/>
                </a:solidFill>
                <a:latin typeface="Google Sans Flex Medium"/>
                <a:ea typeface="Google Sans Flex Medium"/>
                <a:cs typeface="Google Sans Flex Medium"/>
              </a:rPr>
              <a:t>Implementation cost target</a:t>
            </a:r>
            <a:endParaRPr sz="1600">
              <a:latin typeface="Google Sans Flex Medium"/>
              <a:ea typeface="Google Sans Flex Medium"/>
              <a:cs typeface="Google Sans Flex Medium"/>
            </a:endParaRPr>
          </a:p>
        </p:txBody>
      </p:sp>
      <p:sp>
        <p:nvSpPr>
          <p:cNvPr id="128" name="">
            <a:extLst xmlns:a="http://schemas.openxmlformats.org/drawingml/2006/main">
              <a:ext uri="{FF2B5EF4-FFF2-40B4-BE49-F238E27FC236}">
                <a16:creationId xmlns:a16="http://schemas.microsoft.com/office/drawing/2014/main" id="{F095BCC8-3EA4-4329-8860-EFAEE3CE957E}"/>
              </a:ext>
            </a:extLst>
          </p:cNvPr>
          <p:cNvSpPr>
            <a:spLocks xmlns:a="http://schemas.openxmlformats.org/drawingml/2006/main" noGrp="1"/>
          </p:cNvSpPr>
          <p:nvPr/>
        </p:nvSpPr>
        <p:spPr>
          <a:xfrm xmlns:a="http://schemas.openxmlformats.org/drawingml/2006/main">
            <a:off x="495300" y="1314450"/>
            <a:ext cx="7715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75" b="1">
                <a:solidFill>
                  <a:srgbClr val="111827"/>
                </a:solidFill>
              </a:defRPr>
            </a:defPPr>
          </a:lstStyle>
          <a:p xmlns:a="http://schemas.openxmlformats.org/drawingml/2006/main">
            <a:pPr algn="l">
              <a:defRPr sz="1575" b="1">
                <a:solidFill>
                  <a:srgbClr val="111827"/>
                </a:solidFill>
              </a:defRPr>
            </a:pPr>
            <a:r>
              <a:rPr sz="1575" b="1">
                <a:solidFill>
                  <a:srgbClr val="111827"/>
                </a:solidFill>
              </a:rPr>
              <a:t>The prototype is designed to run without paid infrastructure during the competition.</a:t>
            </a:r>
          </a:p>
        </p:txBody>
      </p:sp>
      <p:graphicFrame>
        <p:nvGraphicFramePr>
          <p:cNvPr id="129" name="">
            <a:extLst xmlns:a="http://schemas.openxmlformats.org/drawingml/2006/main">
              <a:ext uri="{FF2B5EF4-FFF2-40B4-BE49-F238E27FC236}">
                <a16:creationId xmlns:a16="http://schemas.microsoft.com/office/drawing/2014/main" id="{012124F4-CE8B-4C0C-BDDA-ACE33415728C}"/>
              </a:ext>
            </a:extLst>
          </p:cNvPr>
          <p:cNvGraphicFramePr/>
          <p:nvPr/>
        </p:nvGraphicFramePr>
        <p:xfrm>
          <a:off xmlns:a="http://schemas.openxmlformats.org/drawingml/2006/main" x="523875" y="2000250"/>
          <a:ext xmlns:a="http://schemas.openxmlformats.org/drawingml/2006/main" cx="8096250" cy="2143125"/>
        </p:xfrm>
        <a:graphic xmlns:a="http://schemas.openxmlformats.org/drawingml/2006/main">
          <a:graphicData uri="http://schemas.openxmlformats.org/drawingml/2006/table">
            <a:tbl>
              <a:tblPr/>
              <a:tblGrid>
                <a:gridCol w="2698750"/>
                <a:gridCol w="2698750"/>
                <a:gridCol w="2698750"/>
              </a:tblGrid>
              <a:tr h="428625">
                <a:tc>
                  <a:txBody>
                    <a:bodyPr/>
                    <a:lstStyle/>
                    <a:p>
                      <a:r>
                        <a:rPr sz="1125" b="1">
                          <a:solidFill>
                            <a:srgbClr val="FFFFFF"/>
                          </a:solidFill>
                        </a:rPr>
                        <a:t>Component</a:t>
                      </a:r>
                    </a:p>
                  </a:txBody>
                  <a:tcPr marL="91440" marR="91440" marT="45720" marB="45720" anchor="ctr">
                    <a:lnL w="9525">
                      <a:solidFill>
                        <a:srgbClr val="D8DEE8"/>
                      </a:solidFill>
                      <a:prstDash val="solid"/>
                    </a:lnL>
                    <a:lnR w="9525">
                      <a:solidFill>
                        <a:srgbClr val="D8DEE8"/>
                      </a:solidFill>
                      <a:prstDash val="solid"/>
                    </a:lnR>
                    <a:lnT w="9525">
                      <a:solidFill>
                        <a:srgbClr val="D8DEE8"/>
                      </a:solidFill>
                      <a:prstDash val="solid"/>
                    </a:lnT>
                    <a:lnB w="9525">
                      <a:solidFill>
                        <a:srgbClr val="D8DEE8"/>
                      </a:solidFill>
                      <a:prstDash val="solid"/>
                    </a:lnB>
                    <a:solidFill>
                      <a:srgbClr val="111827"/>
                    </a:solidFill>
                  </a:tcPr>
                </a:tc>
                <a:tc>
                  <a:txBody>
                    <a:bodyPr/>
                    <a:lstStyle/>
                    <a:p>
                      <a:r>
                        <a:rPr sz="1125" b="1">
                          <a:solidFill>
                            <a:srgbClr val="FFFFFF"/>
                          </a:solidFill>
                        </a:rPr>
                        <a:t>Planned tier</a:t>
                      </a:r>
                    </a:p>
                  </a:txBody>
                  <a:tcPr marL="91440" marR="91440" marT="45720" marB="45720" anchor="ctr">
                    <a:lnR w="9525">
                      <a:solidFill>
                        <a:srgbClr val="D8DEE8"/>
                      </a:solidFill>
                      <a:prstDash val="solid"/>
                    </a:lnR>
                    <a:lnT w="9525">
                      <a:solidFill>
                        <a:srgbClr val="D8DEE8"/>
                      </a:solidFill>
                      <a:prstDash val="solid"/>
                    </a:lnT>
                    <a:lnB w="9525">
                      <a:solidFill>
                        <a:srgbClr val="D8DEE8"/>
                      </a:solidFill>
                      <a:prstDash val="solid"/>
                    </a:lnB>
                    <a:solidFill>
                      <a:srgbClr val="111827"/>
                    </a:solidFill>
                  </a:tcPr>
                </a:tc>
                <a:tc>
                  <a:txBody>
                    <a:bodyPr/>
                    <a:lstStyle/>
                    <a:p>
                      <a:r>
                        <a:rPr sz="1125" b="1">
                          <a:solidFill>
                            <a:srgbClr val="FFFFFF"/>
                          </a:solidFill>
                        </a:rPr>
                        <a:t>Competition cost target</a:t>
                      </a:r>
                    </a:p>
                  </a:txBody>
                  <a:tcPr marL="91440" marR="91440" marT="45720" marB="45720" anchor="ctr">
                    <a:lnR w="9525">
                      <a:solidFill>
                        <a:srgbClr val="D8DEE8"/>
                      </a:solidFill>
                      <a:prstDash val="solid"/>
                    </a:lnR>
                    <a:lnT w="9525">
                      <a:solidFill>
                        <a:srgbClr val="D8DEE8"/>
                      </a:solidFill>
                      <a:prstDash val="solid"/>
                    </a:lnT>
                    <a:lnB w="9525">
                      <a:solidFill>
                        <a:srgbClr val="D8DEE8"/>
                      </a:solidFill>
                      <a:prstDash val="solid"/>
                    </a:lnB>
                    <a:solidFill>
                      <a:srgbClr val="111827"/>
                    </a:solidFill>
                  </a:tcPr>
                </a:tc>
              </a:tr>
              <a:tr h="428625">
                <a:tc>
                  <a:txBody>
                    <a:bodyPr/>
                    <a:lstStyle/>
                    <a:p>
                      <a:r>
                        <a:rPr sz="1050">
                          <a:solidFill>
                            <a:srgbClr val="111827"/>
                          </a:solidFill>
                        </a:rPr>
                        <a:t>Cloud Run</a:t>
                      </a:r>
                    </a:p>
                  </a:txBody>
                  <a:tcPr marL="91440" marR="91440" marT="45720" marB="45720" anchor="ctr">
                    <a:lnL w="9525">
                      <a:solidFill>
                        <a:srgbClr val="D8DEE8"/>
                      </a:solidFill>
                      <a:prstDash val="solid"/>
                    </a:lnL>
                    <a:lnR w="9525">
                      <a:solidFill>
                        <a:srgbClr val="D8DEE8"/>
                      </a:solidFill>
                      <a:prstDash val="solid"/>
                    </a:lnR>
                    <a:lnB w="9525">
                      <a:solidFill>
                        <a:srgbClr val="D8DEE8"/>
                      </a:solidFill>
                      <a:prstDash val="solid"/>
                    </a:lnB>
                  </a:tcPr>
                </a:tc>
                <a:tc>
                  <a:txBody>
                    <a:bodyPr/>
                    <a:lstStyle/>
                    <a:p>
                      <a:r>
                        <a:rPr sz="1050">
                          <a:solidFill>
                            <a:srgbClr val="111827"/>
                          </a:solidFill>
                        </a:rPr>
                        <a:t>Free usage allowance</a:t>
                      </a:r>
                    </a:p>
                  </a:txBody>
                  <a:tcPr marL="91440" marR="91440" marT="45720" marB="45720" anchor="ctr">
                    <a:lnR w="9525">
                      <a:solidFill>
                        <a:srgbClr val="D8DEE8"/>
                      </a:solidFill>
                      <a:prstDash val="solid"/>
                    </a:lnR>
                    <a:lnB w="9525">
                      <a:solidFill>
                        <a:srgbClr val="D8DEE8"/>
                      </a:solidFill>
                      <a:prstDash val="solid"/>
                    </a:lnB>
                  </a:tcPr>
                </a:tc>
                <a:tc>
                  <a:txBody>
                    <a:bodyPr/>
                    <a:lstStyle/>
                    <a:p>
                      <a:r>
                        <a:rPr sz="1050">
                          <a:solidFill>
                            <a:srgbClr val="111827"/>
                          </a:solidFill>
                        </a:rPr>
                        <a:t>₹0 target</a:t>
                      </a:r>
                    </a:p>
                  </a:txBody>
                  <a:tcPr marL="91440" marR="91440" marT="45720" marB="45720" anchor="ctr">
                    <a:lnR w="9525">
                      <a:solidFill>
                        <a:srgbClr val="D8DEE8"/>
                      </a:solidFill>
                      <a:prstDash val="solid"/>
                    </a:lnR>
                    <a:lnB w="9525">
                      <a:solidFill>
                        <a:srgbClr val="D8DEE8"/>
                      </a:solidFill>
                      <a:prstDash val="solid"/>
                    </a:lnB>
                  </a:tcPr>
                </a:tc>
              </a:tr>
              <a:tr h="428625">
                <a:tc>
                  <a:txBody>
                    <a:bodyPr/>
                    <a:lstStyle/>
                    <a:p>
                      <a:r>
                        <a:rPr sz="1050">
                          <a:solidFill>
                            <a:srgbClr val="111827"/>
                          </a:solidFill>
                        </a:rPr>
                        <a:t>Firebase Authentication</a:t>
                      </a:r>
                    </a:p>
                  </a:txBody>
                  <a:tcPr marL="91440" marR="91440" marT="45720" marB="45720" anchor="ctr">
                    <a:lnL w="9525">
                      <a:solidFill>
                        <a:srgbClr val="D8DEE8"/>
                      </a:solidFill>
                      <a:prstDash val="solid"/>
                    </a:lnL>
                    <a:lnR w="9525">
                      <a:solidFill>
                        <a:srgbClr val="D8DEE8"/>
                      </a:solidFill>
                      <a:prstDash val="solid"/>
                    </a:lnR>
                    <a:lnB w="9525">
                      <a:solidFill>
                        <a:srgbClr val="D8DEE8"/>
                      </a:solidFill>
                      <a:prstDash val="solid"/>
                    </a:lnB>
                  </a:tcPr>
                </a:tc>
                <a:tc>
                  <a:txBody>
                    <a:bodyPr/>
                    <a:lstStyle/>
                    <a:p>
                      <a:r>
                        <a:rPr sz="1050">
                          <a:solidFill>
                            <a:srgbClr val="111827"/>
                          </a:solidFill>
                        </a:rPr>
                        <a:t>Free quota</a:t>
                      </a:r>
                    </a:p>
                  </a:txBody>
                  <a:tcPr marL="91440" marR="91440" marT="45720" marB="45720" anchor="ctr">
                    <a:lnR w="9525">
                      <a:solidFill>
                        <a:srgbClr val="D8DEE8"/>
                      </a:solidFill>
                      <a:prstDash val="solid"/>
                    </a:lnR>
                    <a:lnB w="9525">
                      <a:solidFill>
                        <a:srgbClr val="D8DEE8"/>
                      </a:solidFill>
                      <a:prstDash val="solid"/>
                    </a:lnB>
                  </a:tcPr>
                </a:tc>
                <a:tc>
                  <a:txBody>
                    <a:bodyPr/>
                    <a:lstStyle/>
                    <a:p>
                      <a:r>
                        <a:rPr sz="1050">
                          <a:solidFill>
                            <a:srgbClr val="111827"/>
                          </a:solidFill>
                        </a:rPr>
                        <a:t>₹0 target</a:t>
                      </a:r>
                    </a:p>
                  </a:txBody>
                  <a:tcPr marL="91440" marR="91440" marT="45720" marB="45720" anchor="ctr">
                    <a:lnR w="9525">
                      <a:solidFill>
                        <a:srgbClr val="D8DEE8"/>
                      </a:solidFill>
                      <a:prstDash val="solid"/>
                    </a:lnR>
                    <a:lnB w="9525">
                      <a:solidFill>
                        <a:srgbClr val="D8DEE8"/>
                      </a:solidFill>
                      <a:prstDash val="solid"/>
                    </a:lnB>
                  </a:tcPr>
                </a:tc>
              </a:tr>
              <a:tr h="428625">
                <a:tc>
                  <a:txBody>
                    <a:bodyPr/>
                    <a:lstStyle/>
                    <a:p>
                      <a:r>
                        <a:rPr sz="1050">
                          <a:solidFill>
                            <a:srgbClr val="111827"/>
                          </a:solidFill>
                        </a:rPr>
                        <a:t>Gemini API</a:t>
                      </a:r>
                    </a:p>
                  </a:txBody>
                  <a:tcPr marL="91440" marR="91440" marT="45720" marB="45720" anchor="ctr">
                    <a:lnL w="9525">
                      <a:solidFill>
                        <a:srgbClr val="D8DEE8"/>
                      </a:solidFill>
                      <a:prstDash val="solid"/>
                    </a:lnL>
                    <a:lnR w="9525">
                      <a:solidFill>
                        <a:srgbClr val="D8DEE8"/>
                      </a:solidFill>
                      <a:prstDash val="solid"/>
                    </a:lnR>
                    <a:lnB w="9525">
                      <a:solidFill>
                        <a:srgbClr val="D8DEE8"/>
                      </a:solidFill>
                      <a:prstDash val="solid"/>
                    </a:lnB>
                  </a:tcPr>
                </a:tc>
                <a:tc>
                  <a:txBody>
                    <a:bodyPr/>
                    <a:lstStyle/>
                    <a:p>
                      <a:r>
                        <a:rPr sz="1050">
                          <a:solidFill>
                            <a:srgbClr val="111827"/>
                          </a:solidFill>
                        </a:rPr>
                        <a:t>Developer quota</a:t>
                      </a:r>
                    </a:p>
                  </a:txBody>
                  <a:tcPr marL="91440" marR="91440" marT="45720" marB="45720" anchor="ctr">
                    <a:lnR w="9525">
                      <a:solidFill>
                        <a:srgbClr val="D8DEE8"/>
                      </a:solidFill>
                      <a:prstDash val="solid"/>
                    </a:lnR>
                    <a:lnB w="9525">
                      <a:solidFill>
                        <a:srgbClr val="D8DEE8"/>
                      </a:solidFill>
                      <a:prstDash val="solid"/>
                    </a:lnB>
                  </a:tcPr>
                </a:tc>
                <a:tc>
                  <a:txBody>
                    <a:bodyPr/>
                    <a:lstStyle/>
                    <a:p>
                      <a:r>
                        <a:rPr sz="1050">
                          <a:solidFill>
                            <a:srgbClr val="111827"/>
                          </a:solidFill>
                        </a:rPr>
                        <a:t>₹0 target</a:t>
                      </a:r>
                    </a:p>
                  </a:txBody>
                  <a:tcPr marL="91440" marR="91440" marT="45720" marB="45720" anchor="ctr">
                    <a:lnR w="9525">
                      <a:solidFill>
                        <a:srgbClr val="D8DEE8"/>
                      </a:solidFill>
                      <a:prstDash val="solid"/>
                    </a:lnR>
                    <a:lnB w="9525">
                      <a:solidFill>
                        <a:srgbClr val="D8DEE8"/>
                      </a:solidFill>
                      <a:prstDash val="solid"/>
                    </a:lnB>
                  </a:tcPr>
                </a:tc>
              </a:tr>
              <a:tr h="428625">
                <a:tc>
                  <a:txBody>
                    <a:bodyPr/>
                    <a:lstStyle/>
                    <a:p>
                      <a:r>
                        <a:rPr sz="1050">
                          <a:solidFill>
                            <a:srgbClr val="111827"/>
                          </a:solidFill>
                        </a:rPr>
                        <a:t>Frontend libraries</a:t>
                      </a:r>
                    </a:p>
                  </a:txBody>
                  <a:tcPr marL="91440" marR="91440" marT="45720" marB="45720" anchor="ctr">
                    <a:lnL w="9525">
                      <a:solidFill>
                        <a:srgbClr val="D8DEE8"/>
                      </a:solidFill>
                      <a:prstDash val="solid"/>
                    </a:lnL>
                    <a:lnR w="9525">
                      <a:solidFill>
                        <a:srgbClr val="D8DEE8"/>
                      </a:solidFill>
                      <a:prstDash val="solid"/>
                    </a:lnR>
                    <a:lnB w="9525">
                      <a:solidFill>
                        <a:srgbClr val="D8DEE8"/>
                      </a:solidFill>
                      <a:prstDash val="solid"/>
                    </a:lnB>
                  </a:tcPr>
                </a:tc>
                <a:tc>
                  <a:txBody>
                    <a:bodyPr/>
                    <a:lstStyle/>
                    <a:p>
                      <a:r>
                        <a:rPr sz="1050">
                          <a:solidFill>
                            <a:srgbClr val="111827"/>
                          </a:solidFill>
                        </a:rPr>
                        <a:t>Open source</a:t>
                      </a:r>
                    </a:p>
                  </a:txBody>
                  <a:tcPr marL="91440" marR="91440" marT="45720" marB="45720" anchor="ctr">
                    <a:lnR w="9525">
                      <a:solidFill>
                        <a:srgbClr val="D8DEE8"/>
                      </a:solidFill>
                      <a:prstDash val="solid"/>
                    </a:lnR>
                    <a:lnB w="9525">
                      <a:solidFill>
                        <a:srgbClr val="D8DEE8"/>
                      </a:solidFill>
                      <a:prstDash val="solid"/>
                    </a:lnB>
                  </a:tcPr>
                </a:tc>
                <a:tc>
                  <a:txBody>
                    <a:bodyPr/>
                    <a:lstStyle/>
                    <a:p>
                      <a:r>
                        <a:rPr sz="1050">
                          <a:solidFill>
                            <a:srgbClr val="111827"/>
                          </a:solidFill>
                        </a:rPr>
                        <a:t>₹0</a:t>
                      </a:r>
                    </a:p>
                  </a:txBody>
                  <a:tcPr marL="91440" marR="91440" marT="45720" marB="45720" anchor="ctr">
                    <a:lnR w="9525">
                      <a:solidFill>
                        <a:srgbClr val="D8DEE8"/>
                      </a:solidFill>
                      <a:prstDash val="solid"/>
                    </a:lnR>
                    <a:lnB w="9525">
                      <a:solidFill>
                        <a:srgbClr val="D8DEE8"/>
                      </a:solidFill>
                      <a:prstDash val="solid"/>
                    </a:lnB>
                  </a:tcPr>
                </a:tc>
              </a:tr>
            </a:tbl>
          </a:graphicData>
        </a:graphic>
      </p:graphicFrame>
      <p:sp>
        <p:nvSpPr>
          <p:cNvPr id="130" name="">
            <a:extLst xmlns:a="http://schemas.openxmlformats.org/drawingml/2006/main">
              <a:ext uri="{FF2B5EF4-FFF2-40B4-BE49-F238E27FC236}">
                <a16:creationId xmlns:a16="http://schemas.microsoft.com/office/drawing/2014/main" id="{5AD27BC1-3508-4759-B363-744DB1FAE9CD}"/>
              </a:ext>
            </a:extLst>
          </p:cNvPr>
          <p:cNvSpPr>
            <a:spLocks xmlns:a="http://schemas.openxmlformats.org/drawingml/2006/main" noGrp="1"/>
          </p:cNvSpPr>
          <p:nvPr/>
        </p:nvSpPr>
        <p:spPr>
          <a:xfrm xmlns:a="http://schemas.openxmlformats.org/drawingml/2006/main">
            <a:off x="857250" y="4438650"/>
            <a:ext cx="742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1">
                <a:solidFill>
                  <a:srgbClr val="9A6700"/>
                </a:solidFill>
              </a:defRPr>
            </a:defPPr>
          </a:lstStyle>
          <a:p xmlns:a="http://schemas.openxmlformats.org/drawingml/2006/main">
            <a:pPr algn="ctr">
              <a:defRPr sz="1050" b="1">
                <a:solidFill>
                  <a:srgbClr val="9A6700"/>
                </a:solidFill>
              </a:defRPr>
            </a:pPr>
            <a:r>
              <a:rPr sz="1050" b="1">
                <a:solidFill>
                  <a:srgbClr val="9A6700"/>
                </a:solidFill>
              </a:rPr>
              <a:t>Cost and capacity depend on current quotas and event rules. Verify both before submission.</a:t>
            </a:r>
          </a:p>
        </p:txBody>
      </p:sp>
    </p:spTree>
    <p:extLst>
      <p:ext uri="{BB962C8B-B14F-4D97-AF65-F5344CB8AC3E}">
        <p14:creationId xmlns:p14="http://schemas.microsoft.com/office/powerpoint/2010/main" val="82624878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132" name="Google Shape;132;p23">
            <a:extLst xmlns:a="http://schemas.openxmlformats.org/drawingml/2006/main">
              <a:ext uri="{FF2B5EF4-FFF2-40B4-BE49-F238E27FC236}">
                <a16:creationId xmlns:a16="http://schemas.microsoft.com/office/drawing/2014/main" id="{1687E135-ECC8-46EF-9B15-251D89AAF0B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9f258d74f854360">
            <a:alphaModFix/>
          </a:blip>
          <a:srcRect xmlns:a="http://schemas.openxmlformats.org/drawingml/2006/main" l="0" t="0" r="0" b="98001"/>
          <a:stretch xmlns:a="http://schemas.openxmlformats.org/drawingml/2006/main"/>
        </p:blipFill>
        <p:spPr>
          <a:xfrm xmlns:a="http://schemas.openxmlformats.org/drawingml/2006/main">
            <a:off x="0" y="5093562"/>
            <a:ext cx="9144000" cy="54275"/>
          </a:xfrm>
          <a:prstGeom xmlns:a="http://schemas.openxmlformats.org/drawingml/2006/main" prst="rect">
            <a:avLst/>
          </a:prstGeom>
          <a:ln xmlns:a="http://schemas.openxmlformats.org/drawingml/2006/main">
            <a:noFill/>
          </a:ln>
        </p:spPr>
      </p:pic>
      <p:pic>
        <p:nvPicPr>
          <p:cNvPr id="133" name="Google Shape;133;p23">
            <a:extLst xmlns:a="http://schemas.openxmlformats.org/drawingml/2006/main">
              <a:ext uri="{FF2B5EF4-FFF2-40B4-BE49-F238E27FC236}">
                <a16:creationId xmlns:a16="http://schemas.microsoft.com/office/drawing/2014/main" id="{D4FB9529-42CE-43EC-97FA-E9B966C91F38}"/>
              </a:ext>
            </a:extLst>
          </p:cNvPr>
          <p:cNvPicPr>
            <a:picLocks xmlns:a="http://schemas.openxmlformats.org/drawingml/2006/main" noChangeAspect="1"/>
          </p:cNvPicPr>
          <p:nvPr/>
        </p:nvPicPr>
        <p:blipFill>
          <a:blip xmlns:r="http://schemas.openxmlformats.org/officeDocument/2006/relationships" xmlns:a="http://schemas.openxmlformats.org/drawingml/2006/main" r:embed="R987f97fa850d49f8">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34" name="Google Shape;134;p23">
            <a:extLst xmlns:a="http://schemas.openxmlformats.org/drawingml/2006/main">
              <a:ext uri="{FF2B5EF4-FFF2-40B4-BE49-F238E27FC236}">
                <a16:creationId xmlns:a16="http://schemas.microsoft.com/office/drawing/2014/main" id="{921BF148-881F-4A08-B3CE-11469ABD5894}"/>
              </a:ext>
            </a:extLst>
          </p:cNvPr>
          <p:cNvSpPr>
            <a:spLocks xmlns:a="http://schemas.openxmlformats.org/drawingml/2006/main" noGrp="1"/>
          </p:cNvSpPr>
          <p:nvPr/>
        </p:nvSpPr>
        <p:spPr>
          <a:xfrm xmlns:a="http://schemas.openxmlformats.org/drawingml/2006/main">
            <a:off x="-29250" y="5071875"/>
            <a:ext cx="9173400" cy="978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35" name="Google Shape;135;p23">
            <a:extLst xmlns:a="http://schemas.openxmlformats.org/drawingml/2006/main">
              <a:ext uri="{FF2B5EF4-FFF2-40B4-BE49-F238E27FC236}">
                <a16:creationId xmlns:a16="http://schemas.microsoft.com/office/drawing/2014/main" id="{51BB4503-7136-4DBF-9FEA-0B270367E5A3}"/>
              </a:ext>
            </a:extLst>
          </p:cNvPr>
          <p:cNvSpPr>
            <a:spLocks xmlns:a="http://schemas.openxmlformats.org/drawingml/2006/main" noGrp="1"/>
          </p:cNvSpPr>
          <p:nvPr/>
        </p:nvSpPr>
        <p:spPr>
          <a:xfrm xmlns:a="http://schemas.openxmlformats.org/drawingml/2006/main">
            <a:off x="265367" y="663797"/>
            <a:ext cx="85725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lgn="l">
              <a:defRPr sz="1600" b="1">
                <a:solidFill>
                  <a:srgbClr val="000000"/>
                </a:solidFill>
              </a:defRPr>
            </a:defPPr>
          </a:lstStyle>
          <a:p xmlns:a="http://schemas.openxmlformats.org/drawingml/2006/main">
            <a:pPr marL="0" lvl="0" indent="0" algn="l">
              <a:spcBef>
                <a:spcPts val="0"/>
              </a:spcBef>
              <a:spcAft>
                <a:spcPts val="0"/>
              </a:spcAft>
              <a:buNone/>
              <a:defRPr sz="1600" b="1">
                <a:solidFill>
                  <a:srgbClr val="000000"/>
                </a:solidFill>
              </a:defRPr>
            </a:pPr>
            <a:r>
              <a:rPr sz="1600" b="1">
                <a:solidFill>
                  <a:srgbClr val="000000"/>
                </a:solidFill>
                <a:latin typeface="Google Sans Flex Medium"/>
                <a:ea typeface="Google Sans Flex Medium"/>
                <a:cs typeface="Google Sans Flex Medium"/>
              </a:rPr>
              <a:t>Prototype snapshot</a:t>
            </a:r>
            <a:endParaRPr sz="1600">
              <a:latin typeface="Google Sans Flex Medium"/>
              <a:ea typeface="Google Sans Flex Medium"/>
              <a:cs typeface="Google Sans Flex Medium"/>
            </a:endParaRPr>
          </a:p>
        </p:txBody>
      </p:sp>
      <p:pic>
        <p:nvPicPr>
          <p:cNvPr id="136" name="">
            <a:extLst xmlns:a="http://schemas.openxmlformats.org/drawingml/2006/main">
              <a:ext uri="{FF2B5EF4-FFF2-40B4-BE49-F238E27FC236}">
                <a16:creationId xmlns:a16="http://schemas.microsoft.com/office/drawing/2014/main" id="{600BDF27-FC04-4390-9B92-89A81C5B6B31}"/>
              </a:ext>
            </a:extLst>
          </p:cNvPr>
          <p:cNvPicPr>
            <a:picLocks xmlns:a="http://schemas.openxmlformats.org/drawingml/2006/main" noChangeAspect="1"/>
          </p:cNvPicPr>
          <p:nvPr/>
        </p:nvPicPr>
        <p:blipFill>
          <a:blip xmlns:r="http://schemas.openxmlformats.org/officeDocument/2006/relationships" xmlns:a="http://schemas.openxmlformats.org/drawingml/2006/main" r:embed="Rc9aacae98acd40f6"/>
          <a:stretch xmlns:a="http://schemas.openxmlformats.org/drawingml/2006/main"/>
        </p:blipFill>
        <p:spPr>
          <a:xfrm xmlns:a="http://schemas.openxmlformats.org/drawingml/2006/main">
            <a:off x="1474690" y="1285875"/>
            <a:ext cx="6194621" cy="3190875"/>
          </a:xfrm>
          <a:prstGeom xmlns:a="http://schemas.openxmlformats.org/drawingml/2006/main" prst="roundRect">
            <a:avLst>
              <a:gd name="adj" fmla="val 3582"/>
            </a:avLst>
          </a:prstGeom>
        </p:spPr>
      </p:pic>
      <p:sp>
        <p:nvSpPr>
          <p:cNvPr id="137" name="">
            <a:extLst xmlns:a="http://schemas.openxmlformats.org/drawingml/2006/main">
              <a:ext uri="{FF2B5EF4-FFF2-40B4-BE49-F238E27FC236}">
                <a16:creationId xmlns:a16="http://schemas.microsoft.com/office/drawing/2014/main" id="{E5E8FD4B-B2D9-439A-8DF7-13E303EAD284}"/>
              </a:ext>
            </a:extLst>
          </p:cNvPr>
          <p:cNvSpPr>
            <a:spLocks xmlns:a="http://schemas.openxmlformats.org/drawingml/2006/main" noGrp="1"/>
          </p:cNvSpPr>
          <p:nvPr/>
        </p:nvSpPr>
        <p:spPr>
          <a:xfrm xmlns:a="http://schemas.openxmlformats.org/drawingml/2006/main">
            <a:off x="904875" y="45720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1">
                <a:solidFill>
                  <a:srgbClr val="3788E8"/>
                </a:solidFill>
              </a:defRPr>
            </a:defPPr>
          </a:lstStyle>
          <a:p xmlns:a="http://schemas.openxmlformats.org/drawingml/2006/main">
            <a:pPr algn="ctr">
              <a:defRPr sz="1050" b="1">
                <a:solidFill>
                  <a:srgbClr val="3788E8"/>
                </a:solidFill>
              </a:defRPr>
            </a:pPr>
            <a:r>
              <a:rPr sz="1050" b="1">
                <a:solidFill>
                  <a:srgbClr val="3788E8"/>
                </a:solidFill>
              </a:rPr>
              <a:t>Confirmed project brief</a:t>
            </a:r>
          </a:p>
        </p:txBody>
      </p:sp>
      <p:sp>
        <p:nvSpPr>
          <p:cNvPr id="138" name="">
            <a:extLst xmlns:a="http://schemas.openxmlformats.org/drawingml/2006/main">
              <a:ext uri="{FF2B5EF4-FFF2-40B4-BE49-F238E27FC236}">
                <a16:creationId xmlns:a16="http://schemas.microsoft.com/office/drawing/2014/main" id="{C6AF060E-4E4C-4681-9DBE-45E7882B3807}"/>
              </a:ext>
            </a:extLst>
          </p:cNvPr>
          <p:cNvSpPr>
            <a:spLocks xmlns:a="http://schemas.openxmlformats.org/drawingml/2006/main" noGrp="1"/>
          </p:cNvSpPr>
          <p:nvPr/>
        </p:nvSpPr>
        <p:spPr>
          <a:xfrm xmlns:a="http://schemas.openxmlformats.org/drawingml/2006/main">
            <a:off x="3524250" y="45720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1">
                <a:solidFill>
                  <a:srgbClr val="7041D9"/>
                </a:solidFill>
              </a:defRPr>
            </a:defPPr>
          </a:lstStyle>
          <a:p xmlns:a="http://schemas.openxmlformats.org/drawingml/2006/main">
            <a:pPr algn="ctr">
              <a:defRPr sz="1050" b="1">
                <a:solidFill>
                  <a:srgbClr val="7041D9"/>
                </a:solidFill>
              </a:defRPr>
            </a:pPr>
            <a:r>
              <a:rPr sz="1050" b="1">
                <a:solidFill>
                  <a:srgbClr val="7041D9"/>
                </a:solidFill>
              </a:rPr>
              <a:t>Inventory-backed matches</a:t>
            </a:r>
          </a:p>
        </p:txBody>
      </p:sp>
      <p:sp>
        <p:nvSpPr>
          <p:cNvPr id="139" name="">
            <a:extLst xmlns:a="http://schemas.openxmlformats.org/drawingml/2006/main">
              <a:ext uri="{FF2B5EF4-FFF2-40B4-BE49-F238E27FC236}">
                <a16:creationId xmlns:a16="http://schemas.microsoft.com/office/drawing/2014/main" id="{6A87E648-5B65-4BAF-B533-A5F9D96A6A2C}"/>
              </a:ext>
            </a:extLst>
          </p:cNvPr>
          <p:cNvSpPr>
            <a:spLocks xmlns:a="http://schemas.openxmlformats.org/drawingml/2006/main" noGrp="1"/>
          </p:cNvSpPr>
          <p:nvPr/>
        </p:nvSpPr>
        <p:spPr>
          <a:xfrm xmlns:a="http://schemas.openxmlformats.org/drawingml/2006/main">
            <a:off x="6191250" y="45720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1">
                <a:solidFill>
                  <a:srgbClr val="3788E8"/>
                </a:solidFill>
              </a:defRPr>
            </a:defPPr>
          </a:lstStyle>
          <a:p xmlns:a="http://schemas.openxmlformats.org/drawingml/2006/main">
            <a:pPr algn="ctr">
              <a:defRPr sz="1050" b="1">
                <a:solidFill>
                  <a:srgbClr val="3788E8"/>
                </a:solidFill>
              </a:defRPr>
            </a:pPr>
            <a:r>
              <a:rPr sz="1050" b="1">
                <a:solidFill>
                  <a:srgbClr val="3788E8"/>
                </a:solidFill>
              </a:rPr>
              <a:t>Saved-plan workflow</a:t>
            </a:r>
          </a:p>
        </p:txBody>
      </p:sp>
    </p:spTree>
    <p:extLst>
      <p:ext uri="{BB962C8B-B14F-4D97-AF65-F5344CB8AC3E}">
        <p14:creationId xmlns:p14="http://schemas.microsoft.com/office/powerpoint/2010/main" val="63386210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140" name="Google Shape;140;p24">
            <a:extLst xmlns:a="http://schemas.openxmlformats.org/drawingml/2006/main">
              <a:ext uri="{FF2B5EF4-FFF2-40B4-BE49-F238E27FC236}">
                <a16:creationId xmlns:a16="http://schemas.microsoft.com/office/drawing/2014/main" id="{2212AEB8-3175-425A-A349-0D2CA7192D6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a0bb9524e4d44d0">
            <a:alphaModFix/>
          </a:blip>
          <a:srcRect xmlns:a="http://schemas.openxmlformats.org/drawingml/2006/main" l="0" t="0" r="0" b="98001"/>
          <a:stretch xmlns:a="http://schemas.openxmlformats.org/drawingml/2006/main"/>
        </p:blipFill>
        <p:spPr>
          <a:xfrm xmlns:a="http://schemas.openxmlformats.org/drawingml/2006/main">
            <a:off x="0" y="5093562"/>
            <a:ext cx="9144000" cy="54275"/>
          </a:xfrm>
          <a:prstGeom xmlns:a="http://schemas.openxmlformats.org/drawingml/2006/main" prst="rect">
            <a:avLst/>
          </a:prstGeom>
          <a:ln xmlns:a="http://schemas.openxmlformats.org/drawingml/2006/main">
            <a:noFill/>
          </a:ln>
        </p:spPr>
      </p:pic>
      <p:pic>
        <p:nvPicPr>
          <p:cNvPr id="141" name="Google Shape;141;p24">
            <a:extLst xmlns:a="http://schemas.openxmlformats.org/drawingml/2006/main">
              <a:ext uri="{FF2B5EF4-FFF2-40B4-BE49-F238E27FC236}">
                <a16:creationId xmlns:a16="http://schemas.microsoft.com/office/drawing/2014/main" id="{0BFC1CB0-92C7-4796-BB2D-961FC8E48C35}"/>
              </a:ext>
            </a:extLst>
          </p:cNvPr>
          <p:cNvPicPr>
            <a:picLocks xmlns:a="http://schemas.openxmlformats.org/drawingml/2006/main" noChangeAspect="1"/>
          </p:cNvPicPr>
          <p:nvPr/>
        </p:nvPicPr>
        <p:blipFill>
          <a:blip xmlns:r="http://schemas.openxmlformats.org/officeDocument/2006/relationships" xmlns:a="http://schemas.openxmlformats.org/drawingml/2006/main" r:embed="Ra380e03b70364136">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42" name="Google Shape;142;p24">
            <a:extLst xmlns:a="http://schemas.openxmlformats.org/drawingml/2006/main">
              <a:ext uri="{FF2B5EF4-FFF2-40B4-BE49-F238E27FC236}">
                <a16:creationId xmlns:a16="http://schemas.microsoft.com/office/drawing/2014/main" id="{86658A14-E009-4936-8E7A-F457DF188F88}"/>
              </a:ext>
            </a:extLst>
          </p:cNvPr>
          <p:cNvSpPr>
            <a:spLocks xmlns:a="http://schemas.openxmlformats.org/drawingml/2006/main" noGrp="1"/>
          </p:cNvSpPr>
          <p:nvPr/>
        </p:nvSpPr>
        <p:spPr>
          <a:xfrm xmlns:a="http://schemas.openxmlformats.org/drawingml/2006/main">
            <a:off x="-29250" y="5071875"/>
            <a:ext cx="9173400" cy="978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3" name="Google Shape;143;p24">
            <a:extLst xmlns:a="http://schemas.openxmlformats.org/drawingml/2006/main">
              <a:ext uri="{FF2B5EF4-FFF2-40B4-BE49-F238E27FC236}">
                <a16:creationId xmlns:a16="http://schemas.microsoft.com/office/drawing/2014/main" id="{40324073-EDFB-41F6-B1C3-A081AC5FBDBF}"/>
              </a:ext>
            </a:extLst>
          </p:cNvPr>
          <p:cNvSpPr>
            <a:spLocks xmlns:a="http://schemas.openxmlformats.org/drawingml/2006/main" noGrp="1"/>
          </p:cNvSpPr>
          <p:nvPr/>
        </p:nvSpPr>
        <p:spPr>
          <a:xfrm xmlns:a="http://schemas.openxmlformats.org/drawingml/2006/main">
            <a:off x="265367" y="663797"/>
            <a:ext cx="85725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lgn="l">
              <a:defRPr sz="1600" b="1">
                <a:solidFill>
                  <a:srgbClr val="000000"/>
                </a:solidFill>
              </a:defRPr>
            </a:defPPr>
          </a:lstStyle>
          <a:p xmlns:a="http://schemas.openxmlformats.org/drawingml/2006/main">
            <a:pPr marL="0" lvl="0" indent="0" algn="l">
              <a:spcBef>
                <a:spcPts val="0"/>
              </a:spcBef>
              <a:spcAft>
                <a:spcPts val="0"/>
              </a:spcAft>
              <a:buNone/>
              <a:defRPr sz="1600" b="1">
                <a:solidFill>
                  <a:srgbClr val="000000"/>
                </a:solidFill>
              </a:defRPr>
            </a:pPr>
            <a:r>
              <a:rPr sz="1600" b="1">
                <a:solidFill>
                  <a:srgbClr val="000000"/>
                </a:solidFill>
                <a:latin typeface="Google Sans Flex Medium"/>
                <a:ea typeface="Google Sans Flex Medium"/>
                <a:cs typeface="Google Sans Flex Medium"/>
              </a:rPr>
              <a:t>Prototype checks and benchmarks</a:t>
            </a:r>
            <a:endParaRPr sz="1600">
              <a:latin typeface="Google Sans Flex Medium"/>
              <a:ea typeface="Google Sans Flex Medium"/>
              <a:cs typeface="Google Sans Flex Medium"/>
            </a:endParaRPr>
          </a:p>
        </p:txBody>
      </p:sp>
      <p:graphicFrame>
        <p:nvGraphicFramePr>
          <p:cNvPr id="144" name="">
            <a:extLst xmlns:a="http://schemas.openxmlformats.org/drawingml/2006/main">
              <a:ext uri="{FF2B5EF4-FFF2-40B4-BE49-F238E27FC236}">
                <a16:creationId xmlns:a16="http://schemas.microsoft.com/office/drawing/2014/main" id="{B4D05EB4-E5B8-4C03-A8D0-D00E4B860DC8}"/>
              </a:ext>
            </a:extLst>
          </p:cNvPr>
          <p:cNvGraphicFramePr/>
          <p:nvPr/>
        </p:nvGraphicFramePr>
        <p:xfrm>
          <a:off xmlns:a="http://schemas.openxmlformats.org/drawingml/2006/main" x="428625" y="1285875"/>
          <a:ext xmlns:a="http://schemas.openxmlformats.org/drawingml/2006/main" cx="8286750" cy="3190875"/>
        </p:xfrm>
        <a:graphic xmlns:a="http://schemas.openxmlformats.org/drawingml/2006/main">
          <a:graphicData uri="http://schemas.openxmlformats.org/drawingml/2006/table">
            <a:tbl>
              <a:tblPr/>
              <a:tblGrid>
                <a:gridCol w="2071688"/>
                <a:gridCol w="2071688"/>
                <a:gridCol w="2071688"/>
                <a:gridCol w="2071688"/>
              </a:tblGrid>
              <a:tr h="398859">
                <a:tc>
                  <a:txBody>
                    <a:bodyPr/>
                    <a:lstStyle/>
                    <a:p>
                      <a:r>
                        <a:rPr sz="1050" b="1">
                          <a:solidFill>
                            <a:srgbClr val="FFFFFF"/>
                          </a:solidFill>
                        </a:rPr>
                        <a:t>Check</a:t>
                      </a:r>
                    </a:p>
                  </a:txBody>
                  <a:tcPr marL="91440" marR="91440" marT="45720" marB="45720" anchor="ctr">
                    <a:lnL w="9525">
                      <a:solidFill>
                        <a:srgbClr val="D8DEE8"/>
                      </a:solidFill>
                      <a:prstDash val="solid"/>
                    </a:lnL>
                    <a:lnR w="9525">
                      <a:solidFill>
                        <a:srgbClr val="D8DEE8"/>
                      </a:solidFill>
                      <a:prstDash val="solid"/>
                    </a:lnR>
                    <a:lnT w="9525">
                      <a:solidFill>
                        <a:srgbClr val="D8DEE8"/>
                      </a:solidFill>
                      <a:prstDash val="solid"/>
                    </a:lnT>
                    <a:lnB w="9525">
                      <a:solidFill>
                        <a:srgbClr val="D8DEE8"/>
                      </a:solidFill>
                      <a:prstDash val="solid"/>
                    </a:lnB>
                    <a:solidFill>
                      <a:srgbClr val="111827"/>
                    </a:solidFill>
                  </a:tcPr>
                </a:tc>
                <a:tc>
                  <a:txBody>
                    <a:bodyPr/>
                    <a:lstStyle/>
                    <a:p>
                      <a:r>
                        <a:rPr sz="1050" b="1">
                          <a:solidFill>
                            <a:srgbClr val="FFFFFF"/>
                          </a:solidFill>
                        </a:rPr>
                        <a:t>Current result</a:t>
                      </a:r>
                    </a:p>
                  </a:txBody>
                  <a:tcPr marL="91440" marR="91440" marT="45720" marB="45720" anchor="ctr">
                    <a:lnR w="9525">
                      <a:solidFill>
                        <a:srgbClr val="D8DEE8"/>
                      </a:solidFill>
                      <a:prstDash val="solid"/>
                    </a:lnR>
                    <a:lnT w="9525">
                      <a:solidFill>
                        <a:srgbClr val="D8DEE8"/>
                      </a:solidFill>
                      <a:prstDash val="solid"/>
                    </a:lnT>
                    <a:lnB w="9525">
                      <a:solidFill>
                        <a:srgbClr val="D8DEE8"/>
                      </a:solidFill>
                      <a:prstDash val="solid"/>
                    </a:lnB>
                    <a:solidFill>
                      <a:srgbClr val="111827"/>
                    </a:solidFill>
                  </a:tcPr>
                </a:tc>
                <a:tc>
                  <a:txBody>
                    <a:bodyPr/>
                    <a:lstStyle/>
                    <a:p>
                      <a:r>
                        <a:rPr sz="1050" b="1">
                          <a:solidFill>
                            <a:srgbClr val="FFFFFF"/>
                          </a:solidFill>
                        </a:rPr>
                        <a:t>Next evidence</a:t>
                      </a:r>
                    </a:p>
                  </a:txBody>
                  <a:tcPr marL="91440" marR="91440" marT="45720" marB="45720" anchor="ctr">
                    <a:lnR w="9525">
                      <a:solidFill>
                        <a:srgbClr val="D8DEE8"/>
                      </a:solidFill>
                      <a:prstDash val="solid"/>
                    </a:lnR>
                    <a:lnT w="9525">
                      <a:solidFill>
                        <a:srgbClr val="D8DEE8"/>
                      </a:solidFill>
                      <a:prstDash val="solid"/>
                    </a:lnT>
                    <a:lnB w="9525">
                      <a:solidFill>
                        <a:srgbClr val="D8DEE8"/>
                      </a:solidFill>
                      <a:prstDash val="solid"/>
                    </a:lnB>
                    <a:solidFill>
                      <a:srgbClr val="111827"/>
                    </a:solidFill>
                  </a:tcPr>
                </a:tc>
                <a:tc>
                  <a:txBody>
                    <a:bodyPr/>
                    <a:lstStyle/>
                    <a:p>
                      <a:r>
                        <a:rPr sz="1050" b="1">
                          <a:solidFill>
                            <a:srgbClr val="FFFFFF"/>
                          </a:solidFill>
                        </a:rPr>
                        <a:t>Status</a:t>
                      </a:r>
                    </a:p>
                  </a:txBody>
                  <a:tcPr marL="91440" marR="91440" marT="45720" marB="45720" anchor="ctr">
                    <a:lnR w="9525">
                      <a:solidFill>
                        <a:srgbClr val="D8DEE8"/>
                      </a:solidFill>
                      <a:prstDash val="solid"/>
                    </a:lnR>
                    <a:lnT w="9525">
                      <a:solidFill>
                        <a:srgbClr val="D8DEE8"/>
                      </a:solidFill>
                      <a:prstDash val="solid"/>
                    </a:lnT>
                    <a:lnB w="9525">
                      <a:solidFill>
                        <a:srgbClr val="D8DEE8"/>
                      </a:solidFill>
                      <a:prstDash val="solid"/>
                    </a:lnB>
                    <a:solidFill>
                      <a:srgbClr val="111827"/>
                    </a:solidFill>
                  </a:tcPr>
                </a:tc>
              </a:tr>
              <a:tr h="398859">
                <a:tc>
                  <a:txBody>
                    <a:bodyPr/>
                    <a:lstStyle/>
                    <a:p>
                      <a:r>
                        <a:rPr sz="938">
                          <a:solidFill>
                            <a:srgbClr val="111827"/>
                          </a:solidFill>
                        </a:rPr>
                        <a:t>Production build</a:t>
                      </a:r>
                    </a:p>
                  </a:txBody>
                  <a:tcPr marL="91440" marR="91440" marT="45720" marB="45720" anchor="ctr">
                    <a:lnL w="9525">
                      <a:solidFill>
                        <a:srgbClr val="D8DEE8"/>
                      </a:solidFill>
                      <a:prstDash val="solid"/>
                    </a:lnL>
                    <a:lnR w="9525">
                      <a:solidFill>
                        <a:srgbClr val="D8DEE8"/>
                      </a:solidFill>
                      <a:prstDash val="solid"/>
                    </a:lnR>
                    <a:lnB w="9525">
                      <a:solidFill>
                        <a:srgbClr val="D8DEE8"/>
                      </a:solidFill>
                      <a:prstDash val="solid"/>
                    </a:lnB>
                  </a:tcPr>
                </a:tc>
                <a:tc>
                  <a:txBody>
                    <a:bodyPr/>
                    <a:lstStyle/>
                    <a:p>
                      <a:r>
                        <a:rPr sz="938">
                          <a:solidFill>
                            <a:srgbClr val="111827"/>
                          </a:solidFill>
                        </a:rPr>
                        <a:t>Pass</a:t>
                      </a:r>
                    </a:p>
                  </a:txBody>
                  <a:tcPr marL="91440" marR="91440" marT="45720" marB="45720" anchor="ctr">
                    <a:lnR w="9525">
                      <a:solidFill>
                        <a:srgbClr val="D8DEE8"/>
                      </a:solidFill>
                      <a:prstDash val="solid"/>
                    </a:lnR>
                    <a:lnB w="9525">
                      <a:solidFill>
                        <a:srgbClr val="D8DEE8"/>
                      </a:solidFill>
                      <a:prstDash val="solid"/>
                    </a:lnB>
                  </a:tcPr>
                </a:tc>
                <a:tc>
                  <a:txBody>
                    <a:bodyPr/>
                    <a:lstStyle/>
                    <a:p>
                      <a:r>
                        <a:rPr sz="938">
                          <a:solidFill>
                            <a:srgbClr val="111827"/>
                          </a:solidFill>
                        </a:rPr>
                        <a:t>Capture dated build output</a:t>
                      </a:r>
                    </a:p>
                  </a:txBody>
                  <a:tcPr marL="91440" marR="91440" marT="45720" marB="45720" anchor="ctr">
                    <a:lnR w="9525">
                      <a:solidFill>
                        <a:srgbClr val="D8DEE8"/>
                      </a:solidFill>
                      <a:prstDash val="solid"/>
                    </a:lnR>
                    <a:lnB w="9525">
                      <a:solidFill>
                        <a:srgbClr val="D8DEE8"/>
                      </a:solidFill>
                      <a:prstDash val="solid"/>
                    </a:lnB>
                  </a:tcPr>
                </a:tc>
                <a:tc>
                  <a:txBody>
                    <a:bodyPr/>
                    <a:lstStyle/>
                    <a:p>
                      <a:r>
                        <a:rPr sz="938" b="1">
                          <a:solidFill>
                            <a:srgbClr val="177245"/>
                          </a:solidFill>
                        </a:rPr>
                        <a:t>Verified</a:t>
                      </a:r>
                    </a:p>
                  </a:txBody>
                  <a:tcPr marL="91440" marR="91440" marT="45720" marB="45720" anchor="ctr">
                    <a:lnR w="9525">
                      <a:solidFill>
                        <a:srgbClr val="D8DEE8"/>
                      </a:solidFill>
                      <a:prstDash val="solid"/>
                    </a:lnR>
                    <a:lnB w="9525">
                      <a:solidFill>
                        <a:srgbClr val="D8DEE8"/>
                      </a:solidFill>
                      <a:prstDash val="solid"/>
                    </a:lnB>
                    <a:solidFill>
                      <a:srgbClr val="E7F6EC"/>
                    </a:solidFill>
                  </a:tcPr>
                </a:tc>
              </a:tr>
              <a:tr h="398859">
                <a:tc>
                  <a:txBody>
                    <a:bodyPr/>
                    <a:lstStyle/>
                    <a:p>
                      <a:r>
                        <a:rPr sz="938">
                          <a:solidFill>
                            <a:srgbClr val="111827"/>
                          </a:solidFill>
                        </a:rPr>
                        <a:t>Matching tests</a:t>
                      </a:r>
                    </a:p>
                  </a:txBody>
                  <a:tcPr marL="91440" marR="91440" marT="45720" marB="45720" anchor="ctr">
                    <a:lnL w="9525">
                      <a:solidFill>
                        <a:srgbClr val="D8DEE8"/>
                      </a:solidFill>
                      <a:prstDash val="solid"/>
                    </a:lnL>
                    <a:lnR w="9525">
                      <a:solidFill>
                        <a:srgbClr val="D8DEE8"/>
                      </a:solidFill>
                      <a:prstDash val="solid"/>
                    </a:lnR>
                    <a:lnB w="9525">
                      <a:solidFill>
                        <a:srgbClr val="D8DEE8"/>
                      </a:solidFill>
                      <a:prstDash val="solid"/>
                    </a:lnB>
                  </a:tcPr>
                </a:tc>
                <a:tc>
                  <a:txBody>
                    <a:bodyPr/>
                    <a:lstStyle/>
                    <a:p>
                      <a:r>
                        <a:rPr sz="938">
                          <a:solidFill>
                            <a:srgbClr val="111827"/>
                          </a:solidFill>
                        </a:rPr>
                        <a:t>6 of 6 pass</a:t>
                      </a:r>
                    </a:p>
                  </a:txBody>
                  <a:tcPr marL="91440" marR="91440" marT="45720" marB="45720" anchor="ctr">
                    <a:lnR w="9525">
                      <a:solidFill>
                        <a:srgbClr val="D8DEE8"/>
                      </a:solidFill>
                      <a:prstDash val="solid"/>
                    </a:lnR>
                    <a:lnB w="9525">
                      <a:solidFill>
                        <a:srgbClr val="D8DEE8"/>
                      </a:solidFill>
                      <a:prstDash val="solid"/>
                    </a:lnB>
                  </a:tcPr>
                </a:tc>
                <a:tc>
                  <a:txBody>
                    <a:bodyPr/>
                    <a:lstStyle/>
                    <a:p>
                      <a:r>
                        <a:rPr sz="938">
                          <a:solidFill>
                            <a:srgbClr val="111827"/>
                          </a:solidFill>
                        </a:rPr>
                        <a:t>Retain test output</a:t>
                      </a:r>
                    </a:p>
                  </a:txBody>
                  <a:tcPr marL="91440" marR="91440" marT="45720" marB="45720" anchor="ctr">
                    <a:lnR w="9525">
                      <a:solidFill>
                        <a:srgbClr val="D8DEE8"/>
                      </a:solidFill>
                      <a:prstDash val="solid"/>
                    </a:lnR>
                    <a:lnB w="9525">
                      <a:solidFill>
                        <a:srgbClr val="D8DEE8"/>
                      </a:solidFill>
                      <a:prstDash val="solid"/>
                    </a:lnB>
                  </a:tcPr>
                </a:tc>
                <a:tc>
                  <a:txBody>
                    <a:bodyPr/>
                    <a:lstStyle/>
                    <a:p>
                      <a:r>
                        <a:rPr sz="938" b="1">
                          <a:solidFill>
                            <a:srgbClr val="177245"/>
                          </a:solidFill>
                        </a:rPr>
                        <a:t>Verified</a:t>
                      </a:r>
                    </a:p>
                  </a:txBody>
                  <a:tcPr marL="91440" marR="91440" marT="45720" marB="45720" anchor="ctr">
                    <a:lnR w="9525">
                      <a:solidFill>
                        <a:srgbClr val="D8DEE8"/>
                      </a:solidFill>
                      <a:prstDash val="solid"/>
                    </a:lnR>
                    <a:lnB w="9525">
                      <a:solidFill>
                        <a:srgbClr val="D8DEE8"/>
                      </a:solidFill>
                      <a:prstDash val="solid"/>
                    </a:lnB>
                    <a:solidFill>
                      <a:srgbClr val="E7F6EC"/>
                    </a:solidFill>
                  </a:tcPr>
                </a:tc>
              </a:tr>
              <a:tr h="398859">
                <a:tc>
                  <a:txBody>
                    <a:bodyPr/>
                    <a:lstStyle/>
                    <a:p>
                      <a:r>
                        <a:rPr sz="938">
                          <a:solidFill>
                            <a:srgbClr val="111827"/>
                          </a:solidFill>
                        </a:rPr>
                        <a:t>Owner + finder journeys</a:t>
                      </a:r>
                    </a:p>
                  </a:txBody>
                  <a:tcPr marL="91440" marR="91440" marT="45720" marB="45720" anchor="ctr">
                    <a:lnL w="9525">
                      <a:solidFill>
                        <a:srgbClr val="D8DEE8"/>
                      </a:solidFill>
                      <a:prstDash val="solid"/>
                    </a:lnL>
                    <a:lnR w="9525">
                      <a:solidFill>
                        <a:srgbClr val="D8DEE8"/>
                      </a:solidFill>
                      <a:prstDash val="solid"/>
                    </a:lnR>
                    <a:lnB w="9525">
                      <a:solidFill>
                        <a:srgbClr val="D8DEE8"/>
                      </a:solidFill>
                      <a:prstDash val="solid"/>
                    </a:lnB>
                  </a:tcPr>
                </a:tc>
                <a:tc>
                  <a:txBody>
                    <a:bodyPr/>
                    <a:lstStyle/>
                    <a:p>
                      <a:r>
                        <a:rPr sz="938">
                          <a:solidFill>
                            <a:srgbClr val="111827"/>
                          </a:solidFill>
                        </a:rPr>
                        <a:t>Browser checked</a:t>
                      </a:r>
                    </a:p>
                  </a:txBody>
                  <a:tcPr marL="91440" marR="91440" marT="45720" marB="45720" anchor="ctr">
                    <a:lnR w="9525">
                      <a:solidFill>
                        <a:srgbClr val="D8DEE8"/>
                      </a:solidFill>
                      <a:prstDash val="solid"/>
                    </a:lnR>
                    <a:lnB w="9525">
                      <a:solidFill>
                        <a:srgbClr val="D8DEE8"/>
                      </a:solidFill>
                      <a:prstDash val="solid"/>
                    </a:lnB>
                  </a:tcPr>
                </a:tc>
                <a:tc>
                  <a:txBody>
                    <a:bodyPr/>
                    <a:lstStyle/>
                    <a:p>
                      <a:r>
                        <a:rPr sz="938">
                          <a:solidFill>
                            <a:srgbClr val="111827"/>
                          </a:solidFill>
                        </a:rPr>
                        <a:t>Record full flows</a:t>
                      </a:r>
                    </a:p>
                  </a:txBody>
                  <a:tcPr marL="91440" marR="91440" marT="45720" marB="45720" anchor="ctr">
                    <a:lnR w="9525">
                      <a:solidFill>
                        <a:srgbClr val="D8DEE8"/>
                      </a:solidFill>
                      <a:prstDash val="solid"/>
                    </a:lnR>
                    <a:lnB w="9525">
                      <a:solidFill>
                        <a:srgbClr val="D8DEE8"/>
                      </a:solidFill>
                      <a:prstDash val="solid"/>
                    </a:lnB>
                  </a:tcPr>
                </a:tc>
                <a:tc>
                  <a:txBody>
                    <a:bodyPr/>
                    <a:lstStyle/>
                    <a:p>
                      <a:r>
                        <a:rPr sz="938" b="1">
                          <a:solidFill>
                            <a:srgbClr val="177245"/>
                          </a:solidFill>
                        </a:rPr>
                        <a:t>Verified</a:t>
                      </a:r>
                    </a:p>
                  </a:txBody>
                  <a:tcPr marL="91440" marR="91440" marT="45720" marB="45720" anchor="ctr">
                    <a:lnR w="9525">
                      <a:solidFill>
                        <a:srgbClr val="D8DEE8"/>
                      </a:solidFill>
                      <a:prstDash val="solid"/>
                    </a:lnR>
                    <a:lnB w="9525">
                      <a:solidFill>
                        <a:srgbClr val="D8DEE8"/>
                      </a:solidFill>
                      <a:prstDash val="solid"/>
                    </a:lnB>
                    <a:solidFill>
                      <a:srgbClr val="E7F6EC"/>
                    </a:solidFill>
                  </a:tcPr>
                </a:tc>
              </a:tr>
              <a:tr h="398859">
                <a:tc>
                  <a:txBody>
                    <a:bodyPr/>
                    <a:lstStyle/>
                    <a:p>
                      <a:r>
                        <a:rPr sz="938">
                          <a:solidFill>
                            <a:srgbClr val="111827"/>
                          </a:solidFill>
                        </a:rPr>
                        <a:t>Desktop + 390 px mobile</a:t>
                      </a:r>
                    </a:p>
                  </a:txBody>
                  <a:tcPr marL="91440" marR="91440" marT="45720" marB="45720" anchor="ctr">
                    <a:lnL w="9525">
                      <a:solidFill>
                        <a:srgbClr val="D8DEE8"/>
                      </a:solidFill>
                      <a:prstDash val="solid"/>
                    </a:lnL>
                    <a:lnR w="9525">
                      <a:solidFill>
                        <a:srgbClr val="D8DEE8"/>
                      </a:solidFill>
                      <a:prstDash val="solid"/>
                    </a:lnR>
                    <a:lnB w="9525">
                      <a:solidFill>
                        <a:srgbClr val="D8DEE8"/>
                      </a:solidFill>
                      <a:prstDash val="solid"/>
                    </a:lnB>
                  </a:tcPr>
                </a:tc>
                <a:tc>
                  <a:txBody>
                    <a:bodyPr/>
                    <a:lstStyle/>
                    <a:p>
                      <a:r>
                        <a:rPr sz="938">
                          <a:solidFill>
                            <a:srgbClr val="111827"/>
                          </a:solidFill>
                        </a:rPr>
                        <a:t>Visually inspected</a:t>
                      </a:r>
                    </a:p>
                  </a:txBody>
                  <a:tcPr marL="91440" marR="91440" marT="45720" marB="45720" anchor="ctr">
                    <a:lnR w="9525">
                      <a:solidFill>
                        <a:srgbClr val="D8DEE8"/>
                      </a:solidFill>
                      <a:prstDash val="solid"/>
                    </a:lnR>
                    <a:lnB w="9525">
                      <a:solidFill>
                        <a:srgbClr val="D8DEE8"/>
                      </a:solidFill>
                      <a:prstDash val="solid"/>
                    </a:lnB>
                  </a:tcPr>
                </a:tc>
                <a:tc>
                  <a:txBody>
                    <a:bodyPr/>
                    <a:lstStyle/>
                    <a:p>
                      <a:r>
                        <a:rPr sz="938">
                          <a:solidFill>
                            <a:srgbClr val="111827"/>
                          </a:solidFill>
                        </a:rPr>
                        <a:t>Capture final deployed views</a:t>
                      </a:r>
                    </a:p>
                  </a:txBody>
                  <a:tcPr marL="91440" marR="91440" marT="45720" marB="45720" anchor="ctr">
                    <a:lnR w="9525">
                      <a:solidFill>
                        <a:srgbClr val="D8DEE8"/>
                      </a:solidFill>
                      <a:prstDash val="solid"/>
                    </a:lnR>
                    <a:lnB w="9525">
                      <a:solidFill>
                        <a:srgbClr val="D8DEE8"/>
                      </a:solidFill>
                      <a:prstDash val="solid"/>
                    </a:lnB>
                  </a:tcPr>
                </a:tc>
                <a:tc>
                  <a:txBody>
                    <a:bodyPr/>
                    <a:lstStyle/>
                    <a:p>
                      <a:r>
                        <a:rPr sz="938" b="1">
                          <a:solidFill>
                            <a:srgbClr val="177245"/>
                          </a:solidFill>
                        </a:rPr>
                        <a:t>Verified</a:t>
                      </a:r>
                    </a:p>
                  </a:txBody>
                  <a:tcPr marL="91440" marR="91440" marT="45720" marB="45720" anchor="ctr">
                    <a:lnR w="9525">
                      <a:solidFill>
                        <a:srgbClr val="D8DEE8"/>
                      </a:solidFill>
                      <a:prstDash val="solid"/>
                    </a:lnR>
                    <a:lnB w="9525">
                      <a:solidFill>
                        <a:srgbClr val="D8DEE8"/>
                      </a:solidFill>
                      <a:prstDash val="solid"/>
                    </a:lnB>
                    <a:solidFill>
                      <a:srgbClr val="E7F6EC"/>
                    </a:solidFill>
                  </a:tcPr>
                </a:tc>
              </a:tr>
              <a:tr h="398859">
                <a:tc>
                  <a:txBody>
                    <a:bodyPr/>
                    <a:lstStyle/>
                    <a:p>
                      <a:r>
                        <a:rPr sz="938">
                          <a:solidFill>
                            <a:srgbClr val="111827"/>
                          </a:solidFill>
                        </a:rPr>
                        <a:t>Giveaway completion</a:t>
                      </a:r>
                    </a:p>
                  </a:txBody>
                  <a:tcPr marL="91440" marR="91440" marT="45720" marB="45720" anchor="ctr">
                    <a:lnL w="9525">
                      <a:solidFill>
                        <a:srgbClr val="D8DEE8"/>
                      </a:solidFill>
                      <a:prstDash val="solid"/>
                    </a:lnL>
                    <a:lnR w="9525">
                      <a:solidFill>
                        <a:srgbClr val="D8DEE8"/>
                      </a:solidFill>
                      <a:prstDash val="solid"/>
                    </a:lnR>
                    <a:lnB w="9525">
                      <a:solidFill>
                        <a:srgbClr val="D8DEE8"/>
                      </a:solidFill>
                      <a:prstDash val="solid"/>
                    </a:lnB>
                  </a:tcPr>
                </a:tc>
                <a:tc>
                  <a:txBody>
                    <a:bodyPr/>
                    <a:lstStyle/>
                    <a:p>
                      <a:r>
                        <a:rPr sz="938">
                          <a:solidFill>
                            <a:srgbClr val="111827"/>
                          </a:solidFill>
                        </a:rPr>
                        <a:t>Not measured</a:t>
                      </a:r>
                    </a:p>
                  </a:txBody>
                  <a:tcPr marL="91440" marR="91440" marT="45720" marB="45720" anchor="ctr">
                    <a:lnR w="9525">
                      <a:solidFill>
                        <a:srgbClr val="D8DEE8"/>
                      </a:solidFill>
                      <a:prstDash val="solid"/>
                    </a:lnR>
                    <a:lnB w="9525">
                      <a:solidFill>
                        <a:srgbClr val="D8DEE8"/>
                      </a:solidFill>
                      <a:prstDash val="solid"/>
                    </a:lnB>
                  </a:tcPr>
                </a:tc>
                <a:tc>
                  <a:txBody>
                    <a:bodyPr/>
                    <a:lstStyle/>
                    <a:p>
                      <a:r>
                        <a:rPr sz="938">
                          <a:solidFill>
                            <a:srgbClr val="111827"/>
                          </a:solidFill>
                        </a:rPr>
                        <a:t>Track listing to confirmed recipient</a:t>
                      </a:r>
                    </a:p>
                  </a:txBody>
                  <a:tcPr marL="91440" marR="91440" marT="45720" marB="45720" anchor="ctr">
                    <a:lnR w="9525">
                      <a:solidFill>
                        <a:srgbClr val="D8DEE8"/>
                      </a:solidFill>
                      <a:prstDash val="solid"/>
                    </a:lnR>
                    <a:lnB w="9525">
                      <a:solidFill>
                        <a:srgbClr val="D8DEE8"/>
                      </a:solidFill>
                      <a:prstDash val="solid"/>
                    </a:lnB>
                  </a:tcPr>
                </a:tc>
                <a:tc>
                  <a:txBody>
                    <a:bodyPr/>
                    <a:lstStyle/>
                    <a:p>
                      <a:r>
                        <a:rPr sz="938" b="1">
                          <a:solidFill>
                            <a:srgbClr val="9A6700"/>
                          </a:solidFill>
                        </a:rPr>
                        <a:t>Required</a:t>
                      </a:r>
                    </a:p>
                  </a:txBody>
                  <a:tcPr marL="91440" marR="91440" marT="45720" marB="45720" anchor="ctr">
                    <a:lnR w="9525">
                      <a:solidFill>
                        <a:srgbClr val="D8DEE8"/>
                      </a:solidFill>
                      <a:prstDash val="solid"/>
                    </a:lnR>
                    <a:lnB w="9525">
                      <a:solidFill>
                        <a:srgbClr val="D8DEE8"/>
                      </a:solidFill>
                      <a:prstDash val="solid"/>
                    </a:lnB>
                    <a:solidFill>
                      <a:srgbClr val="FFF4CE"/>
                    </a:solidFill>
                  </a:tcPr>
                </a:tc>
              </a:tr>
              <a:tr h="398859">
                <a:tc>
                  <a:txBody>
                    <a:bodyPr/>
                    <a:lstStyle/>
                    <a:p>
                      <a:r>
                        <a:rPr sz="938">
                          <a:solidFill>
                            <a:srgbClr val="111827"/>
                          </a:solidFill>
                        </a:rPr>
                        <a:t>Reward issuance</a:t>
                      </a:r>
                    </a:p>
                  </a:txBody>
                  <a:tcPr marL="91440" marR="91440" marT="45720" marB="45720" anchor="ctr">
                    <a:lnL w="9525">
                      <a:solidFill>
                        <a:srgbClr val="D8DEE8"/>
                      </a:solidFill>
                      <a:prstDash val="solid"/>
                    </a:lnL>
                    <a:lnR w="9525">
                      <a:solidFill>
                        <a:srgbClr val="D8DEE8"/>
                      </a:solidFill>
                      <a:prstDash val="solid"/>
                    </a:lnR>
                    <a:lnB w="9525">
                      <a:solidFill>
                        <a:srgbClr val="D8DEE8"/>
                      </a:solidFill>
                      <a:prstDash val="solid"/>
                    </a:lnB>
                  </a:tcPr>
                </a:tc>
                <a:tc>
                  <a:txBody>
                    <a:bodyPr/>
                    <a:lstStyle/>
                    <a:p>
                      <a:r>
                        <a:rPr sz="938">
                          <a:solidFill>
                            <a:srgbClr val="111827"/>
                          </a:solidFill>
                        </a:rPr>
                        <a:t>Not measured</a:t>
                      </a:r>
                    </a:p>
                  </a:txBody>
                  <a:tcPr marL="91440" marR="91440" marT="45720" marB="45720" anchor="ctr">
                    <a:lnR w="9525">
                      <a:solidFill>
                        <a:srgbClr val="D8DEE8"/>
                      </a:solidFill>
                      <a:prstDash val="solid"/>
                    </a:lnR>
                    <a:lnB w="9525">
                      <a:solidFill>
                        <a:srgbClr val="D8DEE8"/>
                      </a:solidFill>
                      <a:prstDash val="solid"/>
                    </a:lnB>
                  </a:tcPr>
                </a:tc>
                <a:tc>
                  <a:txBody>
                    <a:bodyPr/>
                    <a:lstStyle/>
                    <a:p>
                      <a:r>
                        <a:rPr sz="938">
                          <a:solidFill>
                            <a:srgbClr val="111827"/>
                          </a:solidFill>
                        </a:rPr>
                        <a:t>Verify reward after completed handoff</a:t>
                      </a:r>
                    </a:p>
                  </a:txBody>
                  <a:tcPr marL="91440" marR="91440" marT="45720" marB="45720" anchor="ctr">
                    <a:lnR w="9525">
                      <a:solidFill>
                        <a:srgbClr val="D8DEE8"/>
                      </a:solidFill>
                      <a:prstDash val="solid"/>
                    </a:lnR>
                    <a:lnB w="9525">
                      <a:solidFill>
                        <a:srgbClr val="D8DEE8"/>
                      </a:solidFill>
                      <a:prstDash val="solid"/>
                    </a:lnB>
                  </a:tcPr>
                </a:tc>
                <a:tc>
                  <a:txBody>
                    <a:bodyPr/>
                    <a:lstStyle/>
                    <a:p>
                      <a:r>
                        <a:rPr sz="938" b="1">
                          <a:solidFill>
                            <a:srgbClr val="9A6700"/>
                          </a:solidFill>
                        </a:rPr>
                        <a:t>Required</a:t>
                      </a:r>
                    </a:p>
                  </a:txBody>
                  <a:tcPr marL="91440" marR="91440" marT="45720" marB="45720" anchor="ctr">
                    <a:lnR w="9525">
                      <a:solidFill>
                        <a:srgbClr val="D8DEE8"/>
                      </a:solidFill>
                      <a:prstDash val="solid"/>
                    </a:lnR>
                    <a:lnB w="9525">
                      <a:solidFill>
                        <a:srgbClr val="D8DEE8"/>
                      </a:solidFill>
                      <a:prstDash val="solid"/>
                    </a:lnB>
                    <a:solidFill>
                      <a:srgbClr val="FFF4CE"/>
                    </a:solidFill>
                  </a:tcPr>
                </a:tc>
              </a:tr>
              <a:tr h="398859">
                <a:tc>
                  <a:txBody>
                    <a:bodyPr/>
                    <a:lstStyle/>
                    <a:p>
                      <a:r>
                        <a:rPr sz="938">
                          <a:solidFill>
                            <a:srgbClr val="111827"/>
                          </a:solidFill>
                        </a:rPr>
                        <a:t>Delivery tracking</a:t>
                      </a:r>
                    </a:p>
                  </a:txBody>
                  <a:tcPr marL="91440" marR="91440" marT="45720" marB="45720" anchor="ctr">
                    <a:lnL w="9525">
                      <a:solidFill>
                        <a:srgbClr val="D8DEE8"/>
                      </a:solidFill>
                      <a:prstDash val="solid"/>
                    </a:lnL>
                    <a:lnR w="9525">
                      <a:solidFill>
                        <a:srgbClr val="D8DEE8"/>
                      </a:solidFill>
                      <a:prstDash val="solid"/>
                    </a:lnR>
                    <a:lnB w="9525">
                      <a:solidFill>
                        <a:srgbClr val="D8DEE8"/>
                      </a:solidFill>
                      <a:prstDash val="solid"/>
                    </a:lnB>
                  </a:tcPr>
                </a:tc>
                <a:tc>
                  <a:txBody>
                    <a:bodyPr/>
                    <a:lstStyle/>
                    <a:p>
                      <a:r>
                        <a:rPr sz="938">
                          <a:solidFill>
                            <a:srgbClr val="111827"/>
                          </a:solidFill>
                        </a:rPr>
                        <a:t>Partner integration pending</a:t>
                      </a:r>
                    </a:p>
                  </a:txBody>
                  <a:tcPr marL="91440" marR="91440" marT="45720" marB="45720" anchor="ctr">
                    <a:lnR w="9525">
                      <a:solidFill>
                        <a:srgbClr val="D8DEE8"/>
                      </a:solidFill>
                      <a:prstDash val="solid"/>
                    </a:lnR>
                    <a:lnB w="9525">
                      <a:solidFill>
                        <a:srgbClr val="D8DEE8"/>
                      </a:solidFill>
                      <a:prstDash val="solid"/>
                    </a:lnB>
                  </a:tcPr>
                </a:tc>
                <a:tc>
                  <a:txBody>
                    <a:bodyPr/>
                    <a:lstStyle/>
                    <a:p>
                      <a:r>
                        <a:rPr sz="938">
                          <a:solidFill>
                            <a:srgbClr val="111827"/>
                          </a:solidFill>
                        </a:rPr>
                        <a:t>Track accepted resource to receipt</a:t>
                      </a:r>
                    </a:p>
                  </a:txBody>
                  <a:tcPr marL="91440" marR="91440" marT="45720" marB="45720" anchor="ctr">
                    <a:lnR w="9525">
                      <a:solidFill>
                        <a:srgbClr val="D8DEE8"/>
                      </a:solidFill>
                      <a:prstDash val="solid"/>
                    </a:lnR>
                    <a:lnB w="9525">
                      <a:solidFill>
                        <a:srgbClr val="D8DEE8"/>
                      </a:solidFill>
                      <a:prstDash val="solid"/>
                    </a:lnB>
                  </a:tcPr>
                </a:tc>
                <a:tc>
                  <a:txBody>
                    <a:bodyPr/>
                    <a:lstStyle/>
                    <a:p>
                      <a:r>
                        <a:rPr sz="938" b="1">
                          <a:solidFill>
                            <a:srgbClr val="9A6700"/>
                          </a:solidFill>
                        </a:rPr>
                        <a:t>Required</a:t>
                      </a:r>
                    </a:p>
                  </a:txBody>
                  <a:tcPr marL="91440" marR="91440" marT="45720" marB="45720" anchor="ctr">
                    <a:lnR w="9525">
                      <a:solidFill>
                        <a:srgbClr val="D8DEE8"/>
                      </a:solidFill>
                      <a:prstDash val="solid"/>
                    </a:lnR>
                    <a:lnB w="9525">
                      <a:solidFill>
                        <a:srgbClr val="D8DEE8"/>
                      </a:solidFill>
                      <a:prstDash val="solid"/>
                    </a:lnB>
                    <a:solidFill>
                      <a:srgbClr val="FFF4CE"/>
                    </a:solidFill>
                  </a:tcPr>
                </a:tc>
              </a:tr>
            </a:tbl>
          </a:graphicData>
        </a:graphic>
      </p:graphicFrame>
      <p:sp>
        <p:nvSpPr>
          <p:cNvPr id="145" name="">
            <a:extLst xmlns:a="http://schemas.openxmlformats.org/drawingml/2006/main">
              <a:ext uri="{FF2B5EF4-FFF2-40B4-BE49-F238E27FC236}">
                <a16:creationId xmlns:a16="http://schemas.microsoft.com/office/drawing/2014/main" id="{259E1610-D658-4BB9-B626-366B0C1A8D06}"/>
              </a:ext>
            </a:extLst>
          </p:cNvPr>
          <p:cNvSpPr>
            <a:spLocks xmlns:a="http://schemas.openxmlformats.org/drawingml/2006/main" noGrp="1"/>
          </p:cNvSpPr>
          <p:nvPr/>
        </p:nvSpPr>
        <p:spPr>
          <a:xfrm xmlns:a="http://schemas.openxmlformats.org/drawingml/2006/main">
            <a:off x="952500" y="4619625"/>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1">
                <a:solidFill>
                  <a:srgbClr val="586273"/>
                </a:solidFill>
              </a:defRPr>
            </a:defPPr>
          </a:lstStyle>
          <a:p xmlns:a="http://schemas.openxmlformats.org/drawingml/2006/main">
            <a:pPr algn="ctr">
              <a:defRPr sz="1050" b="1">
                <a:solidFill>
                  <a:srgbClr val="586273"/>
                </a:solidFill>
              </a:defRPr>
            </a:pPr>
            <a:r>
              <a:rPr sz="1050" b="1">
                <a:solidFill>
                  <a:srgbClr val="586273"/>
                </a:solidFill>
              </a:rPr>
              <a:t>Targets never appear as measured results. The final deck should use dated evidence from the deployed build.</a:t>
            </a:r>
          </a:p>
        </p:txBody>
      </p:sp>
    </p:spTree>
    <p:extLst>
      <p:ext uri="{BB962C8B-B14F-4D97-AF65-F5344CB8AC3E}">
        <p14:creationId xmlns:p14="http://schemas.microsoft.com/office/powerpoint/2010/main" val="177740876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148" name="Google Shape;148;p25">
            <a:extLst xmlns:a="http://schemas.openxmlformats.org/drawingml/2006/main">
              <a:ext uri="{FF2B5EF4-FFF2-40B4-BE49-F238E27FC236}">
                <a16:creationId xmlns:a16="http://schemas.microsoft.com/office/drawing/2014/main" id="{AAE85F45-B116-425C-B0E8-10FD4869CA6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d75eae26c664e19">
            <a:alphaModFix/>
          </a:blip>
          <a:srcRect xmlns:a="http://schemas.openxmlformats.org/drawingml/2006/main" l="0" t="0" r="0" b="98001"/>
          <a:stretch xmlns:a="http://schemas.openxmlformats.org/drawingml/2006/main"/>
        </p:blipFill>
        <p:spPr>
          <a:xfrm xmlns:a="http://schemas.openxmlformats.org/drawingml/2006/main">
            <a:off x="0" y="5093562"/>
            <a:ext cx="9144000" cy="54275"/>
          </a:xfrm>
          <a:prstGeom xmlns:a="http://schemas.openxmlformats.org/drawingml/2006/main" prst="rect">
            <a:avLst/>
          </a:prstGeom>
          <a:ln xmlns:a="http://schemas.openxmlformats.org/drawingml/2006/main">
            <a:noFill/>
          </a:ln>
        </p:spPr>
      </p:pic>
      <p:pic>
        <p:nvPicPr>
          <p:cNvPr id="149" name="Google Shape;149;p25">
            <a:extLst xmlns:a="http://schemas.openxmlformats.org/drawingml/2006/main">
              <a:ext uri="{FF2B5EF4-FFF2-40B4-BE49-F238E27FC236}">
                <a16:creationId xmlns:a16="http://schemas.microsoft.com/office/drawing/2014/main" id="{8F050DA9-52DE-40CC-A946-F98CE94DED04}"/>
              </a:ext>
            </a:extLst>
          </p:cNvPr>
          <p:cNvPicPr>
            <a:picLocks xmlns:a="http://schemas.openxmlformats.org/drawingml/2006/main" noChangeAspect="1"/>
          </p:cNvPicPr>
          <p:nvPr/>
        </p:nvPicPr>
        <p:blipFill>
          <a:blip xmlns:r="http://schemas.openxmlformats.org/officeDocument/2006/relationships" xmlns:a="http://schemas.openxmlformats.org/drawingml/2006/main" r:embed="R4c37c4e21eb2432e">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50" name="Google Shape;150;p25">
            <a:extLst xmlns:a="http://schemas.openxmlformats.org/drawingml/2006/main">
              <a:ext uri="{FF2B5EF4-FFF2-40B4-BE49-F238E27FC236}">
                <a16:creationId xmlns:a16="http://schemas.microsoft.com/office/drawing/2014/main" id="{461F4C19-6DCE-40AE-B5F3-B01C7950BA6E}"/>
              </a:ext>
            </a:extLst>
          </p:cNvPr>
          <p:cNvSpPr>
            <a:spLocks xmlns:a="http://schemas.openxmlformats.org/drawingml/2006/main" noGrp="1"/>
          </p:cNvSpPr>
          <p:nvPr/>
        </p:nvSpPr>
        <p:spPr>
          <a:xfrm xmlns:a="http://schemas.openxmlformats.org/drawingml/2006/main">
            <a:off x="-29250" y="5071875"/>
            <a:ext cx="9173400" cy="978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1" name="Google Shape;151;p25">
            <a:extLst xmlns:a="http://schemas.openxmlformats.org/drawingml/2006/main">
              <a:ext uri="{FF2B5EF4-FFF2-40B4-BE49-F238E27FC236}">
                <a16:creationId xmlns:a16="http://schemas.microsoft.com/office/drawing/2014/main" id="{23418098-8EA4-42D5-8936-498B15817105}"/>
              </a:ext>
            </a:extLst>
          </p:cNvPr>
          <p:cNvSpPr>
            <a:spLocks xmlns:a="http://schemas.openxmlformats.org/drawingml/2006/main" noGrp="1"/>
          </p:cNvSpPr>
          <p:nvPr/>
        </p:nvSpPr>
        <p:spPr>
          <a:xfrm xmlns:a="http://schemas.openxmlformats.org/drawingml/2006/main">
            <a:off x="265367" y="663797"/>
            <a:ext cx="85725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lgn="l">
              <a:defRPr sz="1600" b="1">
                <a:solidFill>
                  <a:srgbClr val="000000"/>
                </a:solidFill>
              </a:defRPr>
            </a:defPPr>
          </a:lstStyle>
          <a:p xmlns:a="http://schemas.openxmlformats.org/drawingml/2006/main">
            <a:pPr marL="0" lvl="0" indent="0" algn="l">
              <a:spcBef>
                <a:spcPts val="0"/>
              </a:spcBef>
              <a:spcAft>
                <a:spcPts val="0"/>
              </a:spcAft>
              <a:buNone/>
              <a:defRPr sz="1600" b="1">
                <a:solidFill>
                  <a:srgbClr val="000000"/>
                </a:solidFill>
              </a:defRPr>
            </a:pPr>
            <a:r>
              <a:rPr sz="1600" b="1">
                <a:solidFill>
                  <a:srgbClr val="000000"/>
                </a:solidFill>
                <a:latin typeface="Google Sans Flex Medium"/>
                <a:ea typeface="Google Sans Flex Medium"/>
                <a:cs typeface="Google Sans Flex Medium"/>
              </a:rPr>
              <a:t>Development roadmap</a:t>
            </a:r>
            <a:endParaRPr sz="1600">
              <a:latin typeface="Google Sans Flex Medium"/>
              <a:ea typeface="Google Sans Flex Medium"/>
              <a:cs typeface="Google Sans Flex Medium"/>
            </a:endParaRPr>
          </a:p>
        </p:txBody>
      </p:sp>
      <p:sp>
        <p:nvSpPr>
          <p:cNvPr id="152" name="">
            <a:extLst xmlns:a="http://schemas.openxmlformats.org/drawingml/2006/main">
              <a:ext uri="{FF2B5EF4-FFF2-40B4-BE49-F238E27FC236}">
                <a16:creationId xmlns:a16="http://schemas.microsoft.com/office/drawing/2014/main" id="{B432AAA4-2D0E-4D94-B022-031874A8CDB0}"/>
              </a:ext>
            </a:extLst>
          </p:cNvPr>
          <p:cNvSpPr>
            <a:spLocks xmlns:a="http://schemas.openxmlformats.org/drawingml/2006/main" noGrp="1"/>
          </p:cNvSpPr>
          <p:nvPr/>
        </p:nvSpPr>
        <p:spPr>
          <a:xfrm xmlns:a="http://schemas.openxmlformats.org/drawingml/2006/main">
            <a:off x="428625" y="1476375"/>
            <a:ext cx="2571750" cy="2714625"/>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25D9F0"/>
            </a:solidFill>
            <a:prstDash val="solid"/>
          </a:ln>
        </p:spPr>
      </p:sp>
      <p:sp>
        <p:nvSpPr>
          <p:cNvPr id="153" name="">
            <a:extLst xmlns:a="http://schemas.openxmlformats.org/drawingml/2006/main">
              <a:ext uri="{FF2B5EF4-FFF2-40B4-BE49-F238E27FC236}">
                <a16:creationId xmlns:a16="http://schemas.microsoft.com/office/drawing/2014/main" id="{96552ECE-F721-4BCB-8C5A-2A2A36BCC794}"/>
              </a:ext>
            </a:extLst>
          </p:cNvPr>
          <p:cNvSpPr>
            <a:spLocks xmlns:a="http://schemas.openxmlformats.org/drawingml/2006/main" noGrp="1"/>
          </p:cNvSpPr>
          <p:nvPr/>
        </p:nvSpPr>
        <p:spPr>
          <a:xfrm xmlns:a="http://schemas.openxmlformats.org/drawingml/2006/main">
            <a:off x="619125" y="1666875"/>
            <a:ext cx="571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25D9F0"/>
                </a:solidFill>
              </a:defRPr>
            </a:defPPr>
          </a:lstStyle>
          <a:p xmlns:a="http://schemas.openxmlformats.org/drawingml/2006/main">
            <a:pPr algn="l">
              <a:defRPr sz="2550" b="1">
                <a:solidFill>
                  <a:srgbClr val="25D9F0"/>
                </a:solidFill>
              </a:defRPr>
            </a:pPr>
            <a:r>
              <a:rPr sz="2550" b="1">
                <a:solidFill>
                  <a:srgbClr val="25D9F0"/>
                </a:solidFill>
              </a:rPr>
              <a:t>01</a:t>
            </a:r>
          </a:p>
        </p:txBody>
      </p:sp>
      <p:sp>
        <p:nvSpPr>
          <p:cNvPr id="154" name="">
            <a:extLst xmlns:a="http://schemas.openxmlformats.org/drawingml/2006/main">
              <a:ext uri="{FF2B5EF4-FFF2-40B4-BE49-F238E27FC236}">
                <a16:creationId xmlns:a16="http://schemas.microsoft.com/office/drawing/2014/main" id="{EB7F2791-D3D8-45A7-AB7D-A7BF4C0FD984}"/>
              </a:ext>
            </a:extLst>
          </p:cNvPr>
          <p:cNvSpPr>
            <a:spLocks xmlns:a="http://schemas.openxmlformats.org/drawingml/2006/main" noGrp="1"/>
          </p:cNvSpPr>
          <p:nvPr/>
        </p:nvSpPr>
        <p:spPr>
          <a:xfrm xmlns:a="http://schemas.openxmlformats.org/drawingml/2006/main">
            <a:off x="619125" y="2286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111827"/>
                </a:solidFill>
              </a:defRPr>
            </a:defPPr>
          </a:lstStyle>
          <a:p xmlns:a="http://schemas.openxmlformats.org/drawingml/2006/main">
            <a:pPr algn="l">
              <a:defRPr sz="1650" b="1">
                <a:solidFill>
                  <a:srgbClr val="111827"/>
                </a:solidFill>
              </a:defRPr>
            </a:pPr>
            <a:r>
              <a:rPr sz="1650" b="1">
                <a:solidFill>
                  <a:srgbClr val="111827"/>
                </a:solidFill>
              </a:rPr>
              <a:t>Before submission</a:t>
            </a:r>
          </a:p>
        </p:txBody>
      </p:sp>
      <p:sp>
        <p:nvSpPr>
          <p:cNvPr id="155" name="">
            <a:extLst xmlns:a="http://schemas.openxmlformats.org/drawingml/2006/main">
              <a:ext uri="{FF2B5EF4-FFF2-40B4-BE49-F238E27FC236}">
                <a16:creationId xmlns:a16="http://schemas.microsoft.com/office/drawing/2014/main" id="{92C21AA7-A695-4CC3-8002-0CDEB8BF5DBD}"/>
              </a:ext>
            </a:extLst>
          </p:cNvPr>
          <p:cNvSpPr>
            <a:spLocks xmlns:a="http://schemas.openxmlformats.org/drawingml/2006/main" noGrp="1"/>
          </p:cNvSpPr>
          <p:nvPr/>
        </p:nvSpPr>
        <p:spPr>
          <a:xfrm xmlns:a="http://schemas.openxmlformats.org/drawingml/2006/main">
            <a:off x="619125" y="3000375"/>
            <a:ext cx="2190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586273"/>
                </a:solidFill>
              </a:defRPr>
            </a:defPPr>
          </a:lstStyle>
          <a:p xmlns:a="http://schemas.openxmlformats.org/drawingml/2006/main">
            <a:pPr algn="l">
              <a:defRPr sz="1125" b="0">
                <a:solidFill>
                  <a:srgbClr val="586273"/>
                </a:solidFill>
              </a:defRPr>
            </a:pPr>
            <a:r>
              <a:rPr sz="1125" b="0">
                <a:solidFill>
                  <a:srgbClr val="586273"/>
                </a:solidFill>
              </a:rPr>
              <a:t>Verify the deployed need, give and build paths. Show chat and dashboard modes on a mobile viewport.</a:t>
            </a:r>
          </a:p>
        </p:txBody>
      </p:sp>
      <p:sp>
        <p:nvSpPr>
          <p:cNvPr id="156" name="">
            <a:extLst xmlns:a="http://schemas.openxmlformats.org/drawingml/2006/main">
              <a:ext uri="{FF2B5EF4-FFF2-40B4-BE49-F238E27FC236}">
                <a16:creationId xmlns:a16="http://schemas.microsoft.com/office/drawing/2014/main" id="{9AE36575-0340-4AC7-A349-9375AA7825D1}"/>
              </a:ext>
            </a:extLst>
          </p:cNvPr>
          <p:cNvSpPr>
            <a:spLocks xmlns:a="http://schemas.openxmlformats.org/drawingml/2006/main" noGrp="1"/>
          </p:cNvSpPr>
          <p:nvPr/>
        </p:nvSpPr>
        <p:spPr>
          <a:xfrm xmlns:a="http://schemas.openxmlformats.org/drawingml/2006/main">
            <a:off x="3305175" y="1476375"/>
            <a:ext cx="2571750" cy="2714625"/>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3788E8"/>
            </a:solidFill>
            <a:prstDash val="solid"/>
          </a:ln>
        </p:spPr>
      </p:sp>
      <p:sp>
        <p:nvSpPr>
          <p:cNvPr id="157" name="">
            <a:extLst xmlns:a="http://schemas.openxmlformats.org/drawingml/2006/main">
              <a:ext uri="{FF2B5EF4-FFF2-40B4-BE49-F238E27FC236}">
                <a16:creationId xmlns:a16="http://schemas.microsoft.com/office/drawing/2014/main" id="{A5155460-0A22-44F5-AFCF-1089504AD90F}"/>
              </a:ext>
            </a:extLst>
          </p:cNvPr>
          <p:cNvSpPr>
            <a:spLocks xmlns:a="http://schemas.openxmlformats.org/drawingml/2006/main" noGrp="1"/>
          </p:cNvSpPr>
          <p:nvPr/>
        </p:nvSpPr>
        <p:spPr>
          <a:xfrm xmlns:a="http://schemas.openxmlformats.org/drawingml/2006/main">
            <a:off x="3495675" y="1666875"/>
            <a:ext cx="571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3788E8"/>
                </a:solidFill>
              </a:defRPr>
            </a:defPPr>
          </a:lstStyle>
          <a:p xmlns:a="http://schemas.openxmlformats.org/drawingml/2006/main">
            <a:pPr algn="l">
              <a:defRPr sz="2550" b="1">
                <a:solidFill>
                  <a:srgbClr val="3788E8"/>
                </a:solidFill>
              </a:defRPr>
            </a:pPr>
            <a:r>
              <a:rPr sz="2550" b="1">
                <a:solidFill>
                  <a:srgbClr val="3788E8"/>
                </a:solidFill>
              </a:rPr>
              <a:t>02</a:t>
            </a:r>
          </a:p>
        </p:txBody>
      </p:sp>
      <p:sp>
        <p:nvSpPr>
          <p:cNvPr id="158" name="">
            <a:extLst xmlns:a="http://schemas.openxmlformats.org/drawingml/2006/main">
              <a:ext uri="{FF2B5EF4-FFF2-40B4-BE49-F238E27FC236}">
                <a16:creationId xmlns:a16="http://schemas.microsoft.com/office/drawing/2014/main" id="{69BAD7B7-107E-4DBE-8FFB-A9F6514C4E5A}"/>
              </a:ext>
            </a:extLst>
          </p:cNvPr>
          <p:cNvSpPr>
            <a:spLocks xmlns:a="http://schemas.openxmlformats.org/drawingml/2006/main" noGrp="1"/>
          </p:cNvSpPr>
          <p:nvPr/>
        </p:nvSpPr>
        <p:spPr>
          <a:xfrm xmlns:a="http://schemas.openxmlformats.org/drawingml/2006/main">
            <a:off x="3495675" y="2286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111827"/>
                </a:solidFill>
              </a:defRPr>
            </a:defPPr>
          </a:lstStyle>
          <a:p xmlns:a="http://schemas.openxmlformats.org/drawingml/2006/main">
            <a:pPr algn="l">
              <a:defRPr sz="1650" b="1">
                <a:solidFill>
                  <a:srgbClr val="111827"/>
                </a:solidFill>
              </a:defRPr>
            </a:pPr>
            <a:r>
              <a:rPr sz="1650" b="1">
                <a:solidFill>
                  <a:srgbClr val="111827"/>
                </a:solidFill>
              </a:rPr>
              <a:t>Pilot</a:t>
            </a:r>
          </a:p>
        </p:txBody>
      </p:sp>
      <p:sp>
        <p:nvSpPr>
          <p:cNvPr id="159" name="">
            <a:extLst xmlns:a="http://schemas.openxmlformats.org/drawingml/2006/main">
              <a:ext uri="{FF2B5EF4-FFF2-40B4-BE49-F238E27FC236}">
                <a16:creationId xmlns:a16="http://schemas.microsoft.com/office/drawing/2014/main" id="{3EEF222D-FD0A-4B40-9D62-BBE94CCA70F1}"/>
              </a:ext>
            </a:extLst>
          </p:cNvPr>
          <p:cNvSpPr>
            <a:spLocks xmlns:a="http://schemas.openxmlformats.org/drawingml/2006/main" noGrp="1"/>
          </p:cNvSpPr>
          <p:nvPr/>
        </p:nvSpPr>
        <p:spPr>
          <a:xfrm xmlns:a="http://schemas.openxmlformats.org/drawingml/2006/main">
            <a:off x="3495675" y="3000375"/>
            <a:ext cx="2190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586273"/>
                </a:solidFill>
              </a:defRPr>
            </a:defPPr>
          </a:lstStyle>
          <a:p xmlns:a="http://schemas.openxmlformats.org/drawingml/2006/main">
            <a:pPr algn="l">
              <a:defRPr sz="1125" b="0">
                <a:solidFill>
                  <a:srgbClr val="586273"/>
                </a:solidFill>
              </a:defRPr>
            </a:pPr>
            <a:r>
              <a:rPr sz="1125" b="0">
                <a:solidFill>
                  <a:srgbClr val="586273"/>
                </a:solidFill>
              </a:rPr>
              <a:t>Measure completed giveaways, activate rewards and test handoff tracking in one locality.</a:t>
            </a:r>
          </a:p>
        </p:txBody>
      </p:sp>
      <p:sp>
        <p:nvSpPr>
          <p:cNvPr id="160" name="">
            <a:extLst xmlns:a="http://schemas.openxmlformats.org/drawingml/2006/main">
              <a:ext uri="{FF2B5EF4-FFF2-40B4-BE49-F238E27FC236}">
                <a16:creationId xmlns:a16="http://schemas.microsoft.com/office/drawing/2014/main" id="{DBBB4EB4-564A-4055-A9C4-501F31E5F085}"/>
              </a:ext>
            </a:extLst>
          </p:cNvPr>
          <p:cNvSpPr>
            <a:spLocks xmlns:a="http://schemas.openxmlformats.org/drawingml/2006/main" noGrp="1"/>
          </p:cNvSpPr>
          <p:nvPr/>
        </p:nvSpPr>
        <p:spPr>
          <a:xfrm xmlns:a="http://schemas.openxmlformats.org/drawingml/2006/main">
            <a:off x="6181725" y="1476375"/>
            <a:ext cx="2571750" cy="2714625"/>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7041D9"/>
            </a:solidFill>
            <a:prstDash val="solid"/>
          </a:ln>
        </p:spPr>
      </p:sp>
      <p:sp>
        <p:nvSpPr>
          <p:cNvPr id="161" name="">
            <a:extLst xmlns:a="http://schemas.openxmlformats.org/drawingml/2006/main">
              <a:ext uri="{FF2B5EF4-FFF2-40B4-BE49-F238E27FC236}">
                <a16:creationId xmlns:a16="http://schemas.microsoft.com/office/drawing/2014/main" id="{C9D4D04D-9834-4215-95BD-4EFD40BED4E0}"/>
              </a:ext>
            </a:extLst>
          </p:cNvPr>
          <p:cNvSpPr>
            <a:spLocks xmlns:a="http://schemas.openxmlformats.org/drawingml/2006/main" noGrp="1"/>
          </p:cNvSpPr>
          <p:nvPr/>
        </p:nvSpPr>
        <p:spPr>
          <a:xfrm xmlns:a="http://schemas.openxmlformats.org/drawingml/2006/main">
            <a:off x="6372225" y="1666875"/>
            <a:ext cx="571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550" b="1">
                <a:solidFill>
                  <a:srgbClr val="7041D9"/>
                </a:solidFill>
              </a:defRPr>
            </a:defPPr>
          </a:lstStyle>
          <a:p xmlns:a="http://schemas.openxmlformats.org/drawingml/2006/main">
            <a:pPr algn="l">
              <a:defRPr sz="2550" b="1">
                <a:solidFill>
                  <a:srgbClr val="7041D9"/>
                </a:solidFill>
              </a:defRPr>
            </a:pPr>
            <a:r>
              <a:rPr sz="2550" b="1">
                <a:solidFill>
                  <a:srgbClr val="7041D9"/>
                </a:solidFill>
              </a:rPr>
              <a:t>03</a:t>
            </a:r>
          </a:p>
        </p:txBody>
      </p:sp>
      <p:sp>
        <p:nvSpPr>
          <p:cNvPr id="162" name="">
            <a:extLst xmlns:a="http://schemas.openxmlformats.org/drawingml/2006/main">
              <a:ext uri="{FF2B5EF4-FFF2-40B4-BE49-F238E27FC236}">
                <a16:creationId xmlns:a16="http://schemas.microsoft.com/office/drawing/2014/main" id="{24886905-07E7-4569-8B8D-5B367D29E799}"/>
              </a:ext>
            </a:extLst>
          </p:cNvPr>
          <p:cNvSpPr>
            <a:spLocks xmlns:a="http://schemas.openxmlformats.org/drawingml/2006/main" noGrp="1"/>
          </p:cNvSpPr>
          <p:nvPr/>
        </p:nvSpPr>
        <p:spPr>
          <a:xfrm xmlns:a="http://schemas.openxmlformats.org/drawingml/2006/main">
            <a:off x="6372225" y="2286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b="1">
                <a:solidFill>
                  <a:srgbClr val="111827"/>
                </a:solidFill>
              </a:defRPr>
            </a:defPPr>
          </a:lstStyle>
          <a:p xmlns:a="http://schemas.openxmlformats.org/drawingml/2006/main">
            <a:pPr algn="l">
              <a:defRPr sz="1650" b="1">
                <a:solidFill>
                  <a:srgbClr val="111827"/>
                </a:solidFill>
              </a:defRPr>
            </a:pPr>
            <a:r>
              <a:rPr sz="1650" b="1">
                <a:solidFill>
                  <a:srgbClr val="111827"/>
                </a:solidFill>
              </a:rPr>
              <a:t>After validation</a:t>
            </a:r>
          </a:p>
        </p:txBody>
      </p:sp>
      <p:sp>
        <p:nvSpPr>
          <p:cNvPr id="163" name="">
            <a:extLst xmlns:a="http://schemas.openxmlformats.org/drawingml/2006/main">
              <a:ext uri="{FF2B5EF4-FFF2-40B4-BE49-F238E27FC236}">
                <a16:creationId xmlns:a16="http://schemas.microsoft.com/office/drawing/2014/main" id="{36037DD8-B343-4A12-AEC4-747930AFB188}"/>
              </a:ext>
            </a:extLst>
          </p:cNvPr>
          <p:cNvSpPr>
            <a:spLocks xmlns:a="http://schemas.openxmlformats.org/drawingml/2006/main" noGrp="1"/>
          </p:cNvSpPr>
          <p:nvPr/>
        </p:nvSpPr>
        <p:spPr>
          <a:xfrm xmlns:a="http://schemas.openxmlformats.org/drawingml/2006/main">
            <a:off x="6372225" y="3000375"/>
            <a:ext cx="2190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125" b="0">
                <a:solidFill>
                  <a:srgbClr val="586273"/>
                </a:solidFill>
              </a:defRPr>
            </a:defPPr>
          </a:lstStyle>
          <a:p xmlns:a="http://schemas.openxmlformats.org/drawingml/2006/main">
            <a:pPr algn="l">
              <a:defRPr sz="1125" b="0">
                <a:solidFill>
                  <a:srgbClr val="586273"/>
                </a:solidFill>
              </a:defRPr>
            </a:pPr>
            <a:r>
              <a:rPr sz="1125" b="0">
                <a:solidFill>
                  <a:srgbClr val="586273"/>
                </a:solidFill>
              </a:rPr>
              <a:t>Connect a delivery partner, strengthen fraud controls and expand supported resource categories.</a:t>
            </a:r>
          </a:p>
        </p:txBody>
      </p:sp>
    </p:spTree>
    <p:extLst>
      <p:ext uri="{BB962C8B-B14F-4D97-AF65-F5344CB8AC3E}">
        <p14:creationId xmlns:p14="http://schemas.microsoft.com/office/powerpoint/2010/main" val="141463352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156" name="Google Shape;156;p26">
            <a:extLst xmlns:a="http://schemas.openxmlformats.org/drawingml/2006/main">
              <a:ext uri="{FF2B5EF4-FFF2-40B4-BE49-F238E27FC236}">
                <a16:creationId xmlns:a16="http://schemas.microsoft.com/office/drawing/2014/main" id="{623F7265-C395-4120-96EF-E7C0EDE294D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310e1f9f2eb41ee">
            <a:alphaModFix/>
          </a:blip>
          <a:srcRect xmlns:a="http://schemas.openxmlformats.org/drawingml/2006/main" l="0" t="0" r="0" b="98001"/>
          <a:stretch xmlns:a="http://schemas.openxmlformats.org/drawingml/2006/main"/>
        </p:blipFill>
        <p:spPr>
          <a:xfrm xmlns:a="http://schemas.openxmlformats.org/drawingml/2006/main">
            <a:off x="0" y="5093562"/>
            <a:ext cx="9144000" cy="54275"/>
          </a:xfrm>
          <a:prstGeom xmlns:a="http://schemas.openxmlformats.org/drawingml/2006/main" prst="rect">
            <a:avLst/>
          </a:prstGeom>
          <a:ln xmlns:a="http://schemas.openxmlformats.org/drawingml/2006/main">
            <a:noFill/>
          </a:ln>
        </p:spPr>
      </p:pic>
      <p:pic>
        <p:nvPicPr>
          <p:cNvPr id="157" name="Google Shape;157;p26">
            <a:extLst xmlns:a="http://schemas.openxmlformats.org/drawingml/2006/main">
              <a:ext uri="{FF2B5EF4-FFF2-40B4-BE49-F238E27FC236}">
                <a16:creationId xmlns:a16="http://schemas.microsoft.com/office/drawing/2014/main" id="{699333D0-0272-49A4-9969-00965B44F959}"/>
              </a:ext>
            </a:extLst>
          </p:cNvPr>
          <p:cNvPicPr>
            <a:picLocks xmlns:a="http://schemas.openxmlformats.org/drawingml/2006/main" noChangeAspect="1"/>
          </p:cNvPicPr>
          <p:nvPr/>
        </p:nvPicPr>
        <p:blipFill>
          <a:blip xmlns:r="http://schemas.openxmlformats.org/officeDocument/2006/relationships" xmlns:a="http://schemas.openxmlformats.org/drawingml/2006/main" r:embed="Rf8aa649dec0d4f01">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58" name="Google Shape;158;p26">
            <a:extLst xmlns:a="http://schemas.openxmlformats.org/drawingml/2006/main">
              <a:ext uri="{FF2B5EF4-FFF2-40B4-BE49-F238E27FC236}">
                <a16:creationId xmlns:a16="http://schemas.microsoft.com/office/drawing/2014/main" id="{76339D8D-D124-40DA-AD80-92C2AB582643}"/>
              </a:ext>
            </a:extLst>
          </p:cNvPr>
          <p:cNvSpPr>
            <a:spLocks xmlns:a="http://schemas.openxmlformats.org/drawingml/2006/main" noGrp="1"/>
          </p:cNvSpPr>
          <p:nvPr/>
        </p:nvSpPr>
        <p:spPr>
          <a:xfrm xmlns:a="http://schemas.openxmlformats.org/drawingml/2006/main">
            <a:off x="-29250" y="5071875"/>
            <a:ext cx="9173400" cy="978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9" name="Google Shape;159;p26">
            <a:extLst xmlns:a="http://schemas.openxmlformats.org/drawingml/2006/main">
              <a:ext uri="{FF2B5EF4-FFF2-40B4-BE49-F238E27FC236}">
                <a16:creationId xmlns:a16="http://schemas.microsoft.com/office/drawing/2014/main" id="{C04C7E58-1DB5-43F3-8E68-2C804A06D990}"/>
              </a:ext>
            </a:extLst>
          </p:cNvPr>
          <p:cNvSpPr>
            <a:spLocks xmlns:a="http://schemas.openxmlformats.org/drawingml/2006/main" noGrp="1"/>
          </p:cNvSpPr>
          <p:nvPr/>
        </p:nvSpPr>
        <p:spPr>
          <a:xfrm xmlns:a="http://schemas.openxmlformats.org/drawingml/2006/main">
            <a:off x="265367" y="663797"/>
            <a:ext cx="85725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defPPr algn="l">
              <a:defRPr sz="1600" b="1">
                <a:solidFill>
                  <a:srgbClr val="000000"/>
                </a:solidFill>
              </a:defRPr>
            </a:defPPr>
          </a:lstStyle>
          <a:p xmlns:a="http://schemas.openxmlformats.org/drawingml/2006/main">
            <a:pPr marL="0" lvl="0" indent="0" algn="l">
              <a:spcBef>
                <a:spcPts val="0"/>
              </a:spcBef>
              <a:spcAft>
                <a:spcPts val="0"/>
              </a:spcAft>
              <a:buNone/>
              <a:defRPr sz="1600" b="1">
                <a:solidFill>
                  <a:srgbClr val="000000"/>
                </a:solidFill>
              </a:defRPr>
            </a:pPr>
            <a:r>
              <a:rPr sz="1600" b="1">
                <a:solidFill>
                  <a:srgbClr val="000000"/>
                </a:solidFill>
                <a:latin typeface="Google Sans Flex Medium"/>
                <a:ea typeface="Google Sans Flex Medium"/>
                <a:cs typeface="Google Sans Flex Medium"/>
              </a:rPr>
              <a:t>Submission links</a:t>
            </a:r>
            <a:endParaRPr sz="1600">
              <a:latin typeface="Google Sans Flex Medium"/>
              <a:ea typeface="Google Sans Flex Medium"/>
              <a:cs typeface="Google Sans Flex Medium"/>
            </a:endParaRPr>
          </a:p>
        </p:txBody>
      </p:sp>
      <p:sp>
        <p:nvSpPr>
          <p:cNvPr id="160" name="">
            <a:extLst xmlns:a="http://schemas.openxmlformats.org/drawingml/2006/main">
              <a:ext uri="{FF2B5EF4-FFF2-40B4-BE49-F238E27FC236}">
                <a16:creationId xmlns:a16="http://schemas.microsoft.com/office/drawing/2014/main" id="{61B9E59E-8106-402D-9476-EE5C7EB65B44}"/>
              </a:ext>
            </a:extLst>
          </p:cNvPr>
          <p:cNvSpPr>
            <a:spLocks xmlns:a="http://schemas.openxmlformats.org/drawingml/2006/main" noGrp="1"/>
          </p:cNvSpPr>
          <p:nvPr/>
        </p:nvSpPr>
        <p:spPr>
          <a:xfrm xmlns:a="http://schemas.openxmlformats.org/drawingml/2006/main">
            <a:off x="666750" y="1476375"/>
            <a:ext cx="7810500" cy="781050"/>
          </a:xfrm>
          <a:prstGeom xmlns:a="http://schemas.openxmlformats.org/drawingml/2006/main" prst="roundRect">
            <a:avLst>
              <a:gd name="adj" fmla="val 14634"/>
            </a:avLst>
          </a:prstGeom>
          <a:solidFill xmlns:a="http://schemas.openxmlformats.org/drawingml/2006/main">
            <a:srgbClr val="E7F6EC"/>
          </a:solidFill>
          <a:ln xmlns:a="http://schemas.openxmlformats.org/drawingml/2006/main" w="9525">
            <a:solidFill>
              <a:srgbClr val="E7F6EC"/>
            </a:solidFill>
            <a:prstDash val="solid"/>
          </a:ln>
        </p:spPr>
      </p:sp>
      <p:sp>
        <p:nvSpPr>
          <p:cNvPr id="161" name="">
            <a:extLst xmlns:a="http://schemas.openxmlformats.org/drawingml/2006/main">
              <a:ext uri="{FF2B5EF4-FFF2-40B4-BE49-F238E27FC236}">
                <a16:creationId xmlns:a16="http://schemas.microsoft.com/office/drawing/2014/main" id="{CD1D4BF3-254E-4D42-80D6-992B2F624E89}"/>
              </a:ext>
            </a:extLst>
          </p:cNvPr>
          <p:cNvSpPr>
            <a:spLocks xmlns:a="http://schemas.openxmlformats.org/drawingml/2006/main" noGrp="1"/>
          </p:cNvSpPr>
          <p:nvPr/>
        </p:nvSpPr>
        <p:spPr>
          <a:xfrm xmlns:a="http://schemas.openxmlformats.org/drawingml/2006/main">
            <a:off x="876300" y="1609725"/>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7245"/>
                </a:solidFill>
              </a:defRPr>
            </a:defPPr>
          </a:lstStyle>
          <a:p xmlns:a="http://schemas.openxmlformats.org/drawingml/2006/main">
            <a:pPr algn="l">
              <a:defRPr sz="1200" b="1">
                <a:solidFill>
                  <a:srgbClr val="177245"/>
                </a:solidFill>
              </a:defRPr>
            </a:pPr>
            <a:r>
              <a:rPr sz="1200" b="1">
                <a:solidFill>
                  <a:srgbClr val="177245"/>
                </a:solidFill>
              </a:rPr>
              <a:t>Public GitHub repository</a:t>
            </a:r>
          </a:p>
        </p:txBody>
      </p:sp>
      <p:sp>
        <p:nvSpPr>
          <p:cNvPr id="162" name="">
            <a:extLst xmlns:a="http://schemas.openxmlformats.org/drawingml/2006/main">
              <a:ext uri="{FF2B5EF4-FFF2-40B4-BE49-F238E27FC236}">
                <a16:creationId xmlns:a16="http://schemas.microsoft.com/office/drawing/2014/main" id="{8D0AA2D5-8D54-4EF5-B07A-90C0186546DD}"/>
              </a:ext>
            </a:extLst>
          </p:cNvPr>
          <p:cNvSpPr>
            <a:spLocks xmlns:a="http://schemas.openxmlformats.org/drawingml/2006/main" noGrp="1"/>
          </p:cNvSpPr>
          <p:nvPr/>
        </p:nvSpPr>
        <p:spPr>
          <a:xfrm xmlns:a="http://schemas.openxmlformats.org/drawingml/2006/main">
            <a:off x="876300" y="1885950"/>
            <a:ext cx="714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11827"/>
                </a:solidFill>
              </a:defRPr>
            </a:defPPr>
          </a:lstStyle>
          <a:p xmlns:a="http://schemas.openxmlformats.org/drawingml/2006/main">
            <a:pPr algn="l">
              <a:defRPr sz="1200" b="1">
                <a:solidFill>
                  <a:srgbClr val="111827"/>
                </a:solidFill>
              </a:defRPr>
            </a:pPr>
            <a:r>
              <a:rPr sz="1200" b="1">
                <a:solidFill>
                  <a:srgbClr val="111827"/>
                </a:solidFill>
              </a:rPr>
              <a:t>https://github.com/dhanyanavileker/Recursive-Minds-Submission</a:t>
            </a:r>
          </a:p>
        </p:txBody>
      </p:sp>
      <p:sp>
        <p:nvSpPr>
          <p:cNvPr id="163" name="">
            <a:extLst xmlns:a="http://schemas.openxmlformats.org/drawingml/2006/main">
              <a:ext uri="{FF2B5EF4-FFF2-40B4-BE49-F238E27FC236}">
                <a16:creationId xmlns:a16="http://schemas.microsoft.com/office/drawing/2014/main" id="{BB5C5682-2492-44FD-8D1C-AEB86ACD935F}"/>
              </a:ext>
            </a:extLst>
          </p:cNvPr>
          <p:cNvSpPr>
            <a:spLocks xmlns:a="http://schemas.openxmlformats.org/drawingml/2006/main" noGrp="1"/>
          </p:cNvSpPr>
          <p:nvPr/>
        </p:nvSpPr>
        <p:spPr>
          <a:xfrm xmlns:a="http://schemas.openxmlformats.org/drawingml/2006/main">
            <a:off x="666750" y="2543175"/>
            <a:ext cx="7810500" cy="781050"/>
          </a:xfrm>
          <a:prstGeom xmlns:a="http://schemas.openxmlformats.org/drawingml/2006/main" prst="roundRect">
            <a:avLst>
              <a:gd name="adj" fmla="val 14634"/>
            </a:avLst>
          </a:prstGeom>
          <a:solidFill xmlns:a="http://schemas.openxmlformats.org/drawingml/2006/main">
            <a:srgbClr val="FFF4CE"/>
          </a:solidFill>
          <a:ln xmlns:a="http://schemas.openxmlformats.org/drawingml/2006/main" w="9525">
            <a:solidFill>
              <a:srgbClr val="FFF4CE"/>
            </a:solidFill>
            <a:prstDash val="solid"/>
          </a:ln>
        </p:spPr>
      </p:sp>
      <p:sp>
        <p:nvSpPr>
          <p:cNvPr id="164" name="">
            <a:extLst xmlns:a="http://schemas.openxmlformats.org/drawingml/2006/main">
              <a:ext uri="{FF2B5EF4-FFF2-40B4-BE49-F238E27FC236}">
                <a16:creationId xmlns:a16="http://schemas.microsoft.com/office/drawing/2014/main" id="{9E72E9AB-57C6-4955-B06E-71B9CE83CA2A}"/>
              </a:ext>
            </a:extLst>
          </p:cNvPr>
          <p:cNvSpPr>
            <a:spLocks xmlns:a="http://schemas.openxmlformats.org/drawingml/2006/main" noGrp="1"/>
          </p:cNvSpPr>
          <p:nvPr/>
        </p:nvSpPr>
        <p:spPr>
          <a:xfrm xmlns:a="http://schemas.openxmlformats.org/drawingml/2006/main">
            <a:off x="876300" y="2676525"/>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9A6700"/>
                </a:solidFill>
              </a:defRPr>
            </a:defPPr>
          </a:lstStyle>
          <a:p xmlns:a="http://schemas.openxmlformats.org/drawingml/2006/main">
            <a:pPr algn="l">
              <a:defRPr sz="1200" b="1">
                <a:solidFill>
                  <a:srgbClr val="9A6700"/>
                </a:solidFill>
              </a:defRPr>
            </a:pPr>
            <a:r>
              <a:rPr sz="1200" b="1">
                <a:solidFill>
                  <a:srgbClr val="9A6700"/>
                </a:solidFill>
              </a:rPr>
              <a:t>Three-minute demo video</a:t>
            </a:r>
          </a:p>
        </p:txBody>
      </p:sp>
      <p:sp>
        <p:nvSpPr>
          <p:cNvPr id="165" name="">
            <a:extLst xmlns:a="http://schemas.openxmlformats.org/drawingml/2006/main">
              <a:ext uri="{FF2B5EF4-FFF2-40B4-BE49-F238E27FC236}">
                <a16:creationId xmlns:a16="http://schemas.microsoft.com/office/drawing/2014/main" id="{8AF97315-65C8-4E75-A4B6-2EA2B024BD14}"/>
              </a:ext>
            </a:extLst>
          </p:cNvPr>
          <p:cNvSpPr>
            <a:spLocks xmlns:a="http://schemas.openxmlformats.org/drawingml/2006/main" noGrp="1"/>
          </p:cNvSpPr>
          <p:nvPr/>
        </p:nvSpPr>
        <p:spPr>
          <a:xfrm xmlns:a="http://schemas.openxmlformats.org/drawingml/2006/main">
            <a:off x="876300" y="2952750"/>
            <a:ext cx="714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11827"/>
                </a:solidFill>
              </a:defRPr>
            </a:defPPr>
          </a:lstStyle>
          <a:p xmlns:a="http://schemas.openxmlformats.org/drawingml/2006/main">
            <a:pPr algn="l">
              <a:defRPr sz="1200" b="1">
                <a:solidFill>
                  <a:srgbClr val="111827"/>
                </a:solidFill>
              </a:defRPr>
            </a:pPr>
            <a:r>
              <a:rPr sz="1200" b="1">
                <a:solidFill>
                  <a:srgbClr val="111827"/>
                </a:solidFill>
              </a:rPr>
              <a:t>ADD PUBLIC VIDEO URL BEFORE SUBMISSION</a:t>
            </a:r>
          </a:p>
        </p:txBody>
      </p:sp>
      <p:sp>
        <p:nvSpPr>
          <p:cNvPr id="166" name="">
            <a:extLst xmlns:a="http://schemas.openxmlformats.org/drawingml/2006/main">
              <a:ext uri="{FF2B5EF4-FFF2-40B4-BE49-F238E27FC236}">
                <a16:creationId xmlns:a16="http://schemas.microsoft.com/office/drawing/2014/main" id="{9E708313-21F3-4548-A36A-63D0AB6EE1B3}"/>
              </a:ext>
            </a:extLst>
          </p:cNvPr>
          <p:cNvSpPr>
            <a:spLocks xmlns:a="http://schemas.openxmlformats.org/drawingml/2006/main" noGrp="1"/>
          </p:cNvSpPr>
          <p:nvPr/>
        </p:nvSpPr>
        <p:spPr>
          <a:xfrm xmlns:a="http://schemas.openxmlformats.org/drawingml/2006/main">
            <a:off x="666750" y="3609975"/>
            <a:ext cx="7810500" cy="781050"/>
          </a:xfrm>
          <a:prstGeom xmlns:a="http://schemas.openxmlformats.org/drawingml/2006/main" prst="roundRect">
            <a:avLst>
              <a:gd name="adj" fmla="val 14634"/>
            </a:avLst>
          </a:prstGeom>
          <a:solidFill xmlns:a="http://schemas.openxmlformats.org/drawingml/2006/main">
            <a:srgbClr val="E7F6EC"/>
          </a:solidFill>
          <a:ln xmlns:a="http://schemas.openxmlformats.org/drawingml/2006/main" w="9525">
            <a:solidFill>
              <a:srgbClr val="E7F6EC"/>
            </a:solidFill>
            <a:prstDash val="solid"/>
          </a:ln>
        </p:spPr>
      </p:sp>
      <p:sp>
        <p:nvSpPr>
          <p:cNvPr id="167" name="">
            <a:extLst xmlns:a="http://schemas.openxmlformats.org/drawingml/2006/main">
              <a:ext uri="{FF2B5EF4-FFF2-40B4-BE49-F238E27FC236}">
                <a16:creationId xmlns:a16="http://schemas.microsoft.com/office/drawing/2014/main" id="{AA299CD9-8AF4-4C8C-9F11-213134623620}"/>
              </a:ext>
            </a:extLst>
          </p:cNvPr>
          <p:cNvSpPr>
            <a:spLocks xmlns:a="http://schemas.openxmlformats.org/drawingml/2006/main" noGrp="1"/>
          </p:cNvSpPr>
          <p:nvPr/>
        </p:nvSpPr>
        <p:spPr>
          <a:xfrm xmlns:a="http://schemas.openxmlformats.org/drawingml/2006/main">
            <a:off x="876300" y="3743325"/>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77245"/>
                </a:solidFill>
              </a:defRPr>
            </a:defPPr>
          </a:lstStyle>
          <a:p xmlns:a="http://schemas.openxmlformats.org/drawingml/2006/main">
            <a:pPr algn="l">
              <a:defRPr sz="1200" b="1">
                <a:solidFill>
                  <a:srgbClr val="177245"/>
                </a:solidFill>
              </a:defRPr>
            </a:pPr>
            <a:r>
              <a:rPr sz="1200" b="1">
                <a:solidFill>
                  <a:srgbClr val="177245"/>
                </a:solidFill>
              </a:rPr>
              <a:t>Final product</a:t>
            </a:r>
          </a:p>
        </p:txBody>
      </p:sp>
      <p:sp>
        <p:nvSpPr>
          <p:cNvPr id="168" name="">
            <a:extLst xmlns:a="http://schemas.openxmlformats.org/drawingml/2006/main">
              <a:ext uri="{FF2B5EF4-FFF2-40B4-BE49-F238E27FC236}">
                <a16:creationId xmlns:a16="http://schemas.microsoft.com/office/drawing/2014/main" id="{F89333CE-EC0D-46FE-8B64-00246B6D9206}"/>
              </a:ext>
            </a:extLst>
          </p:cNvPr>
          <p:cNvSpPr>
            <a:spLocks xmlns:a="http://schemas.openxmlformats.org/drawingml/2006/main" noGrp="1"/>
          </p:cNvSpPr>
          <p:nvPr/>
        </p:nvSpPr>
        <p:spPr>
          <a:xfrm xmlns:a="http://schemas.openxmlformats.org/drawingml/2006/main">
            <a:off x="876300" y="4019550"/>
            <a:ext cx="714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1">
                <a:solidFill>
                  <a:srgbClr val="111827"/>
                </a:solidFill>
              </a:defRPr>
            </a:defPPr>
          </a:lstStyle>
          <a:p xmlns:a="http://schemas.openxmlformats.org/drawingml/2006/main">
            <a:pPr algn="l">
              <a:defRPr sz="1200" b="1">
                <a:solidFill>
                  <a:srgbClr val="111827"/>
                </a:solidFill>
              </a:defRPr>
            </a:pPr>
            <a:r>
              <a:rPr sz="1200" b="1">
                <a:solidFill>
                  <a:srgbClr val="111827"/>
                </a:solidFill>
              </a:rPr>
              <a:t>https://recursive-minds-submission-430351890694.asia-south1.run.app/</a:t>
            </a:r>
          </a:p>
        </p:txBody>
      </p:sp>
      <p:sp>
        <p:nvSpPr>
          <p:cNvPr id="169" name="">
            <a:extLst xmlns:a="http://schemas.openxmlformats.org/drawingml/2006/main">
              <a:ext uri="{FF2B5EF4-FFF2-40B4-BE49-F238E27FC236}">
                <a16:creationId xmlns:a16="http://schemas.microsoft.com/office/drawing/2014/main" id="{2515C087-86CF-4A86-AE9C-C2B0A203BB47}"/>
              </a:ext>
            </a:extLst>
          </p:cNvPr>
          <p:cNvSpPr>
            <a:spLocks xmlns:a="http://schemas.openxmlformats.org/drawingml/2006/main" noGrp="1"/>
          </p:cNvSpPr>
          <p:nvPr/>
        </p:nvSpPr>
        <p:spPr>
          <a:xfrm xmlns:a="http://schemas.openxmlformats.org/drawingml/2006/main">
            <a:off x="1285875" y="4686300"/>
            <a:ext cx="657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1">
                <a:solidFill>
                  <a:srgbClr val="586273"/>
                </a:solidFill>
              </a:defRPr>
            </a:defPPr>
          </a:lstStyle>
          <a:p xmlns:a="http://schemas.openxmlformats.org/drawingml/2006/main">
            <a:pPr algn="ctr">
              <a:defRPr sz="1050" b="1">
                <a:solidFill>
                  <a:srgbClr val="586273"/>
                </a:solidFill>
              </a:defRPr>
            </a:pPr>
            <a:r>
              <a:rPr sz="1050" b="1">
                <a:solidFill>
                  <a:srgbClr val="586273"/>
                </a:solidFill>
              </a:rPr>
              <a:t>Test every link while signed out before uploading the final deck.</a:t>
            </a:r>
          </a:p>
        </p:txBody>
      </p:sp>
    </p:spTree>
    <p:extLst>
      <p:ext uri="{BB962C8B-B14F-4D97-AF65-F5344CB8AC3E}">
        <p14:creationId xmlns:p14="http://schemas.microsoft.com/office/powerpoint/2010/main" val="129756131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164" name="Google Shape;164;p27">
            <a:extLst xmlns:a="http://schemas.openxmlformats.org/drawingml/2006/main">
              <a:ext uri="{FF2B5EF4-FFF2-40B4-BE49-F238E27FC236}">
                <a16:creationId xmlns:a16="http://schemas.microsoft.com/office/drawing/2014/main" id="{795AB694-CC0D-4FE6-8A91-235A7A9947A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8ddbf839b854e42">
            <a:alphaModFix/>
          </a:blip>
          <a:srcRect xmlns:a="http://schemas.openxmlformats.org/drawingml/2006/main" l="0" t="0" r="0" b="98001"/>
          <a:stretch xmlns:a="http://schemas.openxmlformats.org/drawingml/2006/main"/>
        </p:blipFill>
        <p:spPr>
          <a:xfrm xmlns:a="http://schemas.openxmlformats.org/drawingml/2006/main">
            <a:off x="0" y="5093562"/>
            <a:ext cx="9144000" cy="54275"/>
          </a:xfrm>
          <a:prstGeom xmlns:a="http://schemas.openxmlformats.org/drawingml/2006/main" prst="rect">
            <a:avLst/>
          </a:prstGeom>
          <a:ln xmlns:a="http://schemas.openxmlformats.org/drawingml/2006/main">
            <a:noFill/>
          </a:ln>
        </p:spPr>
      </p:pic>
      <p:pic>
        <p:nvPicPr>
          <p:cNvPr id="165" name="Google Shape;165;p27">
            <a:extLst xmlns:a="http://schemas.openxmlformats.org/drawingml/2006/main">
              <a:ext uri="{FF2B5EF4-FFF2-40B4-BE49-F238E27FC236}">
                <a16:creationId xmlns:a16="http://schemas.microsoft.com/office/drawing/2014/main" id="{761108CB-9E66-4091-82E6-2C4C20C81717}"/>
              </a:ext>
            </a:extLst>
          </p:cNvPr>
          <p:cNvPicPr>
            <a:picLocks xmlns:a="http://schemas.openxmlformats.org/drawingml/2006/main" noChangeAspect="1"/>
          </p:cNvPicPr>
          <p:nvPr/>
        </p:nvPicPr>
        <p:blipFill>
          <a:blip xmlns:r="http://schemas.openxmlformats.org/officeDocument/2006/relationships" xmlns:a="http://schemas.openxmlformats.org/drawingml/2006/main" r:embed="R44308a8c76bf4c1d">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66" name="Google Shape;166;p27">
            <a:extLst xmlns:a="http://schemas.openxmlformats.org/drawingml/2006/main">
              <a:ext uri="{FF2B5EF4-FFF2-40B4-BE49-F238E27FC236}">
                <a16:creationId xmlns:a16="http://schemas.microsoft.com/office/drawing/2014/main" id="{1FF65D51-C2AA-47E5-B4AF-6DEA657CBE49}"/>
              </a:ext>
            </a:extLst>
          </p:cNvPr>
          <p:cNvSpPr>
            <a:spLocks xmlns:a="http://schemas.openxmlformats.org/drawingml/2006/main" noGrp="1"/>
          </p:cNvSpPr>
          <p:nvPr/>
        </p:nvSpPr>
        <p:spPr>
          <a:xfrm xmlns:a="http://schemas.openxmlformats.org/drawingml/2006/main">
            <a:off x="-29250" y="5071875"/>
            <a:ext cx="9173400" cy="978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67" name="">
            <a:extLst xmlns:a="http://schemas.openxmlformats.org/drawingml/2006/main">
              <a:ext uri="{FF2B5EF4-FFF2-40B4-BE49-F238E27FC236}">
                <a16:creationId xmlns:a16="http://schemas.microsoft.com/office/drawing/2014/main" id="{106378EB-A6B1-4A58-BABA-3CEBCAF82B58}"/>
              </a:ext>
            </a:extLst>
          </p:cNvPr>
          <p:cNvSpPr>
            <a:spLocks xmlns:a="http://schemas.openxmlformats.org/drawingml/2006/main" noGrp="1"/>
          </p:cNvSpPr>
          <p:nvPr/>
        </p:nvSpPr>
        <p:spPr>
          <a:xfrm xmlns:a="http://schemas.openxmlformats.org/drawingml/2006/main">
            <a:off x="266700" y="666750"/>
            <a:ext cx="857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00" b="1">
                <a:solidFill>
                  <a:srgbClr val="111827"/>
                </a:solidFill>
              </a:defRPr>
            </a:defPPr>
          </a:lstStyle>
          <a:p xmlns:a="http://schemas.openxmlformats.org/drawingml/2006/main">
            <a:pPr algn="l">
              <a:defRPr sz="1600" b="1">
                <a:solidFill>
                  <a:srgbClr val="111827"/>
                </a:solidFill>
              </a:defRPr>
            </a:pPr>
            <a:r>
              <a:rPr sz="1600" b="1">
                <a:solidFill>
                  <a:srgbClr val="111827"/>
                </a:solidFill>
              </a:rPr>
              <a:t>AI contribution and trust boundaries</a:t>
            </a:r>
          </a:p>
        </p:txBody>
      </p:sp>
      <p:sp>
        <p:nvSpPr>
          <p:cNvPr id="168" name="">
            <a:extLst xmlns:a="http://schemas.openxmlformats.org/drawingml/2006/main">
              <a:ext uri="{FF2B5EF4-FFF2-40B4-BE49-F238E27FC236}">
                <a16:creationId xmlns:a16="http://schemas.microsoft.com/office/drawing/2014/main" id="{432511B0-91CB-45A7-8846-C011C53C459C}"/>
              </a:ext>
            </a:extLst>
          </p:cNvPr>
          <p:cNvSpPr>
            <a:spLocks xmlns:a="http://schemas.openxmlformats.org/drawingml/2006/main" noGrp="1"/>
          </p:cNvSpPr>
          <p:nvPr/>
        </p:nvSpPr>
        <p:spPr>
          <a:xfrm xmlns:a="http://schemas.openxmlformats.org/drawingml/2006/main">
            <a:off x="523875" y="1381125"/>
            <a:ext cx="3810000" cy="2905125"/>
          </a:xfrm>
          <a:prstGeom xmlns:a="http://schemas.openxmlformats.org/drawingml/2006/main" prst="roundRect">
            <a:avLst>
              <a:gd name="adj" fmla="val 3934"/>
            </a:avLst>
          </a:prstGeom>
          <a:solidFill xmlns:a="http://schemas.openxmlformats.org/drawingml/2006/main">
            <a:srgbClr val="ECFBFD"/>
          </a:solidFill>
          <a:ln xmlns:a="http://schemas.openxmlformats.org/drawingml/2006/main" w="9525">
            <a:solidFill>
              <a:srgbClr val="3788E8"/>
            </a:solidFill>
            <a:prstDash val="solid"/>
          </a:ln>
        </p:spPr>
      </p:sp>
      <p:sp>
        <p:nvSpPr>
          <p:cNvPr id="169" name="">
            <a:extLst xmlns:a="http://schemas.openxmlformats.org/drawingml/2006/main">
              <a:ext uri="{FF2B5EF4-FFF2-40B4-BE49-F238E27FC236}">
                <a16:creationId xmlns:a16="http://schemas.microsoft.com/office/drawing/2014/main" id="{ED9D72AA-3E42-4F69-A153-3636DAC8FC77}"/>
              </a:ext>
            </a:extLst>
          </p:cNvPr>
          <p:cNvSpPr>
            <a:spLocks xmlns:a="http://schemas.openxmlformats.org/drawingml/2006/main" noGrp="1"/>
          </p:cNvSpPr>
          <p:nvPr/>
        </p:nvSpPr>
        <p:spPr>
          <a:xfrm xmlns:a="http://schemas.openxmlformats.org/drawingml/2006/main">
            <a:off x="762000" y="161925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1">
                <a:solidFill>
                  <a:srgbClr val="3788E8"/>
                </a:solidFill>
              </a:defRPr>
            </a:defPPr>
          </a:lstStyle>
          <a:p xmlns:a="http://schemas.openxmlformats.org/drawingml/2006/main">
            <a:pPr algn="l">
              <a:defRPr sz="1725" b="1">
                <a:solidFill>
                  <a:srgbClr val="3788E8"/>
                </a:solidFill>
              </a:defRPr>
            </a:pPr>
            <a:r>
              <a:rPr sz="1725" b="1">
                <a:solidFill>
                  <a:srgbClr val="3788E8"/>
                </a:solidFill>
              </a:rPr>
              <a:t>AI assists with</a:t>
            </a:r>
          </a:p>
        </p:txBody>
      </p:sp>
      <p:sp>
        <p:nvSpPr>
          <p:cNvPr id="170" name="">
            <a:extLst xmlns:a="http://schemas.openxmlformats.org/drawingml/2006/main">
              <a:ext uri="{FF2B5EF4-FFF2-40B4-BE49-F238E27FC236}">
                <a16:creationId xmlns:a16="http://schemas.microsoft.com/office/drawing/2014/main" id="{01D3D5A1-DA29-4744-8699-6D4BC428ED04}"/>
              </a:ext>
            </a:extLst>
          </p:cNvPr>
          <p:cNvSpPr>
            <a:spLocks xmlns:a="http://schemas.openxmlformats.org/drawingml/2006/main" noGrp="1"/>
          </p:cNvSpPr>
          <p:nvPr/>
        </p:nvSpPr>
        <p:spPr>
          <a:xfrm xmlns:a="http://schemas.openxmlformats.org/drawingml/2006/main">
            <a:off x="790575" y="2190750"/>
            <a:ext cx="266700" cy="266700"/>
          </a:xfrm>
          <a:prstGeom xmlns:a="http://schemas.openxmlformats.org/drawingml/2006/main" prst="roundRect">
            <a:avLst>
              <a:gd name="adj" fmla="val 50000"/>
            </a:avLst>
          </a:prstGeom>
          <a:solidFill xmlns:a="http://schemas.openxmlformats.org/drawingml/2006/main">
            <a:srgbClr val="3788E8"/>
          </a:solidFill>
          <a:ln xmlns:a="http://schemas.openxmlformats.org/drawingml/2006/main" w="0">
            <a:noFill/>
            <a:prstDash val="solid"/>
          </a:ln>
        </p:spPr>
        <p:txBody>
          <a:bodyPr xmlns:a="http://schemas.openxmlformats.org/drawingml/2006/main" lIns="28575" tIns="28575" rIns="28575" bIns="28575" anchor="ctr"/>
          <a:lstStyle xmlns:a="http://schemas.openxmlformats.org/drawingml/2006/main">
            <a:defPPr algn="ctr">
              <a:defRPr sz="1200" b="1">
                <a:solidFill>
                  <a:srgbClr val="FFFFFF"/>
                </a:solidFill>
              </a:defRPr>
            </a:defPPr>
          </a:lstStyle>
          <a:p xmlns:a="http://schemas.openxmlformats.org/drawingml/2006/main">
            <a:pPr algn="ctr">
              <a:defRPr sz="1200" b="1">
                <a:solidFill>
                  <a:srgbClr val="FFFFFF"/>
                </a:solidFill>
              </a:defRPr>
            </a:pPr>
            <a:r>
              <a:rPr sz="1200" b="1">
                <a:solidFill>
                  <a:srgbClr val="FFFFFF"/>
                </a:solidFill>
              </a:rPr>
              <a:t>1</a:t>
            </a:r>
          </a:p>
        </p:txBody>
      </p:sp>
      <p:sp>
        <p:nvSpPr>
          <p:cNvPr id="171" name="">
            <a:extLst xmlns:a="http://schemas.openxmlformats.org/drawingml/2006/main">
              <a:ext uri="{FF2B5EF4-FFF2-40B4-BE49-F238E27FC236}">
                <a16:creationId xmlns:a16="http://schemas.microsoft.com/office/drawing/2014/main" id="{8B1F7E7E-E915-4A31-8B8E-1CF16001A745}"/>
              </a:ext>
            </a:extLst>
          </p:cNvPr>
          <p:cNvSpPr>
            <a:spLocks xmlns:a="http://schemas.openxmlformats.org/drawingml/2006/main" noGrp="1"/>
          </p:cNvSpPr>
          <p:nvPr/>
        </p:nvSpPr>
        <p:spPr>
          <a:xfrm xmlns:a="http://schemas.openxmlformats.org/drawingml/2006/main">
            <a:off x="1190625" y="2181225"/>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11827"/>
                </a:solidFill>
              </a:defRPr>
            </a:defPPr>
          </a:lstStyle>
          <a:p xmlns:a="http://schemas.openxmlformats.org/drawingml/2006/main">
            <a:pPr algn="l">
              <a:defRPr sz="1200" b="0">
                <a:solidFill>
                  <a:srgbClr val="111827"/>
                </a:solidFill>
              </a:defRPr>
            </a:pPr>
            <a:r>
              <a:rPr sz="1200" b="0">
                <a:solidFill>
                  <a:srgbClr val="111827"/>
                </a:solidFill>
              </a:rPr>
              <a:t>Routing need, give and build intent</a:t>
            </a:r>
          </a:p>
        </p:txBody>
      </p:sp>
      <p:sp>
        <p:nvSpPr>
          <p:cNvPr id="172" name="">
            <a:extLst xmlns:a="http://schemas.openxmlformats.org/drawingml/2006/main">
              <a:ext uri="{FF2B5EF4-FFF2-40B4-BE49-F238E27FC236}">
                <a16:creationId xmlns:a16="http://schemas.microsoft.com/office/drawing/2014/main" id="{A7401C5F-EED3-44DF-8B47-23CF8EF3EEAF}"/>
              </a:ext>
            </a:extLst>
          </p:cNvPr>
          <p:cNvSpPr>
            <a:spLocks xmlns:a="http://schemas.openxmlformats.org/drawingml/2006/main" noGrp="1"/>
          </p:cNvSpPr>
          <p:nvPr/>
        </p:nvSpPr>
        <p:spPr>
          <a:xfrm xmlns:a="http://schemas.openxmlformats.org/drawingml/2006/main">
            <a:off x="790575" y="2686050"/>
            <a:ext cx="266700" cy="266700"/>
          </a:xfrm>
          <a:prstGeom xmlns:a="http://schemas.openxmlformats.org/drawingml/2006/main" prst="roundRect">
            <a:avLst>
              <a:gd name="adj" fmla="val 50000"/>
            </a:avLst>
          </a:prstGeom>
          <a:solidFill xmlns:a="http://schemas.openxmlformats.org/drawingml/2006/main">
            <a:srgbClr val="3788E8"/>
          </a:solidFill>
          <a:ln xmlns:a="http://schemas.openxmlformats.org/drawingml/2006/main" w="0">
            <a:noFill/>
            <a:prstDash val="solid"/>
          </a:ln>
        </p:spPr>
        <p:txBody>
          <a:bodyPr xmlns:a="http://schemas.openxmlformats.org/drawingml/2006/main" lIns="28575" tIns="28575" rIns="28575" bIns="28575" anchor="ctr"/>
          <a:lstStyle xmlns:a="http://schemas.openxmlformats.org/drawingml/2006/main">
            <a:defPPr algn="ctr">
              <a:defRPr sz="1200" b="1">
                <a:solidFill>
                  <a:srgbClr val="FFFFFF"/>
                </a:solidFill>
              </a:defRPr>
            </a:defPPr>
          </a:lstStyle>
          <a:p xmlns:a="http://schemas.openxmlformats.org/drawingml/2006/main">
            <a:pPr algn="ctr">
              <a:defRPr sz="1200" b="1">
                <a:solidFill>
                  <a:srgbClr val="FFFFFF"/>
                </a:solidFill>
              </a:defRPr>
            </a:pPr>
            <a:r>
              <a:rPr sz="1200" b="1">
                <a:solidFill>
                  <a:srgbClr val="FFFFFF"/>
                </a:solidFill>
              </a:rPr>
              <a:t>2</a:t>
            </a:r>
          </a:p>
        </p:txBody>
      </p:sp>
      <p:sp>
        <p:nvSpPr>
          <p:cNvPr id="173" name="">
            <a:extLst xmlns:a="http://schemas.openxmlformats.org/drawingml/2006/main">
              <a:ext uri="{FF2B5EF4-FFF2-40B4-BE49-F238E27FC236}">
                <a16:creationId xmlns:a16="http://schemas.microsoft.com/office/drawing/2014/main" id="{E1A0C0C2-778D-4ADA-8420-EABDAB1D368B}"/>
              </a:ext>
            </a:extLst>
          </p:cNvPr>
          <p:cNvSpPr>
            <a:spLocks xmlns:a="http://schemas.openxmlformats.org/drawingml/2006/main" noGrp="1"/>
          </p:cNvSpPr>
          <p:nvPr/>
        </p:nvSpPr>
        <p:spPr>
          <a:xfrm xmlns:a="http://schemas.openxmlformats.org/drawingml/2006/main">
            <a:off x="1190625" y="2676525"/>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11827"/>
                </a:solidFill>
              </a:defRPr>
            </a:defPPr>
          </a:lstStyle>
          <a:p xmlns:a="http://schemas.openxmlformats.org/drawingml/2006/main">
            <a:pPr algn="l">
              <a:defRPr sz="1200" b="0">
                <a:solidFill>
                  <a:srgbClr val="111827"/>
                </a:solidFill>
              </a:defRPr>
            </a:pPr>
            <a:r>
              <a:rPr sz="1200" b="0">
                <a:solidFill>
                  <a:srgbClr val="111827"/>
                </a:solidFill>
              </a:rPr>
              <a:t>Turning a project into a material list</a:t>
            </a:r>
          </a:p>
        </p:txBody>
      </p:sp>
      <p:sp>
        <p:nvSpPr>
          <p:cNvPr id="174" name="">
            <a:extLst xmlns:a="http://schemas.openxmlformats.org/drawingml/2006/main">
              <a:ext uri="{FF2B5EF4-FFF2-40B4-BE49-F238E27FC236}">
                <a16:creationId xmlns:a16="http://schemas.microsoft.com/office/drawing/2014/main" id="{AF78D51A-9436-4EF0-8F65-11B136A2B303}"/>
              </a:ext>
            </a:extLst>
          </p:cNvPr>
          <p:cNvSpPr>
            <a:spLocks xmlns:a="http://schemas.openxmlformats.org/drawingml/2006/main" noGrp="1"/>
          </p:cNvSpPr>
          <p:nvPr/>
        </p:nvSpPr>
        <p:spPr>
          <a:xfrm xmlns:a="http://schemas.openxmlformats.org/drawingml/2006/main">
            <a:off x="790575" y="3181350"/>
            <a:ext cx="266700" cy="266700"/>
          </a:xfrm>
          <a:prstGeom xmlns:a="http://schemas.openxmlformats.org/drawingml/2006/main" prst="roundRect">
            <a:avLst>
              <a:gd name="adj" fmla="val 50000"/>
            </a:avLst>
          </a:prstGeom>
          <a:solidFill xmlns:a="http://schemas.openxmlformats.org/drawingml/2006/main">
            <a:srgbClr val="3788E8"/>
          </a:solidFill>
          <a:ln xmlns:a="http://schemas.openxmlformats.org/drawingml/2006/main" w="0">
            <a:noFill/>
            <a:prstDash val="solid"/>
          </a:ln>
        </p:spPr>
        <p:txBody>
          <a:bodyPr xmlns:a="http://schemas.openxmlformats.org/drawingml/2006/main" lIns="28575" tIns="28575" rIns="28575" bIns="28575" anchor="ctr"/>
          <a:lstStyle xmlns:a="http://schemas.openxmlformats.org/drawingml/2006/main">
            <a:defPPr algn="ctr">
              <a:defRPr sz="1200" b="1">
                <a:solidFill>
                  <a:srgbClr val="FFFFFF"/>
                </a:solidFill>
              </a:defRPr>
            </a:defPPr>
          </a:lstStyle>
          <a:p xmlns:a="http://schemas.openxmlformats.org/drawingml/2006/main">
            <a:pPr algn="ctr">
              <a:defRPr sz="1200" b="1">
                <a:solidFill>
                  <a:srgbClr val="FFFFFF"/>
                </a:solidFill>
              </a:defRPr>
            </a:pPr>
            <a:r>
              <a:rPr sz="1200" b="1">
                <a:solidFill>
                  <a:srgbClr val="FFFFFF"/>
                </a:solidFill>
              </a:rPr>
              <a:t>3</a:t>
            </a:r>
          </a:p>
        </p:txBody>
      </p:sp>
      <p:sp>
        <p:nvSpPr>
          <p:cNvPr id="175" name="">
            <a:extLst xmlns:a="http://schemas.openxmlformats.org/drawingml/2006/main">
              <a:ext uri="{FF2B5EF4-FFF2-40B4-BE49-F238E27FC236}">
                <a16:creationId xmlns:a16="http://schemas.microsoft.com/office/drawing/2014/main" id="{9923E09E-E1E7-4FBD-89AB-BA11D49E7058}"/>
              </a:ext>
            </a:extLst>
          </p:cNvPr>
          <p:cNvSpPr>
            <a:spLocks xmlns:a="http://schemas.openxmlformats.org/drawingml/2006/main" noGrp="1"/>
          </p:cNvSpPr>
          <p:nvPr/>
        </p:nvSpPr>
        <p:spPr>
          <a:xfrm xmlns:a="http://schemas.openxmlformats.org/drawingml/2006/main">
            <a:off x="1190625" y="3171825"/>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11827"/>
                </a:solidFill>
              </a:defRPr>
            </a:defPPr>
          </a:lstStyle>
          <a:p xmlns:a="http://schemas.openxmlformats.org/drawingml/2006/main">
            <a:pPr algn="l">
              <a:defRPr sz="1200" b="0">
                <a:solidFill>
                  <a:srgbClr val="111827"/>
                </a:solidFill>
              </a:defRPr>
            </a:pPr>
            <a:r>
              <a:rPr sz="1200" b="0">
                <a:solidFill>
                  <a:srgbClr val="111827"/>
                </a:solidFill>
              </a:rPr>
              <a:t>Finding suitable available giveaways</a:t>
            </a:r>
          </a:p>
        </p:txBody>
      </p:sp>
      <p:sp>
        <p:nvSpPr>
          <p:cNvPr id="176" name="">
            <a:extLst xmlns:a="http://schemas.openxmlformats.org/drawingml/2006/main">
              <a:ext uri="{FF2B5EF4-FFF2-40B4-BE49-F238E27FC236}">
                <a16:creationId xmlns:a16="http://schemas.microsoft.com/office/drawing/2014/main" id="{73F95ACD-1F95-412C-9B4F-B2CF8839521D}"/>
              </a:ext>
            </a:extLst>
          </p:cNvPr>
          <p:cNvSpPr>
            <a:spLocks xmlns:a="http://schemas.openxmlformats.org/drawingml/2006/main" noGrp="1"/>
          </p:cNvSpPr>
          <p:nvPr/>
        </p:nvSpPr>
        <p:spPr>
          <a:xfrm xmlns:a="http://schemas.openxmlformats.org/drawingml/2006/main">
            <a:off x="4810125" y="1381125"/>
            <a:ext cx="3810000" cy="2905125"/>
          </a:xfrm>
          <a:prstGeom xmlns:a="http://schemas.openxmlformats.org/drawingml/2006/main" prst="roundRect">
            <a:avLst>
              <a:gd name="adj" fmla="val 3934"/>
            </a:avLst>
          </a:prstGeom>
          <a:solidFill xmlns:a="http://schemas.openxmlformats.org/drawingml/2006/main">
            <a:srgbClr val="F1ECFC"/>
          </a:solidFill>
          <a:ln xmlns:a="http://schemas.openxmlformats.org/drawingml/2006/main" w="9525">
            <a:solidFill>
              <a:srgbClr val="7041D9"/>
            </a:solidFill>
            <a:prstDash val="solid"/>
          </a:ln>
        </p:spPr>
      </p:sp>
      <p:sp>
        <p:nvSpPr>
          <p:cNvPr id="177" name="">
            <a:extLst xmlns:a="http://schemas.openxmlformats.org/drawingml/2006/main">
              <a:ext uri="{FF2B5EF4-FFF2-40B4-BE49-F238E27FC236}">
                <a16:creationId xmlns:a16="http://schemas.microsoft.com/office/drawing/2014/main" id="{B5F0279A-36E8-41E7-BFC6-148824D5E77D}"/>
              </a:ext>
            </a:extLst>
          </p:cNvPr>
          <p:cNvSpPr>
            <a:spLocks xmlns:a="http://schemas.openxmlformats.org/drawingml/2006/main" noGrp="1"/>
          </p:cNvSpPr>
          <p:nvPr/>
        </p:nvSpPr>
        <p:spPr>
          <a:xfrm xmlns:a="http://schemas.openxmlformats.org/drawingml/2006/main">
            <a:off x="5048250" y="161925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1">
                <a:solidFill>
                  <a:srgbClr val="7041D9"/>
                </a:solidFill>
              </a:defRPr>
            </a:defPPr>
          </a:lstStyle>
          <a:p xmlns:a="http://schemas.openxmlformats.org/drawingml/2006/main">
            <a:pPr algn="l">
              <a:defRPr sz="1725" b="1">
                <a:solidFill>
                  <a:srgbClr val="7041D9"/>
                </a:solidFill>
              </a:defRPr>
            </a:pPr>
            <a:r>
              <a:rPr sz="1725" b="1">
                <a:solidFill>
                  <a:srgbClr val="7041D9"/>
                </a:solidFill>
              </a:rPr>
              <a:t>The product controls</a:t>
            </a:r>
          </a:p>
        </p:txBody>
      </p:sp>
      <p:sp>
        <p:nvSpPr>
          <p:cNvPr id="178" name="">
            <a:extLst xmlns:a="http://schemas.openxmlformats.org/drawingml/2006/main">
              <a:ext uri="{FF2B5EF4-FFF2-40B4-BE49-F238E27FC236}">
                <a16:creationId xmlns:a16="http://schemas.microsoft.com/office/drawing/2014/main" id="{BB7499A6-A69B-428E-AB48-34CAFC9865AF}"/>
              </a:ext>
            </a:extLst>
          </p:cNvPr>
          <p:cNvSpPr>
            <a:spLocks xmlns:a="http://schemas.openxmlformats.org/drawingml/2006/main" noGrp="1"/>
          </p:cNvSpPr>
          <p:nvPr/>
        </p:nvSpPr>
        <p:spPr>
          <a:xfrm xmlns:a="http://schemas.openxmlformats.org/drawingml/2006/main">
            <a:off x="5076825" y="2190750"/>
            <a:ext cx="266700" cy="266700"/>
          </a:xfrm>
          <a:prstGeom xmlns:a="http://schemas.openxmlformats.org/drawingml/2006/main" prst="roundRect">
            <a:avLst>
              <a:gd name="adj" fmla="val 50000"/>
            </a:avLst>
          </a:prstGeom>
          <a:solidFill xmlns:a="http://schemas.openxmlformats.org/drawingml/2006/main">
            <a:srgbClr val="7041D9"/>
          </a:solidFill>
          <a:ln xmlns:a="http://schemas.openxmlformats.org/drawingml/2006/main" w="0">
            <a:noFill/>
            <a:prstDash val="solid"/>
          </a:ln>
        </p:spPr>
        <p:txBody>
          <a:bodyPr xmlns:a="http://schemas.openxmlformats.org/drawingml/2006/main" lIns="28575" tIns="28575" rIns="28575" bIns="28575" anchor="ctr"/>
          <a:lstStyle xmlns:a="http://schemas.openxmlformats.org/drawingml/2006/main">
            <a:defPPr algn="ctr">
              <a:defRPr sz="1200" b="1">
                <a:solidFill>
                  <a:srgbClr val="FFFFFF"/>
                </a:solidFill>
              </a:defRPr>
            </a:defPPr>
          </a:lstStyle>
          <a:p xmlns:a="http://schemas.openxmlformats.org/drawingml/2006/main">
            <a:pPr algn="ctr">
              <a:defRPr sz="1200" b="1">
                <a:solidFill>
                  <a:srgbClr val="FFFFFF"/>
                </a:solidFill>
              </a:defRPr>
            </a:pPr>
            <a:r>
              <a:rPr sz="1200" b="1">
                <a:solidFill>
                  <a:srgbClr val="FFFFFF"/>
                </a:solidFill>
              </a:rPr>
              <a:t>1</a:t>
            </a:r>
          </a:p>
        </p:txBody>
      </p:sp>
      <p:sp>
        <p:nvSpPr>
          <p:cNvPr id="179" name="">
            <a:extLst xmlns:a="http://schemas.openxmlformats.org/drawingml/2006/main">
              <a:ext uri="{FF2B5EF4-FFF2-40B4-BE49-F238E27FC236}">
                <a16:creationId xmlns:a16="http://schemas.microsoft.com/office/drawing/2014/main" id="{66B70B54-7E73-41AA-BF8F-17BE21F441F3}"/>
              </a:ext>
            </a:extLst>
          </p:cNvPr>
          <p:cNvSpPr>
            <a:spLocks xmlns:a="http://schemas.openxmlformats.org/drawingml/2006/main" noGrp="1"/>
          </p:cNvSpPr>
          <p:nvPr/>
        </p:nvSpPr>
        <p:spPr>
          <a:xfrm xmlns:a="http://schemas.openxmlformats.org/drawingml/2006/main">
            <a:off x="5476875" y="2181225"/>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11827"/>
                </a:solidFill>
              </a:defRPr>
            </a:defPPr>
          </a:lstStyle>
          <a:p xmlns:a="http://schemas.openxmlformats.org/drawingml/2006/main">
            <a:pPr algn="l">
              <a:defRPr sz="1200" b="0">
                <a:solidFill>
                  <a:srgbClr val="111827"/>
                </a:solidFill>
              </a:defRPr>
            </a:pPr>
            <a:r>
              <a:rPr sz="1200" b="0">
                <a:solidFill>
                  <a:srgbClr val="111827"/>
                </a:solidFill>
              </a:rPr>
              <a:t>Owner confirmation before publishing</a:t>
            </a:r>
          </a:p>
        </p:txBody>
      </p:sp>
      <p:sp>
        <p:nvSpPr>
          <p:cNvPr id="180" name="">
            <a:extLst xmlns:a="http://schemas.openxmlformats.org/drawingml/2006/main">
              <a:ext uri="{FF2B5EF4-FFF2-40B4-BE49-F238E27FC236}">
                <a16:creationId xmlns:a16="http://schemas.microsoft.com/office/drawing/2014/main" id="{096BF852-41CE-472F-A475-F71CDA94EE88}"/>
              </a:ext>
            </a:extLst>
          </p:cNvPr>
          <p:cNvSpPr>
            <a:spLocks xmlns:a="http://schemas.openxmlformats.org/drawingml/2006/main" noGrp="1"/>
          </p:cNvSpPr>
          <p:nvPr/>
        </p:nvSpPr>
        <p:spPr>
          <a:xfrm xmlns:a="http://schemas.openxmlformats.org/drawingml/2006/main">
            <a:off x="5076825" y="2686050"/>
            <a:ext cx="266700" cy="266700"/>
          </a:xfrm>
          <a:prstGeom xmlns:a="http://schemas.openxmlformats.org/drawingml/2006/main" prst="roundRect">
            <a:avLst>
              <a:gd name="adj" fmla="val 50000"/>
            </a:avLst>
          </a:prstGeom>
          <a:solidFill xmlns:a="http://schemas.openxmlformats.org/drawingml/2006/main">
            <a:srgbClr val="7041D9"/>
          </a:solidFill>
          <a:ln xmlns:a="http://schemas.openxmlformats.org/drawingml/2006/main" w="0">
            <a:noFill/>
            <a:prstDash val="solid"/>
          </a:ln>
        </p:spPr>
        <p:txBody>
          <a:bodyPr xmlns:a="http://schemas.openxmlformats.org/drawingml/2006/main" lIns="28575" tIns="28575" rIns="28575" bIns="28575" anchor="ctr"/>
          <a:lstStyle xmlns:a="http://schemas.openxmlformats.org/drawingml/2006/main">
            <a:defPPr algn="ctr">
              <a:defRPr sz="1200" b="1">
                <a:solidFill>
                  <a:srgbClr val="FFFFFF"/>
                </a:solidFill>
              </a:defRPr>
            </a:defPPr>
          </a:lstStyle>
          <a:p xmlns:a="http://schemas.openxmlformats.org/drawingml/2006/main">
            <a:pPr algn="ctr">
              <a:defRPr sz="1200" b="1">
                <a:solidFill>
                  <a:srgbClr val="FFFFFF"/>
                </a:solidFill>
              </a:defRPr>
            </a:pPr>
            <a:r>
              <a:rPr sz="1200" b="1">
                <a:solidFill>
                  <a:srgbClr val="FFFFFF"/>
                </a:solidFill>
              </a:rPr>
              <a:t>2</a:t>
            </a:r>
          </a:p>
        </p:txBody>
      </p:sp>
      <p:sp>
        <p:nvSpPr>
          <p:cNvPr id="181" name="">
            <a:extLst xmlns:a="http://schemas.openxmlformats.org/drawingml/2006/main">
              <a:ext uri="{FF2B5EF4-FFF2-40B4-BE49-F238E27FC236}">
                <a16:creationId xmlns:a16="http://schemas.microsoft.com/office/drawing/2014/main" id="{806E25AF-6E1D-49AB-8C4E-2F74B8D61005}"/>
              </a:ext>
            </a:extLst>
          </p:cNvPr>
          <p:cNvSpPr>
            <a:spLocks xmlns:a="http://schemas.openxmlformats.org/drawingml/2006/main" noGrp="1"/>
          </p:cNvSpPr>
          <p:nvPr/>
        </p:nvSpPr>
        <p:spPr>
          <a:xfrm xmlns:a="http://schemas.openxmlformats.org/drawingml/2006/main">
            <a:off x="5476875" y="2676525"/>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11827"/>
                </a:solidFill>
              </a:defRPr>
            </a:defPPr>
          </a:lstStyle>
          <a:p xmlns:a="http://schemas.openxmlformats.org/drawingml/2006/main">
            <a:pPr algn="l">
              <a:defRPr sz="1200" b="0">
                <a:solidFill>
                  <a:srgbClr val="111827"/>
                </a:solidFill>
              </a:defRPr>
            </a:pPr>
            <a:r>
              <a:rPr sz="1200" b="0">
                <a:solidFill>
                  <a:srgbClr val="111827"/>
                </a:solidFill>
              </a:rPr>
              <a:t>Reward only after a completed handoff</a:t>
            </a:r>
          </a:p>
        </p:txBody>
      </p:sp>
      <p:sp>
        <p:nvSpPr>
          <p:cNvPr id="182" name="">
            <a:extLst xmlns:a="http://schemas.openxmlformats.org/drawingml/2006/main">
              <a:ext uri="{FF2B5EF4-FFF2-40B4-BE49-F238E27FC236}">
                <a16:creationId xmlns:a16="http://schemas.microsoft.com/office/drawing/2014/main" id="{70408E49-FE67-45AD-8FB0-1F1228CEBD3F}"/>
              </a:ext>
            </a:extLst>
          </p:cNvPr>
          <p:cNvSpPr>
            <a:spLocks xmlns:a="http://schemas.openxmlformats.org/drawingml/2006/main" noGrp="1"/>
          </p:cNvSpPr>
          <p:nvPr/>
        </p:nvSpPr>
        <p:spPr>
          <a:xfrm xmlns:a="http://schemas.openxmlformats.org/drawingml/2006/main">
            <a:off x="5076825" y="3181350"/>
            <a:ext cx="266700" cy="266700"/>
          </a:xfrm>
          <a:prstGeom xmlns:a="http://schemas.openxmlformats.org/drawingml/2006/main" prst="roundRect">
            <a:avLst>
              <a:gd name="adj" fmla="val 50000"/>
            </a:avLst>
          </a:prstGeom>
          <a:solidFill xmlns:a="http://schemas.openxmlformats.org/drawingml/2006/main">
            <a:srgbClr val="7041D9"/>
          </a:solidFill>
          <a:ln xmlns:a="http://schemas.openxmlformats.org/drawingml/2006/main" w="0">
            <a:noFill/>
            <a:prstDash val="solid"/>
          </a:ln>
        </p:spPr>
        <p:txBody>
          <a:bodyPr xmlns:a="http://schemas.openxmlformats.org/drawingml/2006/main" lIns="28575" tIns="28575" rIns="28575" bIns="28575" anchor="ctr"/>
          <a:lstStyle xmlns:a="http://schemas.openxmlformats.org/drawingml/2006/main">
            <a:defPPr algn="ctr">
              <a:defRPr sz="1200" b="1">
                <a:solidFill>
                  <a:srgbClr val="FFFFFF"/>
                </a:solidFill>
              </a:defRPr>
            </a:defPPr>
          </a:lstStyle>
          <a:p xmlns:a="http://schemas.openxmlformats.org/drawingml/2006/main">
            <a:pPr algn="ctr">
              <a:defRPr sz="1200" b="1">
                <a:solidFill>
                  <a:srgbClr val="FFFFFF"/>
                </a:solidFill>
              </a:defRPr>
            </a:pPr>
            <a:r>
              <a:rPr sz="1200" b="1">
                <a:solidFill>
                  <a:srgbClr val="FFFFFF"/>
                </a:solidFill>
              </a:rPr>
              <a:t>3</a:t>
            </a:r>
          </a:p>
        </p:txBody>
      </p:sp>
      <p:sp>
        <p:nvSpPr>
          <p:cNvPr id="183" name="">
            <a:extLst xmlns:a="http://schemas.openxmlformats.org/drawingml/2006/main">
              <a:ext uri="{FF2B5EF4-FFF2-40B4-BE49-F238E27FC236}">
                <a16:creationId xmlns:a16="http://schemas.microsoft.com/office/drawing/2014/main" id="{5F78B8B7-9032-4DA8-BDD8-DF63AAC6A650}"/>
              </a:ext>
            </a:extLst>
          </p:cNvPr>
          <p:cNvSpPr>
            <a:spLocks xmlns:a="http://schemas.openxmlformats.org/drawingml/2006/main" noGrp="1"/>
          </p:cNvSpPr>
          <p:nvPr/>
        </p:nvSpPr>
        <p:spPr>
          <a:xfrm xmlns:a="http://schemas.openxmlformats.org/drawingml/2006/main">
            <a:off x="5476875" y="3171825"/>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11827"/>
                </a:solidFill>
              </a:defRPr>
            </a:defPPr>
          </a:lstStyle>
          <a:p xmlns:a="http://schemas.openxmlformats.org/drawingml/2006/main">
            <a:pPr algn="l">
              <a:defRPr sz="1200" b="0">
                <a:solidFill>
                  <a:srgbClr val="111827"/>
                </a:solidFill>
              </a:defRPr>
            </a:pPr>
            <a:r>
              <a:rPr sz="1200" b="0">
                <a:solidFill>
                  <a:srgbClr val="111827"/>
                </a:solidFill>
              </a:rPr>
              <a:t>Deterministic material calculations</a:t>
            </a:r>
          </a:p>
        </p:txBody>
      </p:sp>
      <p:sp>
        <p:nvSpPr>
          <p:cNvPr id="184" name="">
            <a:extLst xmlns:a="http://schemas.openxmlformats.org/drawingml/2006/main">
              <a:ext uri="{FF2B5EF4-FFF2-40B4-BE49-F238E27FC236}">
                <a16:creationId xmlns:a16="http://schemas.microsoft.com/office/drawing/2014/main" id="{278AC370-892D-4DBB-85E0-E12DD6DC6A65}"/>
              </a:ext>
            </a:extLst>
          </p:cNvPr>
          <p:cNvSpPr>
            <a:spLocks xmlns:a="http://schemas.openxmlformats.org/drawingml/2006/main" noGrp="1"/>
          </p:cNvSpPr>
          <p:nvPr/>
        </p:nvSpPr>
        <p:spPr>
          <a:xfrm xmlns:a="http://schemas.openxmlformats.org/drawingml/2006/main">
            <a:off x="5076825" y="3676650"/>
            <a:ext cx="266700" cy="266700"/>
          </a:xfrm>
          <a:prstGeom xmlns:a="http://schemas.openxmlformats.org/drawingml/2006/main" prst="roundRect">
            <a:avLst>
              <a:gd name="adj" fmla="val 50000"/>
            </a:avLst>
          </a:prstGeom>
          <a:solidFill xmlns:a="http://schemas.openxmlformats.org/drawingml/2006/main">
            <a:srgbClr val="7041D9"/>
          </a:solidFill>
          <a:ln xmlns:a="http://schemas.openxmlformats.org/drawingml/2006/main" w="0">
            <a:noFill/>
            <a:prstDash val="solid"/>
          </a:ln>
        </p:spPr>
        <p:txBody>
          <a:bodyPr xmlns:a="http://schemas.openxmlformats.org/drawingml/2006/main" lIns="28575" tIns="28575" rIns="28575" bIns="28575" anchor="ctr"/>
          <a:lstStyle xmlns:a="http://schemas.openxmlformats.org/drawingml/2006/main">
            <a:defPPr algn="ctr">
              <a:defRPr sz="1200" b="1">
                <a:solidFill>
                  <a:srgbClr val="FFFFFF"/>
                </a:solidFill>
              </a:defRPr>
            </a:defPPr>
          </a:lstStyle>
          <a:p xmlns:a="http://schemas.openxmlformats.org/drawingml/2006/main">
            <a:pPr algn="ctr">
              <a:defRPr sz="1200" b="1">
                <a:solidFill>
                  <a:srgbClr val="FFFFFF"/>
                </a:solidFill>
              </a:defRPr>
            </a:pPr>
            <a:r>
              <a:rPr sz="1200" b="1">
                <a:solidFill>
                  <a:srgbClr val="FFFFFF"/>
                </a:solidFill>
              </a:rPr>
              <a:t>4</a:t>
            </a:r>
          </a:p>
        </p:txBody>
      </p:sp>
      <p:sp>
        <p:nvSpPr>
          <p:cNvPr id="185" name="">
            <a:extLst xmlns:a="http://schemas.openxmlformats.org/drawingml/2006/main">
              <a:ext uri="{FF2B5EF4-FFF2-40B4-BE49-F238E27FC236}">
                <a16:creationId xmlns:a16="http://schemas.microsoft.com/office/drawing/2014/main" id="{0D74B641-1069-4C7E-BA5E-64B5598B0B2C}"/>
              </a:ext>
            </a:extLst>
          </p:cNvPr>
          <p:cNvSpPr>
            <a:spLocks xmlns:a="http://schemas.openxmlformats.org/drawingml/2006/main" noGrp="1"/>
          </p:cNvSpPr>
          <p:nvPr/>
        </p:nvSpPr>
        <p:spPr>
          <a:xfrm xmlns:a="http://schemas.openxmlformats.org/drawingml/2006/main">
            <a:off x="5476875" y="3667125"/>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b="0">
                <a:solidFill>
                  <a:srgbClr val="111827"/>
                </a:solidFill>
              </a:defRPr>
            </a:defPPr>
          </a:lstStyle>
          <a:p xmlns:a="http://schemas.openxmlformats.org/drawingml/2006/main">
            <a:pPr algn="l">
              <a:defRPr sz="1200" b="0">
                <a:solidFill>
                  <a:srgbClr val="111827"/>
                </a:solidFill>
              </a:defRPr>
            </a:pPr>
            <a:r>
              <a:rPr sz="1200" b="0">
                <a:solidFill>
                  <a:srgbClr val="111827"/>
                </a:solidFill>
              </a:rPr>
              <a:t>Partner status until the recipient confirms receipt</a:t>
            </a:r>
          </a:p>
        </p:txBody>
      </p:sp>
      <p:sp>
        <p:nvSpPr>
          <p:cNvPr id="186" name="">
            <a:extLst xmlns:a="http://schemas.openxmlformats.org/drawingml/2006/main">
              <a:ext uri="{FF2B5EF4-FFF2-40B4-BE49-F238E27FC236}">
                <a16:creationId xmlns:a16="http://schemas.microsoft.com/office/drawing/2014/main" id="{299EBCB5-58E4-4E1B-B9A3-A51F83A79A7D}"/>
              </a:ext>
            </a:extLst>
          </p:cNvPr>
          <p:cNvSpPr>
            <a:spLocks xmlns:a="http://schemas.openxmlformats.org/drawingml/2006/main" noGrp="1"/>
          </p:cNvSpPr>
          <p:nvPr/>
        </p:nvSpPr>
        <p:spPr>
          <a:xfrm xmlns:a="http://schemas.openxmlformats.org/drawingml/2006/main">
            <a:off x="1000125" y="4572000"/>
            <a:ext cx="714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1">
                <a:solidFill>
                  <a:srgbClr val="9A6700"/>
                </a:solidFill>
              </a:defRPr>
            </a:defPPr>
          </a:lstStyle>
          <a:p xmlns:a="http://schemas.openxmlformats.org/drawingml/2006/main">
            <a:pPr algn="ctr">
              <a:defRPr sz="1050" b="1">
                <a:solidFill>
                  <a:srgbClr val="9A6700"/>
                </a:solidFill>
              </a:defRPr>
            </a:pPr>
            <a:r>
              <a:rPr sz="1050" b="1">
                <a:solidFill>
                  <a:srgbClr val="9A6700"/>
                </a:solidFill>
              </a:rPr>
              <a:t>The submission should describe live AI only after Gemini access and end-to-end behavior are verified.</a:t>
            </a:r>
          </a:p>
        </p:txBody>
      </p:sp>
    </p:spTree>
    <p:extLst>
      <p:ext uri="{BB962C8B-B14F-4D97-AF65-F5344CB8AC3E}">
        <p14:creationId xmlns:p14="http://schemas.microsoft.com/office/powerpoint/2010/main" val="20604036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171" name="Google Shape;171;p28">
            <a:extLst xmlns:a="http://schemas.openxmlformats.org/drawingml/2006/main">
              <a:ext uri="{FF2B5EF4-FFF2-40B4-BE49-F238E27FC236}">
                <a16:creationId xmlns:a16="http://schemas.microsoft.com/office/drawing/2014/main" id="{C2CEAA6E-198A-491D-831D-DED4D4BCF25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660900c8df14fcb">
            <a:alphaModFix/>
          </a:blip>
          <a:srcRect xmlns:a="http://schemas.openxmlformats.org/drawingml/2006/main" l="0" t="0" r="0" b="98001"/>
          <a:stretch xmlns:a="http://schemas.openxmlformats.org/drawingml/2006/main"/>
        </p:blipFill>
        <p:spPr>
          <a:xfrm xmlns:a="http://schemas.openxmlformats.org/drawingml/2006/main">
            <a:off x="0" y="5093562"/>
            <a:ext cx="9144000" cy="54275"/>
          </a:xfrm>
          <a:prstGeom xmlns:a="http://schemas.openxmlformats.org/drawingml/2006/main" prst="rect">
            <a:avLst/>
          </a:prstGeom>
          <a:ln xmlns:a="http://schemas.openxmlformats.org/drawingml/2006/main">
            <a:noFill/>
          </a:ln>
        </p:spPr>
      </p:pic>
      <p:pic>
        <p:nvPicPr>
          <p:cNvPr id="172" name="Google Shape;172;p28">
            <a:extLst xmlns:a="http://schemas.openxmlformats.org/drawingml/2006/main">
              <a:ext uri="{FF2B5EF4-FFF2-40B4-BE49-F238E27FC236}">
                <a16:creationId xmlns:a16="http://schemas.microsoft.com/office/drawing/2014/main" id="{AACD2744-A117-4694-BBBC-0C1FC55ECD85}"/>
              </a:ext>
            </a:extLst>
          </p:cNvPr>
          <p:cNvPicPr>
            <a:picLocks xmlns:a="http://schemas.openxmlformats.org/drawingml/2006/main" noChangeAspect="1"/>
          </p:cNvPicPr>
          <p:nvPr/>
        </p:nvPicPr>
        <p:blipFill>
          <a:blip xmlns:r="http://schemas.openxmlformats.org/officeDocument/2006/relationships" xmlns:a="http://schemas.openxmlformats.org/drawingml/2006/main" r:embed="R32780d4a21d245c1">
            <a:alphaModFix/>
          </a:blip>
          <a:stretch xmlns:a="http://schemas.openxmlformats.org/drawingml/2006/main">
            <a:fillRect l="0" t="0" r="0" b="0"/>
          </a:stretch>
        </p:blipFill>
        <p:spPr>
          <a:xfrm xmlns:a="http://schemas.openxmlformats.org/drawingml/2006/main">
            <a:off x="0" y="0"/>
            <a:ext cx="9144000" cy="5143516"/>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876534283"/>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2026-10-17T08:17:07.4520000Z</dcterms:created>
  <dcterms:modified xsi:type="dcterms:W3CDTF">2026-10-17T08:17:07.4520000Z</dcterms:modified>
</coreProperties>
</file>