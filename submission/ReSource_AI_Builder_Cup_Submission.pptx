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jpeg" ContentType="image/jpeg"/>
  <Default Extension="bin" ContentType="image/webp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0058a1a77f84b07" /><Relationship Type="http://schemas.openxmlformats.org/officeDocument/2006/relationships/extended-properties" Target="/docProps/app.xml" Id="R9ab2daf838bb46b4" /><Relationship Type="http://schemas.openxmlformats.org/officeDocument/2006/relationships/officeDocument" Target="/ppt/presentation.xml" Id="R42c40411fdc44788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b71d0a8f10ef4503"/>
  </p:sldMasterIdLst>
  <p:notesMasterIdLst>
    <p:notesMasterId xmlns:r="http://schemas.openxmlformats.org/officeDocument/2006/relationships" r:id="R2486c1889e95428e"/>
  </p:notesMasterIdLst>
  <p:sldIdLst>
    <p:sldId xmlns:r="http://schemas.openxmlformats.org/officeDocument/2006/relationships" id="256" r:id="R8243577088604c1b"/>
    <p:sldId xmlns:r="http://schemas.openxmlformats.org/officeDocument/2006/relationships" id="257" r:id="R36d46633872b4e86"/>
    <p:sldId xmlns:r="http://schemas.openxmlformats.org/officeDocument/2006/relationships" id="258" r:id="Reb8a1dc07189427c"/>
    <p:sldId xmlns:r="http://schemas.openxmlformats.org/officeDocument/2006/relationships" id="259" r:id="R140a1ee06d984273"/>
    <p:sldId xmlns:r="http://schemas.openxmlformats.org/officeDocument/2006/relationships" id="260" r:id="Rb2628eadd6a14cab"/>
    <p:sldId xmlns:r="http://schemas.openxmlformats.org/officeDocument/2006/relationships" id="261" r:id="R43789b7af35c4353"/>
    <p:sldId xmlns:r="http://schemas.openxmlformats.org/officeDocument/2006/relationships" id="262" r:id="R6346b1c6c8294c41"/>
    <p:sldId xmlns:r="http://schemas.openxmlformats.org/officeDocument/2006/relationships" id="263" r:id="R5b7634c23b44418a"/>
    <p:sldId xmlns:r="http://schemas.openxmlformats.org/officeDocument/2006/relationships" id="264" r:id="Ra29da7a6ca2c47f8"/>
    <p:sldId xmlns:r="http://schemas.openxmlformats.org/officeDocument/2006/relationships" id="265" r:id="Re8e293c826bc4c28"/>
    <p:sldId xmlns:r="http://schemas.openxmlformats.org/officeDocument/2006/relationships" id="266" r:id="Rc15cd80f9c4a4e7e"/>
    <p:sldId xmlns:r="http://schemas.openxmlformats.org/officeDocument/2006/relationships" id="267" r:id="R3813c24cb4e84461"/>
    <p:sldId xmlns:r="http://schemas.openxmlformats.org/officeDocument/2006/relationships" id="268" r:id="Ra7421aa05ec04623"/>
    <p:sldId xmlns:r="http://schemas.openxmlformats.org/officeDocument/2006/relationships" id="269" r:id="R3bf94c2347e84370"/>
    <p:sldId xmlns:r="http://schemas.openxmlformats.org/officeDocument/2006/relationships" id="270" r:id="Re6a040aec5f04201"/>
    <p:sldId xmlns:r="http://schemas.openxmlformats.org/officeDocument/2006/relationships" id="271" r:id="R1f88ab18a0eb4ea0"/>
  </p:sldIdLst>
  <p:sldSz cx="9144000" cy="5143500"/>
  <p:notesSz cx="6858000" cy="9144000"/>
  <p:embeddedFontLst>
    <p:embeddedFont>
      <p:font typeface="Google Sans Flex Medium"/>
      <p:regular xmlns:r="http://schemas.openxmlformats.org/officeDocument/2006/relationships" r:id="R61544b28928b4ae4"/>
      <p:bold xmlns:r="http://schemas.openxmlformats.org/officeDocument/2006/relationships" r:id="R0c6a3de30d0d4b15"/>
    </p:embeddedFont>
    <p:embeddedFont>
      <p:font typeface="Google Sans Flex"/>
      <p:regular xmlns:r="http://schemas.openxmlformats.org/officeDocument/2006/relationships" r:id="Rf4d5a8e7255342e2"/>
      <p:bold xmlns:r="http://schemas.openxmlformats.org/officeDocument/2006/relationships" r:id="R00106443c0b04a2f"/>
    </p:embeddedFont>
    <p:embeddedFont>
      <p:font typeface="Google Sans Flex SemiBold"/>
      <p:regular xmlns:r="http://schemas.openxmlformats.org/officeDocument/2006/relationships" r:id="Re9ae22a31ced45c5"/>
      <p:bold xmlns:r="http://schemas.openxmlformats.org/officeDocument/2006/relationships" r:id="Re9a0f100493940cc"/>
    </p:embeddedFont>
  </p:embeddedFontLst>
  <p:defaultTextStyle>
    <a:def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None/>
    </a:defPPr>
    <a:lvl1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1pPr>
    <a:lvl2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2pPr>
    <a:lvl3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3pPr>
    <a:lvl4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4pPr>
    <a:lvl5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5pPr>
    <a:lvl6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6pPr>
    <a:lvl7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7pPr>
    <a:lvl8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8pPr>
    <a:lvl9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6b8c02cdb214685" /><Relationship Type="http://schemas.openxmlformats.org/officeDocument/2006/relationships/slideMaster" Target="/ppt/slideMasters/slideMaster1.xml" Id="Rb71d0a8f10ef4503" /><Relationship Type="http://schemas.openxmlformats.org/officeDocument/2006/relationships/notesMaster" Target="/ppt/notesMasters/notesMaster1.xml" Id="R2486c1889e95428e" /><Relationship Type="http://schemas.openxmlformats.org/officeDocument/2006/relationships/presProps" Target="/ppt/presProps.xml" Id="R880097b405714c47" /><Relationship Type="http://schemas.openxmlformats.org/officeDocument/2006/relationships/viewProps" Target="/ppt/viewProps.xml" Id="Re2114775823248a4" /><Relationship Type="http://schemas.openxmlformats.org/officeDocument/2006/relationships/tableStyles" Target="/ppt/tableStyles.xml" Id="R2007a273bff64f9f" /><Relationship Type="http://schemas.openxmlformats.org/officeDocument/2006/relationships/font" Target="/ppt/fonts/font.dat" Id="R61544b28928b4ae4" /><Relationship Type="http://schemas.openxmlformats.org/officeDocument/2006/relationships/font" Target="/ppt/fonts/font2.dat" Id="R0c6a3de30d0d4b15" /><Relationship Type="http://schemas.openxmlformats.org/officeDocument/2006/relationships/font" Target="/ppt/fonts/font3.dat" Id="Rf4d5a8e7255342e2" /><Relationship Type="http://schemas.openxmlformats.org/officeDocument/2006/relationships/font" Target="/ppt/fonts/font4.dat" Id="R00106443c0b04a2f" /><Relationship Type="http://schemas.openxmlformats.org/officeDocument/2006/relationships/font" Target="/ppt/fonts/font5.dat" Id="Re9ae22a31ced45c5" /><Relationship Type="http://schemas.openxmlformats.org/officeDocument/2006/relationships/font" Target="/ppt/fonts/font6.dat" Id="Re9a0f100493940cc" /><Relationship Type="http://schemas.openxmlformats.org/officeDocument/2006/relationships/slide" Target="/ppt/slides/slide1.xml" Id="R8243577088604c1b" /><Relationship Type="http://schemas.openxmlformats.org/officeDocument/2006/relationships/slide" Target="/ppt/slides/slide2.xml" Id="R36d46633872b4e86" /><Relationship Type="http://schemas.openxmlformats.org/officeDocument/2006/relationships/slide" Target="/ppt/slides/slide3.xml" Id="Reb8a1dc07189427c" /><Relationship Type="http://schemas.openxmlformats.org/officeDocument/2006/relationships/slide" Target="/ppt/slides/slide4.xml" Id="R140a1ee06d984273" /><Relationship Type="http://schemas.openxmlformats.org/officeDocument/2006/relationships/slide" Target="/ppt/slides/slide5.xml" Id="Rb2628eadd6a14cab" /><Relationship Type="http://schemas.openxmlformats.org/officeDocument/2006/relationships/slide" Target="/ppt/slides/slide6.xml" Id="R43789b7af35c4353" /><Relationship Type="http://schemas.openxmlformats.org/officeDocument/2006/relationships/slide" Target="/ppt/slides/slide7.xml" Id="R6346b1c6c8294c41" /><Relationship Type="http://schemas.openxmlformats.org/officeDocument/2006/relationships/slide" Target="/ppt/slides/slide8.xml" Id="R5b7634c23b44418a" /><Relationship Type="http://schemas.openxmlformats.org/officeDocument/2006/relationships/slide" Target="/ppt/slides/slide9.xml" Id="Ra29da7a6ca2c47f8" /><Relationship Type="http://schemas.openxmlformats.org/officeDocument/2006/relationships/slide" Target="/ppt/slides/slide10.xml" Id="Re8e293c826bc4c28" /><Relationship Type="http://schemas.openxmlformats.org/officeDocument/2006/relationships/slide" Target="/ppt/slides/slide11.xml" Id="Rc15cd80f9c4a4e7e" /><Relationship Type="http://schemas.openxmlformats.org/officeDocument/2006/relationships/slide" Target="/ppt/slides/slide12.xml" Id="R3813c24cb4e84461" /><Relationship Type="http://schemas.openxmlformats.org/officeDocument/2006/relationships/slide" Target="/ppt/slides/slide13.xml" Id="Ra7421aa05ec04623" /><Relationship Type="http://schemas.openxmlformats.org/officeDocument/2006/relationships/slide" Target="/ppt/slides/slide14.xml" Id="R3bf94c2347e84370" /><Relationship Type="http://schemas.openxmlformats.org/officeDocument/2006/relationships/slide" Target="/ppt/slides/slide15.xml" Id="Re6a040aec5f04201" /><Relationship Type="http://schemas.openxmlformats.org/officeDocument/2006/relationships/slide" Target="/ppt/slides/slide16.xml" Id="R1f88ab18a0eb4ea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8f13ca93e724fc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de60c850b0c4d00" /><Relationship Type="http://schemas.openxmlformats.org/officeDocument/2006/relationships/notesMaster" Target="/ppt/notesMasters/notesMaster1.xml" Id="R63ad2ceb2acc486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b1b07841b9e4beb" /><Relationship Type="http://schemas.openxmlformats.org/officeDocument/2006/relationships/notesMaster" Target="/ppt/notesMasters/notesMaster1.xml" Id="R837c7ce9a73a4ac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4ab8e7274c249c3" /><Relationship Type="http://schemas.openxmlformats.org/officeDocument/2006/relationships/notesMaster" Target="/ppt/notesMasters/notesMaster1.xml" Id="Rc3c33c2ca52b4e2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f8b3d6d2b3347c0" /><Relationship Type="http://schemas.openxmlformats.org/officeDocument/2006/relationships/notesMaster" Target="/ppt/notesMasters/notesMaster1.xml" Id="Rad969a84382348b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ebff85252c843c0" /><Relationship Type="http://schemas.openxmlformats.org/officeDocument/2006/relationships/notesMaster" Target="/ppt/notesMasters/notesMaster1.xml" Id="Rd05f28dcd8484a7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c39ba930b134803" /><Relationship Type="http://schemas.openxmlformats.org/officeDocument/2006/relationships/notesMaster" Target="/ppt/notesMasters/notesMaster1.xml" Id="R42c772086f8f423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ca9b77f7c5742ed" /><Relationship Type="http://schemas.openxmlformats.org/officeDocument/2006/relationships/notesMaster" Target="/ppt/notesMasters/notesMaster1.xml" Id="Re9b33d949a1e404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0fc92017c2648e7" /><Relationship Type="http://schemas.openxmlformats.org/officeDocument/2006/relationships/notesMaster" Target="/ppt/notesMasters/notesMaster1.xml" Id="Rba79b5528dde476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e6bf42337b2420a" /><Relationship Type="http://schemas.openxmlformats.org/officeDocument/2006/relationships/notesMaster" Target="/ppt/notesMasters/notesMaster1.xml" Id="R5c4361d2d6864e2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ae98c98758746ad" /><Relationship Type="http://schemas.openxmlformats.org/officeDocument/2006/relationships/notesMaster" Target="/ppt/notesMasters/notesMaster1.xml" Id="R09629da5ec4440c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6ac5cba6075434d" /><Relationship Type="http://schemas.openxmlformats.org/officeDocument/2006/relationships/notesMaster" Target="/ppt/notesMasters/notesMaster1.xml" Id="R3fa691ac70be45d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f558f29e76a4ae4" /><Relationship Type="http://schemas.openxmlformats.org/officeDocument/2006/relationships/notesMaster" Target="/ppt/notesMasters/notesMaster1.xml" Id="Rc3a1b0da818843e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dd7f2d2b9704331" /><Relationship Type="http://schemas.openxmlformats.org/officeDocument/2006/relationships/notesMaster" Target="/ppt/notesMasters/notesMaster1.xml" Id="Rbfd047a88882424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1a515f629e84ab4" /><Relationship Type="http://schemas.openxmlformats.org/officeDocument/2006/relationships/notesMaster" Target="/ppt/notesMasters/notesMaster1.xml" Id="R19d5cccd2cde42b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2d7dbf9835547f9" /><Relationship Type="http://schemas.openxmlformats.org/officeDocument/2006/relationships/notesMaster" Target="/ppt/notesMasters/notesMaster1.xml" Id="R90b0311829144f6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2c057a24ca9413f" /><Relationship Type="http://schemas.openxmlformats.org/officeDocument/2006/relationships/notesMaster" Target="/ppt/notesMasters/notesMaster1.xml" Id="R77620c7ac324432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Team details were confirmed from the supplied event-dashboard screenshot. Product framing: RESOURCE_PLAN.md and COMPETITION_STRATEGY.md.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Original template instruction page retained.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Sources: COMPETITION_STRATEGY.md, RESOURCE_PLAN.md and BRAND_GUIDELINES.md. Brand artwork is a project asset supplied by the team.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COMPETITION_STRATEGY.md. The deck avoids unsupported claims about market leadership or competitor performance.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Implemented prototype behavior and current limitations: PRODUCT.md, DESIGN.md and resource-app/README.md. Live Gemini and Firebase persistence remain planned work.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RESOURCE_PLAN.md and COMPETITION_STRATEGY.md. The scenario is a proposed demonstration, not a measured user study.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DESIGN.md. These are simplified editable mock diagrams showing the product's design evolution.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Proposed architecture from RESOURCE_PLAN.md. Hosting, Firestore, Auth, App Check and live Gemini access require final deployment verification.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Sources: resource-app/package.json, RESOURCE_PLAN.md and UI_UX_NOTES.md. Google services remain the proposed deployment stack until public deployment is verified.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RESOURCE_PLAN.md. ₹0 is a target based on the proposed unbilled architecture, not a guarantee of availability or quota.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 image: demo/resource_agent_demo.webp, a project-owned prototype screenshot.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Verified items come from resource-app/README.md and DESIGN.md. Unmeasured benchmark plans come from SUBMISSION_CHECKLIST.md and the submission workbook.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Sources: RESOURCE_PLAN.md and PRODUCT.md. Future items are deliberately separated from current prototype capability.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GitHub URL comes from the repository's configured origin remote. Video and public deployment links are not yet available and must be supplied before submission.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Sources: COMPETITION_STRATEGY.md, RESOURCE_PLAN.md and DESIGN.md. Live Gemini integration remains pending at the time this deck was authored.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Original template thank-you slide retained.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04c77366b5492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a0ce05a765452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e2276e3ebe493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debcef06b7474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ba1b2dac6d4d0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f25749c05847a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2355399b2f49f2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54259f14b04452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36d3aada5c4b78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873b7611254ff2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83a2f03da5420a" /></Relationships>
</file>

<file path=ppt/slideLayouts/slideLayout1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2">
            <a:extLst xmlns:a="http://schemas.openxmlformats.org/drawingml/2006/main">
              <a:ext uri="{FF2B5EF4-FFF2-40B4-BE49-F238E27FC236}">
                <a16:creationId xmlns:a16="http://schemas.microsoft.com/office/drawing/2014/main" id="{301244A8-1F58-400A-88F9-040097743265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11708" y="744575"/>
            <a:ext cx="8520600" cy="20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 xmlns:a="http://schemas.openxmlformats.org/drawingml/2006/main"/>
        </p:txBody>
      </p:sp>
      <p:sp>
        <p:nvSpPr>
          <p:cNvPr id="11" name="Google Shape;11;p2">
            <a:extLst xmlns:a="http://schemas.openxmlformats.org/drawingml/2006/main">
              <a:ext uri="{FF2B5EF4-FFF2-40B4-BE49-F238E27FC236}">
                <a16:creationId xmlns:a16="http://schemas.microsoft.com/office/drawing/2014/main" id="{25204DB0-29C6-4D6C-B0DB-74A5FA590A4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11700" y="2834125"/>
            <a:ext cx="8520600" cy="79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 xmlns:a="http://schemas.openxmlformats.org/drawingml/2006/main"/>
        </p:txBody>
      </p:sp>
      <p:sp>
        <p:nvSpPr>
          <p:cNvPr id="12" name="Google Shape;12;p2">
            <a:extLst xmlns:a="http://schemas.openxmlformats.org/drawingml/2006/main">
              <a:ext uri="{FF2B5EF4-FFF2-40B4-BE49-F238E27FC236}">
                <a16:creationId xmlns:a16="http://schemas.microsoft.com/office/drawing/2014/main" id="{BFB6713D-0C67-4FB3-ABEB-B28D05DBCD3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Google Shape;14;p3">
            <a:extLst xmlns:a="http://schemas.openxmlformats.org/drawingml/2006/main">
              <a:ext uri="{FF2B5EF4-FFF2-40B4-BE49-F238E27FC236}">
                <a16:creationId xmlns:a16="http://schemas.microsoft.com/office/drawing/2014/main" id="{6929715F-A22B-44F9-B3D5-31FA627F28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2150850"/>
            <a:ext cx="8520600" cy="84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 xmlns:a="http://schemas.openxmlformats.org/drawingml/2006/main"/>
        </p:txBody>
      </p:sp>
      <p:sp>
        <p:nvSpPr>
          <p:cNvPr id="15" name="Google Shape;15;p3">
            <a:extLst xmlns:a="http://schemas.openxmlformats.org/drawingml/2006/main">
              <a:ext uri="{FF2B5EF4-FFF2-40B4-BE49-F238E27FC236}">
                <a16:creationId xmlns:a16="http://schemas.microsoft.com/office/drawing/2014/main" id="{1095E6FB-01C2-4B05-B9BF-B3FC6DCBE77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oogle Shape;17;p4">
            <a:extLst xmlns:a="http://schemas.openxmlformats.org/drawingml/2006/main">
              <a:ext uri="{FF2B5EF4-FFF2-40B4-BE49-F238E27FC236}">
                <a16:creationId xmlns:a16="http://schemas.microsoft.com/office/drawing/2014/main" id="{3FF56E62-4908-4A90-8E7F-5F7CE64006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18" name="Google Shape;18;p4">
            <a:extLst xmlns:a="http://schemas.openxmlformats.org/drawingml/2006/main">
              <a:ext uri="{FF2B5EF4-FFF2-40B4-BE49-F238E27FC236}">
                <a16:creationId xmlns:a16="http://schemas.microsoft.com/office/drawing/2014/main" id="{9F7620A3-CD62-4377-B7E9-6093E81CCB1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9" name="Google Shape;19;p4">
            <a:extLst xmlns:a="http://schemas.openxmlformats.org/drawingml/2006/main">
              <a:ext uri="{FF2B5EF4-FFF2-40B4-BE49-F238E27FC236}">
                <a16:creationId xmlns:a16="http://schemas.microsoft.com/office/drawing/2014/main" id="{6299D317-D452-42AE-B16D-34BA8D984CD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oogle Shape;21;p5">
            <a:extLst xmlns:a="http://schemas.openxmlformats.org/drawingml/2006/main">
              <a:ext uri="{FF2B5EF4-FFF2-40B4-BE49-F238E27FC236}">
                <a16:creationId xmlns:a16="http://schemas.microsoft.com/office/drawing/2014/main" id="{CE33E522-0C6C-4B62-9448-60B851C07E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Google Shape;22;p5">
            <a:extLst xmlns:a="http://schemas.openxmlformats.org/drawingml/2006/main">
              <a:ext uri="{FF2B5EF4-FFF2-40B4-BE49-F238E27FC236}">
                <a16:creationId xmlns:a16="http://schemas.microsoft.com/office/drawing/2014/main" id="{F02DCC0E-44EC-47C4-984D-4EB4BB0AFBF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3" name="Google Shape;23;p5">
            <a:extLst xmlns:a="http://schemas.openxmlformats.org/drawingml/2006/main">
              <a:ext uri="{FF2B5EF4-FFF2-40B4-BE49-F238E27FC236}">
                <a16:creationId xmlns:a16="http://schemas.microsoft.com/office/drawing/2014/main" id="{49DCE626-A938-43E4-B749-6D097FD71F8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324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4" name="Google Shape;24;p5">
            <a:extLst xmlns:a="http://schemas.openxmlformats.org/drawingml/2006/main">
              <a:ext uri="{FF2B5EF4-FFF2-40B4-BE49-F238E27FC236}">
                <a16:creationId xmlns:a16="http://schemas.microsoft.com/office/drawing/2014/main" id="{214A2AE2-836D-4025-A695-67F02E90F06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6">
            <a:extLst xmlns:a="http://schemas.openxmlformats.org/drawingml/2006/main">
              <a:ext uri="{FF2B5EF4-FFF2-40B4-BE49-F238E27FC236}">
                <a16:creationId xmlns:a16="http://schemas.microsoft.com/office/drawing/2014/main" id="{343AC8F9-09F8-424A-A5A4-6D9CAC65ED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Google Shape;27;p6">
            <a:extLst xmlns:a="http://schemas.openxmlformats.org/drawingml/2006/main">
              <a:ext uri="{FF2B5EF4-FFF2-40B4-BE49-F238E27FC236}">
                <a16:creationId xmlns:a16="http://schemas.microsoft.com/office/drawing/2014/main" id="{F26331DE-4BBC-4BF5-88C1-33AEC3F3F5C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oogle Shape;29;p7">
            <a:extLst xmlns:a="http://schemas.openxmlformats.org/drawingml/2006/main">
              <a:ext uri="{FF2B5EF4-FFF2-40B4-BE49-F238E27FC236}">
                <a16:creationId xmlns:a16="http://schemas.microsoft.com/office/drawing/2014/main" id="{72D285EF-4E54-417A-949A-9D2E582E92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555600"/>
            <a:ext cx="2808000" cy="755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 xmlns:a="http://schemas.openxmlformats.org/drawingml/2006/main"/>
        </p:txBody>
      </p:sp>
      <p:sp>
        <p:nvSpPr>
          <p:cNvPr id="30" name="Google Shape;30;p7">
            <a:extLst xmlns:a="http://schemas.openxmlformats.org/drawingml/2006/main">
              <a:ext uri="{FF2B5EF4-FFF2-40B4-BE49-F238E27FC236}">
                <a16:creationId xmlns:a16="http://schemas.microsoft.com/office/drawing/2014/main" id="{C880EBC6-D930-4AE6-9E9F-7E885BFBD5D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389600"/>
            <a:ext cx="2808000" cy="3179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31" name="Google Shape;31;p7">
            <a:extLst xmlns:a="http://schemas.openxmlformats.org/drawingml/2006/main">
              <a:ext uri="{FF2B5EF4-FFF2-40B4-BE49-F238E27FC236}">
                <a16:creationId xmlns:a16="http://schemas.microsoft.com/office/drawing/2014/main" id="{B9B847AB-1FC7-4C41-BD05-3B2B209BE64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Google Shape;33;p8">
            <a:extLst xmlns:a="http://schemas.openxmlformats.org/drawingml/2006/main">
              <a:ext uri="{FF2B5EF4-FFF2-40B4-BE49-F238E27FC236}">
                <a16:creationId xmlns:a16="http://schemas.microsoft.com/office/drawing/2014/main" id="{DAEA2FB6-07D0-431D-BC0A-150464CF83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0250" y="450150"/>
            <a:ext cx="6367800" cy="409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/>
        </p:txBody>
      </p:sp>
      <p:sp>
        <p:nvSpPr>
          <p:cNvPr id="34" name="Google Shape;34;p8">
            <a:extLst xmlns:a="http://schemas.openxmlformats.org/drawingml/2006/main">
              <a:ext uri="{FF2B5EF4-FFF2-40B4-BE49-F238E27FC236}">
                <a16:creationId xmlns:a16="http://schemas.microsoft.com/office/drawing/2014/main" id="{2D11D725-2C7D-4B9B-8AB4-89603EE03D9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Google Shape;36;p9">
            <a:extLst xmlns:a="http://schemas.openxmlformats.org/drawingml/2006/main">
              <a:ext uri="{FF2B5EF4-FFF2-40B4-BE49-F238E27FC236}">
                <a16:creationId xmlns:a16="http://schemas.microsoft.com/office/drawing/2014/main" id="{8A9D120D-7E8F-4BD6-A1E4-44C2A8869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-125"/>
            <a:ext cx="4572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>
            <a:extLst xmlns:a="http://schemas.openxmlformats.org/drawingml/2006/main">
              <a:ext uri="{FF2B5EF4-FFF2-40B4-BE49-F238E27FC236}">
                <a16:creationId xmlns:a16="http://schemas.microsoft.com/office/drawing/2014/main" id="{9433D85A-42FB-455A-B867-3525AC3C48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5500" y="1233175"/>
            <a:ext cx="4045200" cy="148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 xmlns:a="http://schemas.openxmlformats.org/drawingml/2006/main"/>
        </p:txBody>
      </p:sp>
      <p:sp>
        <p:nvSpPr>
          <p:cNvPr id="38" name="Google Shape;38;p9">
            <a:extLst xmlns:a="http://schemas.openxmlformats.org/drawingml/2006/main">
              <a:ext uri="{FF2B5EF4-FFF2-40B4-BE49-F238E27FC236}">
                <a16:creationId xmlns:a16="http://schemas.microsoft.com/office/drawing/2014/main" id="{107D56FA-01B0-4799-96D3-283DE80B60C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65500" y="2803075"/>
            <a:ext cx="4045200" cy="123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 xmlns:a="http://schemas.openxmlformats.org/drawingml/2006/main"/>
        </p:txBody>
      </p:sp>
      <p:sp>
        <p:nvSpPr>
          <p:cNvPr id="39" name="Google Shape;39;p9">
            <a:extLst xmlns:a="http://schemas.openxmlformats.org/drawingml/2006/main">
              <a:ext uri="{FF2B5EF4-FFF2-40B4-BE49-F238E27FC236}">
                <a16:creationId xmlns:a16="http://schemas.microsoft.com/office/drawing/2014/main" id="{ADD359C8-774E-46F4-AE9B-667D552BDE0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939500" y="724075"/>
            <a:ext cx="3837000" cy="369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0" name="Google Shape;40;p9">
            <a:extLst xmlns:a="http://schemas.openxmlformats.org/drawingml/2006/main">
              <a:ext uri="{FF2B5EF4-FFF2-40B4-BE49-F238E27FC236}">
                <a16:creationId xmlns:a16="http://schemas.microsoft.com/office/drawing/2014/main" id="{260D5290-A707-46D6-83FD-2A38E7F24ED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Google Shape;42;p10">
            <a:extLst xmlns:a="http://schemas.openxmlformats.org/drawingml/2006/main">
              <a:ext uri="{FF2B5EF4-FFF2-40B4-BE49-F238E27FC236}">
                <a16:creationId xmlns:a16="http://schemas.microsoft.com/office/drawing/2014/main" id="{6864723E-8982-4343-9021-396D5DF7DEB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4230575"/>
            <a:ext cx="5998800" cy="60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 xmlns:a="http://schemas.openxmlformats.org/drawingml/2006/main"/>
        </p:txBody>
      </p:sp>
      <p:sp>
        <p:nvSpPr>
          <p:cNvPr id="43" name="Google Shape;43;p10">
            <a:extLst xmlns:a="http://schemas.openxmlformats.org/drawingml/2006/main">
              <a:ext uri="{FF2B5EF4-FFF2-40B4-BE49-F238E27FC236}">
                <a16:creationId xmlns:a16="http://schemas.microsoft.com/office/drawing/2014/main" id="{391B9CE5-9455-4946-8AFB-3ADE91CDEB9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Google Shape;45;p11">
            <a:extLst xmlns:a="http://schemas.openxmlformats.org/drawingml/2006/main">
              <a:ext uri="{FF2B5EF4-FFF2-40B4-BE49-F238E27FC236}">
                <a16:creationId xmlns:a16="http://schemas.microsoft.com/office/drawing/2014/main" id="{D7B8C08E-34F7-41B9-8948-F948F11C0FE9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1700" y="1106125"/>
            <a:ext cx="8520600" cy="196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46" name="Google Shape;46;p11">
            <a:extLst xmlns:a="http://schemas.openxmlformats.org/drawingml/2006/main">
              <a:ext uri="{FF2B5EF4-FFF2-40B4-BE49-F238E27FC236}">
                <a16:creationId xmlns:a16="http://schemas.microsoft.com/office/drawing/2014/main" id="{5E97B6BC-8501-4936-BF95-9ACACF125C2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3152225"/>
            <a:ext cx="8520600" cy="130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7" name="Google Shape;47;p11">
            <a:extLst xmlns:a="http://schemas.openxmlformats.org/drawingml/2006/main">
              <a:ext uri="{FF2B5EF4-FFF2-40B4-BE49-F238E27FC236}">
                <a16:creationId xmlns:a16="http://schemas.microsoft.com/office/drawing/2014/main" id="{A6FF0E25-2561-4753-84AE-670C6F34C75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Google Shape;49;p12">
            <a:extLst xmlns:a="http://schemas.openxmlformats.org/drawingml/2006/main">
              <a:ext uri="{FF2B5EF4-FFF2-40B4-BE49-F238E27FC236}">
                <a16:creationId xmlns:a16="http://schemas.microsoft.com/office/drawing/2014/main" id="{5DC971BB-AFA8-4594-8058-30601F8C48F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178e4e8213d4c54" /><Relationship Type="http://schemas.openxmlformats.org/officeDocument/2006/relationships/slideLayout" Target="/ppt/slideLayouts/slideLayout1.xml" Id="R6d30c4d984674d25" /><Relationship Type="http://schemas.openxmlformats.org/officeDocument/2006/relationships/slideLayout" Target="/ppt/slideLayouts/slideLayout2.xml" Id="Rd3d4dc6fc795459e" /><Relationship Type="http://schemas.openxmlformats.org/officeDocument/2006/relationships/slideLayout" Target="/ppt/slideLayouts/slideLayout3.xml" Id="Ra0a3060b56524f2c" /><Relationship Type="http://schemas.openxmlformats.org/officeDocument/2006/relationships/slideLayout" Target="/ppt/slideLayouts/slideLayout4.xml" Id="R81e62cfd18694203" /><Relationship Type="http://schemas.openxmlformats.org/officeDocument/2006/relationships/slideLayout" Target="/ppt/slideLayouts/slideLayout5.xml" Id="Rd16704fc42fe4a2d" /><Relationship Type="http://schemas.openxmlformats.org/officeDocument/2006/relationships/slideLayout" Target="/ppt/slideLayouts/slideLayout6.xml" Id="R931cd01f9201498d" /><Relationship Type="http://schemas.openxmlformats.org/officeDocument/2006/relationships/slideLayout" Target="/ppt/slideLayouts/slideLayout7.xml" Id="R13b76dc9c9b4427d" /><Relationship Type="http://schemas.openxmlformats.org/officeDocument/2006/relationships/slideLayout" Target="/ppt/slideLayouts/slideLayout8.xml" Id="R4f3d3f2dd8044c12" /><Relationship Type="http://schemas.openxmlformats.org/officeDocument/2006/relationships/slideLayout" Target="/ppt/slideLayouts/slideLayout9.xml" Id="R4013cbb47d9342b1" /><Relationship Type="http://schemas.openxmlformats.org/officeDocument/2006/relationships/slideLayout" Target="/ppt/slideLayouts/slideLayout10.xml" Id="R81204afad28d4988" /><Relationship Type="http://schemas.openxmlformats.org/officeDocument/2006/relationships/slideLayout" Target="/ppt/slideLayouts/slideLayout11.xml" Id="R9fac8acf799c496e" /></Relationships>
</file>

<file path=ppt/slideMasters/slideMaster1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80183334-B270-447D-85D9-1688AE6114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E9CFC387-F67D-467C-BC3B-D4B189296D2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0726C26C-EE6D-48AC-844F-8AB6D004B91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dk2"/>
                </a:solidFill>
              </a:defRPr>
            </a:lvl1pPr>
            <a:lvl2pPr algn="r">
              <a:buNone/>
              <a:defRPr sz="1000">
                <a:solidFill>
                  <a:schemeClr val="dk2"/>
                </a:solidFill>
              </a:defRPr>
            </a:lvl2pPr>
            <a:lvl3pPr algn="r">
              <a:buNone/>
              <a:defRPr sz="1000">
                <a:solidFill>
                  <a:schemeClr val="dk2"/>
                </a:solidFill>
              </a:defRPr>
            </a:lvl3pPr>
            <a:lvl4pPr algn="r">
              <a:buNone/>
              <a:defRPr sz="1000">
                <a:solidFill>
                  <a:schemeClr val="dk2"/>
                </a:solidFill>
              </a:defRPr>
            </a:lvl4pPr>
            <a:lvl5pPr algn="r">
              <a:buNone/>
              <a:defRPr sz="1000">
                <a:solidFill>
                  <a:schemeClr val="dk2"/>
                </a:solidFill>
              </a:defRPr>
            </a:lvl5pPr>
            <a:lvl6pPr algn="r">
              <a:buNone/>
              <a:defRPr sz="1000">
                <a:solidFill>
                  <a:schemeClr val="dk2"/>
                </a:solidFill>
              </a:defRPr>
            </a:lvl6pPr>
            <a:lvl7pPr algn="r">
              <a:buNone/>
              <a:defRPr sz="1000">
                <a:solidFill>
                  <a:schemeClr val="dk2"/>
                </a:solidFill>
              </a:defRPr>
            </a:lvl7pPr>
            <a:lvl8pPr algn="r">
              <a:buNone/>
              <a:defRPr sz="1000">
                <a:solidFill>
                  <a:schemeClr val="dk2"/>
                </a:solidFill>
              </a:defRPr>
            </a:lvl8pPr>
            <a:lvl9pPr algn="r">
              <a:buNone/>
              <a:defRPr sz="1000">
                <a:solidFill>
                  <a:schemeClr val="dk2"/>
                </a:solidFill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d30c4d984674d25"/>
    <p:sldLayoutId xmlns:r="http://schemas.openxmlformats.org/officeDocument/2006/relationships" id="2147483650" r:id="Rd3d4dc6fc795459e"/>
    <p:sldLayoutId xmlns:r="http://schemas.openxmlformats.org/officeDocument/2006/relationships" id="2147483651" r:id="Ra0a3060b56524f2c"/>
    <p:sldLayoutId xmlns:r="http://schemas.openxmlformats.org/officeDocument/2006/relationships" id="2147483652" r:id="R81e62cfd18694203"/>
    <p:sldLayoutId xmlns:r="http://schemas.openxmlformats.org/officeDocument/2006/relationships" id="2147483653" r:id="Rd16704fc42fe4a2d"/>
    <p:sldLayoutId xmlns:r="http://schemas.openxmlformats.org/officeDocument/2006/relationships" id="2147483654" r:id="R931cd01f9201498d"/>
    <p:sldLayoutId xmlns:r="http://schemas.openxmlformats.org/officeDocument/2006/relationships" id="2147483655" r:id="R13b76dc9c9b4427d"/>
    <p:sldLayoutId xmlns:r="http://schemas.openxmlformats.org/officeDocument/2006/relationships" id="2147483656" r:id="R4f3d3f2dd8044c12"/>
    <p:sldLayoutId xmlns:r="http://schemas.openxmlformats.org/officeDocument/2006/relationships" id="2147483657" r:id="R4013cbb47d9342b1"/>
    <p:sldLayoutId xmlns:r="http://schemas.openxmlformats.org/officeDocument/2006/relationships" id="2147483658" r:id="R81204afad28d4988"/>
    <p:sldLayoutId xmlns:r="http://schemas.openxmlformats.org/officeDocument/2006/relationships" id="2147483659" r:id="R9fac8acf799c496e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a25764da3c4158" /><Relationship Type="http://schemas.openxmlformats.org/officeDocument/2006/relationships/image" Target="/ppt/media/image.png" Id="R4ed66b09c3004738" /><Relationship Type="http://schemas.openxmlformats.org/officeDocument/2006/relationships/image" Target="/ppt/media/image2.png" Id="R59f80759ffc742f4" /><Relationship Type="http://schemas.openxmlformats.org/officeDocument/2006/relationships/notesSlide" Target="/ppt/notesSlides/notesSlide1.xml" Id="R484c27f8fb0a47b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fe73ccd6284fff" /><Relationship Type="http://schemas.openxmlformats.org/officeDocument/2006/relationships/image" Target="/ppt/media/image2.png" Id="R518d806bec5f47ee" /><Relationship Type="http://schemas.openxmlformats.org/officeDocument/2006/relationships/image" Target="/ppt/media/image3.png" Id="R14b5aafaf01542af" /><Relationship Type="http://schemas.openxmlformats.org/officeDocument/2006/relationships/notesSlide" Target="/ppt/notesSlides/notesSlide2.xml" Id="R346be848288b48b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13f0192f0c4349" /><Relationship Type="http://schemas.openxmlformats.org/officeDocument/2006/relationships/image" Target="/ppt/media/image4.png" Id="Rb8fc337e136444e3" /><Relationship Type="http://schemas.openxmlformats.org/officeDocument/2006/relationships/image" Target="/ppt/media/image.jpeg" Id="Rabb00934bad04266" /><Relationship Type="http://schemas.openxmlformats.org/officeDocument/2006/relationships/notesSlide" Target="/ppt/notesSlides/notesSlide3.xml" Id="Re700790a4db8407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4201068ead4667" /><Relationship Type="http://schemas.openxmlformats.org/officeDocument/2006/relationships/image" Target="/ppt/media/image2.png" Id="R8191ce949b044058" /><Relationship Type="http://schemas.openxmlformats.org/officeDocument/2006/relationships/image" Target="/ppt/media/image4.png" Id="R9dc3585fb9d740bc" /><Relationship Type="http://schemas.openxmlformats.org/officeDocument/2006/relationships/notesSlide" Target="/ppt/notesSlides/notesSlide4.xml" Id="R0eedcc19a90743a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f61b6fa44a483b" /><Relationship Type="http://schemas.openxmlformats.org/officeDocument/2006/relationships/image" Target="/ppt/media/image2.png" Id="R2980efb6ec2f49a8" /><Relationship Type="http://schemas.openxmlformats.org/officeDocument/2006/relationships/image" Target="/ppt/media/image4.png" Id="R7457a7a9b28f4b43" /><Relationship Type="http://schemas.openxmlformats.org/officeDocument/2006/relationships/notesSlide" Target="/ppt/notesSlides/notesSlide5.xml" Id="Rf410a8938010429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a95ba89837413c" /><Relationship Type="http://schemas.openxmlformats.org/officeDocument/2006/relationships/image" Target="/ppt/media/image2.png" Id="Rf210cd1c81854bb0" /><Relationship Type="http://schemas.openxmlformats.org/officeDocument/2006/relationships/image" Target="/ppt/media/image4.png" Id="R6d4008fbca894019" /><Relationship Type="http://schemas.openxmlformats.org/officeDocument/2006/relationships/notesSlide" Target="/ppt/notesSlides/notesSlide6.xml" Id="R228b2b79cbfd428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a3bf2e59ea4e58" /><Relationship Type="http://schemas.openxmlformats.org/officeDocument/2006/relationships/image" Target="/ppt/media/image2.png" Id="R01cd5faa0ae74f9e" /><Relationship Type="http://schemas.openxmlformats.org/officeDocument/2006/relationships/image" Target="/ppt/media/image4.png" Id="Rdcc367661fde4eb5" /><Relationship Type="http://schemas.openxmlformats.org/officeDocument/2006/relationships/notesSlide" Target="/ppt/notesSlides/notesSlide7.xml" Id="Rbfca07b9123b444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7f40c141674e9e" /><Relationship Type="http://schemas.openxmlformats.org/officeDocument/2006/relationships/image" Target="/ppt/media/image2.png" Id="Rf0bb695c320240e9" /><Relationship Type="http://schemas.openxmlformats.org/officeDocument/2006/relationships/image" Target="/ppt/media/image4.png" Id="R7e7571c0f2c04337" /><Relationship Type="http://schemas.openxmlformats.org/officeDocument/2006/relationships/notesSlide" Target="/ppt/notesSlides/notesSlide8.xml" Id="R0679f1f158154e3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62441205844cd8" /><Relationship Type="http://schemas.openxmlformats.org/officeDocument/2006/relationships/image" Target="/ppt/media/image2.png" Id="R469a589a85634c7f" /><Relationship Type="http://schemas.openxmlformats.org/officeDocument/2006/relationships/image" Target="/ppt/media/image4.png" Id="R682656f54fe149af" /><Relationship Type="http://schemas.openxmlformats.org/officeDocument/2006/relationships/image" Target="/ppt/media/image5.png" Id="R19e5e78f94984e16" /><Relationship Type="http://schemas.openxmlformats.org/officeDocument/2006/relationships/notesSlide" Target="/ppt/notesSlides/notesSlide9.xml" Id="Rb108aeff11de424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64c28dbb6f4d23" /><Relationship Type="http://schemas.openxmlformats.org/officeDocument/2006/relationships/image" Target="/ppt/media/image2.png" Id="Ra027cc5321da42ed" /><Relationship Type="http://schemas.openxmlformats.org/officeDocument/2006/relationships/image" Target="/ppt/media/image4.png" Id="Rcc5d19544b4d49b3" /><Relationship Type="http://schemas.openxmlformats.org/officeDocument/2006/relationships/notesSlide" Target="/ppt/notesSlides/notesSlide10.xml" Id="Re97575731f9c4f7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2d532ca58f440c" /><Relationship Type="http://schemas.openxmlformats.org/officeDocument/2006/relationships/image" Target="/ppt/media/image2.png" Id="Rdc1b24baff8842f0" /><Relationship Type="http://schemas.openxmlformats.org/officeDocument/2006/relationships/image" Target="/ppt/media/image4.png" Id="Re3a002a39b2141a0" /><Relationship Type="http://schemas.openxmlformats.org/officeDocument/2006/relationships/image" Target="/ppt/media/image.bin" Id="R8ca65d708db64d09" /><Relationship Type="http://schemas.openxmlformats.org/officeDocument/2006/relationships/notesSlide" Target="/ppt/notesSlides/notesSlide11.xml" Id="R720bb22dd2c047b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5141c922d840bb" /><Relationship Type="http://schemas.openxmlformats.org/officeDocument/2006/relationships/image" Target="/ppt/media/image2.png" Id="R8149a3333f274073" /><Relationship Type="http://schemas.openxmlformats.org/officeDocument/2006/relationships/image" Target="/ppt/media/image4.png" Id="Rda0fe5ab58ea4ae6" /><Relationship Type="http://schemas.openxmlformats.org/officeDocument/2006/relationships/notesSlide" Target="/ppt/notesSlides/notesSlide12.xml" Id="R19ce43e3c98941e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e910fa56b74ec9" /><Relationship Type="http://schemas.openxmlformats.org/officeDocument/2006/relationships/image" Target="/ppt/media/image2.png" Id="R10e017a4a17e414e" /><Relationship Type="http://schemas.openxmlformats.org/officeDocument/2006/relationships/image" Target="/ppt/media/image4.png" Id="R401a7be1a3154ea6" /><Relationship Type="http://schemas.openxmlformats.org/officeDocument/2006/relationships/notesSlide" Target="/ppt/notesSlides/notesSlide13.xml" Id="R7639dcff7dd04b6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2ca8d9af114107" /><Relationship Type="http://schemas.openxmlformats.org/officeDocument/2006/relationships/image" Target="/ppt/media/image2.png" Id="R6b7f1957f83c4fea" /><Relationship Type="http://schemas.openxmlformats.org/officeDocument/2006/relationships/image" Target="/ppt/media/image4.png" Id="R2d8b8f3456924f7f" /><Relationship Type="http://schemas.openxmlformats.org/officeDocument/2006/relationships/notesSlide" Target="/ppt/notesSlides/notesSlide14.xml" Id="R2742e425844045e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fee63e6ebe497c" /><Relationship Type="http://schemas.openxmlformats.org/officeDocument/2006/relationships/image" Target="/ppt/media/image2.png" Id="R55309236e55645c0" /><Relationship Type="http://schemas.openxmlformats.org/officeDocument/2006/relationships/image" Target="/ppt/media/image4.png" Id="Rd64a5a9a3f9c42ca" /><Relationship Type="http://schemas.openxmlformats.org/officeDocument/2006/relationships/notesSlide" Target="/ppt/notesSlides/notesSlide15.xml" Id="R45029a91bc244c4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fddd0dffb94261" /><Relationship Type="http://schemas.openxmlformats.org/officeDocument/2006/relationships/image" Target="/ppt/media/image2.png" Id="R9a6fd08d04244972" /><Relationship Type="http://schemas.openxmlformats.org/officeDocument/2006/relationships/image" Target="/ppt/media/image6.png" Id="R7547cbb912be48c1" /><Relationship Type="http://schemas.openxmlformats.org/officeDocument/2006/relationships/notesSlide" Target="/ppt/notesSlides/notesSlide16.xml" Id="R73ddeb3360a6449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Google Shape;54;p13">
            <a:extLst xmlns:a="http://schemas.openxmlformats.org/drawingml/2006/main">
              <a:ext uri="{FF2B5EF4-FFF2-40B4-BE49-F238E27FC236}">
                <a16:creationId xmlns:a16="http://schemas.microsoft.com/office/drawing/2014/main" id="{89B66E1A-25DA-4EFA-88A9-A406C1CFF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89560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Google Sans Flex SemiBold"/>
                <a:ea typeface="Google Sans Flex SemiBold"/>
                <a:cs typeface="Google Sans Flex SemiBold"/>
              </a:rPr>
              <a:t>Team Details</a:t>
            </a:r>
            <a:endParaRPr sz="2100">
              <a:latin typeface="Google Sans Flex SemiBold"/>
              <a:ea typeface="Google Sans Flex SemiBold"/>
              <a:cs typeface="Google Sans Flex SemiBold"/>
            </a:endParaRPr>
          </a:p>
        </p:txBody>
      </p:sp>
      <p:pic>
        <p:nvPicPr>
          <p:cNvPr id="55" name="Google Shape;55;p13">
            <a:extLst xmlns:a="http://schemas.openxmlformats.org/drawingml/2006/main">
              <a:ext uri="{FF2B5EF4-FFF2-40B4-BE49-F238E27FC236}">
                <a16:creationId xmlns:a16="http://schemas.microsoft.com/office/drawing/2014/main" id="{9E361AA2-093B-46A9-837F-22C2B5313D7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d66b09c3004738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-3"/>
            <a:ext cx="9144000" cy="271552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56" name="Google Shape;56;p13">
            <a:extLst xmlns:a="http://schemas.openxmlformats.org/drawingml/2006/main">
              <a:ext uri="{FF2B5EF4-FFF2-40B4-BE49-F238E27FC236}">
                <a16:creationId xmlns:a16="http://schemas.microsoft.com/office/drawing/2014/main" id="{E0542E23-0A9A-449C-BA70-E6091B7D72E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9f80759ffc742f4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F5CD21E-4C67-4908-8C4A-988417657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34956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75" b="1">
                <a:solidFill>
                  <a:srgbClr val="586273"/>
                </a:solidFill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586273"/>
                </a:solidFill>
              </a:defRPr>
            </a:pPr>
            <a:r>
              <a:rPr sz="975" b="1">
                <a:solidFill>
                  <a:srgbClr val="586273"/>
                </a:solidFill>
              </a:rPr>
              <a:t>Team name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BEFC5D3-B600-4816-8EC0-7C2026709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3724275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1">
                <a:solidFill>
                  <a:srgbClr val="111827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Recursive Minds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5DF7F76-AD2A-4B68-9FA1-8C7B18F56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956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75" b="1">
                <a:solidFill>
                  <a:srgbClr val="586273"/>
                </a:solidFill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586273"/>
                </a:solidFill>
              </a:defRPr>
            </a:pPr>
            <a:r>
              <a:rPr sz="975" b="1">
                <a:solidFill>
                  <a:srgbClr val="586273"/>
                </a:solidFill>
              </a:rPr>
              <a:t>Team leader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73D459F-25DF-4889-97AC-ECF0EBBDD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724275"/>
            <a:ext cx="2714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1">
                <a:solidFill>
                  <a:srgbClr val="111827"/>
                </a:solidFill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Dhanyashree S Navileker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C6E77A6-4DE8-4E0D-86A9-1D07F2CC4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956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75" b="1">
                <a:solidFill>
                  <a:srgbClr val="586273"/>
                </a:solidFill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586273"/>
                </a:solidFill>
              </a:defRPr>
            </a:pPr>
            <a:r>
              <a:rPr sz="975" b="1">
                <a:solidFill>
                  <a:srgbClr val="586273"/>
                </a:solidFill>
              </a:rPr>
              <a:t>Team member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4F1DC31-1CC6-4C7E-96AC-457A1A665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24275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1">
                <a:solidFill>
                  <a:srgbClr val="111827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Abhishek M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3787C17-899D-4D58-BBFD-D00280693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42767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75" b="1">
                <a:solidFill>
                  <a:srgbClr val="586273"/>
                </a:solidFill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586273"/>
                </a:solidFill>
              </a:defRPr>
            </a:pPr>
            <a:r>
              <a:rPr sz="975" b="1">
                <a:solidFill>
                  <a:srgbClr val="586273"/>
                </a:solidFill>
              </a:rPr>
              <a:t>Problem statement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87EAA60-A3C5-4A9A-909D-296DD76C0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4505325"/>
            <a:ext cx="804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0">
                <a:solidFill>
                  <a:srgbClr val="111827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Useful renovation leftovers are discarded because owners struggle to describe uncertain materials and finders cannot judge whether a listing fits a real project.</a:t>
            </a:r>
          </a:p>
        </p:txBody>
      </p:sp>
    </p:spTree>
    <p:extLst>
      <p:ext uri="{BB962C8B-B14F-4D97-AF65-F5344CB8AC3E}">
        <p14:creationId xmlns:p14="http://schemas.microsoft.com/office/powerpoint/2010/main" val="184756329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1" name="Google Shape;61;p14">
            <a:extLst xmlns:a="http://schemas.openxmlformats.org/drawingml/2006/main">
              <a:ext uri="{FF2B5EF4-FFF2-40B4-BE49-F238E27FC236}">
                <a16:creationId xmlns:a16="http://schemas.microsoft.com/office/drawing/2014/main" id="{A4A72D71-69E1-44CB-92D1-474DA5BFA44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18d806bec5f47ee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62" name="Google Shape;62;p14">
            <a:extLst xmlns:a="http://schemas.openxmlformats.org/drawingml/2006/main">
              <a:ext uri="{FF2B5EF4-FFF2-40B4-BE49-F238E27FC236}">
                <a16:creationId xmlns:a16="http://schemas.microsoft.com/office/drawing/2014/main" id="{1CE3B548-06E7-4C3F-97F9-1551775E3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>
            <a:extLst xmlns:a="http://schemas.openxmlformats.org/drawingml/2006/main">
              <a:ext uri="{FF2B5EF4-FFF2-40B4-BE49-F238E27FC236}">
                <a16:creationId xmlns:a16="http://schemas.microsoft.com/office/drawing/2014/main" id="{1FE0544C-DCE4-492B-B7C7-BC4837C44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2475" y="1968750"/>
            <a:ext cx="3311400" cy="120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chemeClr val="lt1"/>
                </a:solidFill>
                <a:latin typeface="Google Sans Flex Medium"/>
                <a:ea typeface="Google Sans Flex Medium"/>
                <a:cs typeface="Google Sans Flex Medium"/>
              </a:rPr>
              <a:t>Note:</a:t>
            </a:r>
            <a:r>
              <a:rPr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</a:rPr>
              <a:t> Please download this template to make your edits and submit the final version.</a:t>
            </a:r>
            <a:br>
              <a:rPr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</a:rPr>
            </a:br>
            <a:br>
              <a:rPr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</a:rPr>
            </a:br>
            <a:r>
              <a:rPr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</a:rPr>
              <a:t>To download, go to File &gt; Download &gt; Microsoft PowerPoint (.PPTX). Kindly refrain from sending edit requests.</a:t>
            </a:r>
            <a:endParaRPr sz="1100">
              <a:solidFill>
                <a:schemeClr val="lt1"/>
              </a:solidFill>
              <a:latin typeface="Google Sans Flex"/>
              <a:ea typeface="Google Sans Flex"/>
              <a:cs typeface="Google Sans Flex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Google Sans Flex"/>
              <a:ea typeface="Google Sans Flex"/>
              <a:cs typeface="Google Sans Flex"/>
            </a:endParaRPr>
          </a:p>
        </p:txBody>
      </p:sp>
      <p:pic>
        <p:nvPicPr>
          <p:cNvPr id="64" name="Google Shape;64;p14">
            <a:extLst xmlns:a="http://schemas.openxmlformats.org/drawingml/2006/main">
              <a:ext uri="{FF2B5EF4-FFF2-40B4-BE49-F238E27FC236}">
                <a16:creationId xmlns:a16="http://schemas.microsoft.com/office/drawing/2014/main" id="{C7912D53-B6EC-4ED1-BCFB-D70FC7A17A8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b5aafaf01542af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4203" y="1194675"/>
            <a:ext cx="3604250" cy="26217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  <a:effectLst xmlns:a="http://schemas.openxmlformats.org/drawingml/2006/main">
            <a:outerShdw blurRad="971550" dist="19050" dir="5400000" algn="bl" rotWithShape="0">
              <a:schemeClr val="lt1">
                <a:alpha val="5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9864855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9" name="Google Shape;69;p15">
            <a:extLst xmlns:a="http://schemas.openxmlformats.org/drawingml/2006/main">
              <a:ext uri="{FF2B5EF4-FFF2-40B4-BE49-F238E27FC236}">
                <a16:creationId xmlns:a16="http://schemas.microsoft.com/office/drawing/2014/main" id="{04D7FB3F-7BC8-4379-AD21-5B9917EF2CB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fc337e136444e3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0" name="Google Shape;70;p15">
            <a:extLst xmlns:a="http://schemas.openxmlformats.org/drawingml/2006/main">
              <a:ext uri="{FF2B5EF4-FFF2-40B4-BE49-F238E27FC236}">
                <a16:creationId xmlns:a16="http://schemas.microsoft.com/office/drawing/2014/main" id="{BB088A97-9549-48C8-B9EE-26F84EE78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250" y="5071875"/>
            <a:ext cx="91734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>
            <a:extLst xmlns:a="http://schemas.openxmlformats.org/drawingml/2006/main">
              <a:ext uri="{FF2B5EF4-FFF2-40B4-BE49-F238E27FC236}">
                <a16:creationId xmlns:a16="http://schemas.microsoft.com/office/drawing/2014/main" id="{CD2BE7E7-FE70-4A7A-B306-EC72562FD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67" y="663797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 algn="l">
              <a:defRPr sz="16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rgbClr val="000000"/>
                </a:solidFill>
              </a:defRPr>
            </a:pPr>
            <a:r>
              <a:rPr sz="1600" b="1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Re:Source: practical reuse for renovation leftovers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F4CC173-B326-4F70-849D-A5A3AD7EC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381125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1">
                <a:solidFill>
                  <a:srgbClr val="111827"/>
                </a:solidFill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11827"/>
                </a:solidFill>
              </a:defRPr>
            </a:pPr>
            <a:r>
              <a:rPr sz="2175" b="1">
                <a:solidFill>
                  <a:srgbClr val="111827"/>
                </a:solidFill>
              </a:rPr>
              <a:t>A project-first reuse marketplace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0CAD0AB-0444-4FC6-B375-4359568D6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971675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586273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86273"/>
                </a:solidFill>
              </a:defRPr>
            </a:pPr>
            <a:r>
              <a:rPr sz="1500" b="0">
                <a:solidFill>
                  <a:srgbClr val="586273"/>
                </a:solidFill>
              </a:rPr>
              <a:t>Owners publish usable leftovers with less effort. Finders describe what they want to build and receive a material plan grounded in available inventory.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F320455-70C8-41DE-86CC-61F07340C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124200"/>
            <a:ext cx="138112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FBFD"/>
          </a:solidFill>
          <a:ln xmlns:a="http://schemas.openxmlformats.org/drawingml/2006/main" w="9525">
            <a:solidFill>
              <a:srgbClr val="ECFBFD"/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>
            <a:defPPr algn="ctr">
              <a:defRPr sz="1050" b="1">
                <a:solidFill>
                  <a:srgbClr val="111827"/>
                </a:solidFill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Photo to draft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2490612-4A9F-4A7B-BFBD-9D86754FA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124200"/>
            <a:ext cx="1809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ECFC"/>
          </a:solidFill>
          <a:ln xmlns:a="http://schemas.openxmlformats.org/drawingml/2006/main" w="9525">
            <a:solidFill>
              <a:srgbClr val="F1ECFC"/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>
            <a:defPPr algn="ctr">
              <a:defRPr sz="1050" b="1">
                <a:solidFill>
                  <a:srgbClr val="111827"/>
                </a:solidFill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Brief to requirements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5BF390D-0C8B-43EF-8E3B-CF836495D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24200"/>
            <a:ext cx="2000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FBFD"/>
          </a:solidFill>
          <a:ln xmlns:a="http://schemas.openxmlformats.org/drawingml/2006/main" w="9525">
            <a:solidFill>
              <a:srgbClr val="ECFBFD"/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>
            <a:defPPr algn="ctr">
              <a:defRPr sz="1050" b="1">
                <a:solidFill>
                  <a:srgbClr val="111827"/>
                </a:solidFill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Evidence-backed matches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DC1D5F38-26B4-4DC9-9C8E-2558A34FD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762375"/>
            <a:ext cx="5191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1">
                <a:solidFill>
                  <a:srgbClr val="7041D9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7041D9"/>
                </a:solidFill>
              </a:defRPr>
            </a:pPr>
            <a:r>
              <a:rPr sz="1500" b="1">
                <a:solidFill>
                  <a:srgbClr val="7041D9"/>
                </a:solidFill>
              </a:rPr>
              <a:t>AI proposes. People confirm. Deterministic code calculates coverage, quantity and price.</a:t>
            </a:r>
          </a:p>
        </p:txBody>
      </p:sp>
      <p:pic>
        <p:nvPic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BC8F185-99B8-4AF4-A94A-E3D9623E01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b00934bad04266"/>
          <a:srcRect xmlns:a="http://schemas.openxmlformats.org/drawingml/2006/main" l="11667" t="0" r="1166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81750" y="1381125"/>
            <a:ext cx="2190750" cy="2857500"/>
          </a:xfrm>
          <a:prstGeom xmlns:a="http://schemas.openxmlformats.org/drawingml/2006/main" prst="roundRect">
            <a:avLst>
              <a:gd name="adj" fmla="val 5217"/>
            </a:avLst>
          </a:prstGeom>
        </p:spPr>
      </p:pic>
    </p:spTree>
    <p:extLst>
      <p:ext uri="{BB962C8B-B14F-4D97-AF65-F5344CB8AC3E}">
        <p14:creationId xmlns:p14="http://schemas.microsoft.com/office/powerpoint/2010/main" val="53409515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6" name="Google Shape;76;p16">
            <a:extLst xmlns:a="http://schemas.openxmlformats.org/drawingml/2006/main">
              <a:ext uri="{FF2B5EF4-FFF2-40B4-BE49-F238E27FC236}">
                <a16:creationId xmlns:a16="http://schemas.microsoft.com/office/drawing/2014/main" id="{E07316F8-CC6A-4EFD-B068-6CEE596566B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191ce949b044058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7" name="Google Shape;77;p16">
            <a:extLst xmlns:a="http://schemas.openxmlformats.org/drawingml/2006/main">
              <a:ext uri="{FF2B5EF4-FFF2-40B4-BE49-F238E27FC236}">
                <a16:creationId xmlns:a16="http://schemas.microsoft.com/office/drawing/2014/main" id="{E0345C79-3ED3-4427-8CB7-E994EB3E4F7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c3585fb9d740bc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8" name="Google Shape;78;p16">
            <a:extLst xmlns:a="http://schemas.openxmlformats.org/drawingml/2006/main">
              <a:ext uri="{FF2B5EF4-FFF2-40B4-BE49-F238E27FC236}">
                <a16:creationId xmlns:a16="http://schemas.microsoft.com/office/drawing/2014/main" id="{594521C9-CE6B-4E95-B917-C6BE4E2EE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250" y="5071875"/>
            <a:ext cx="91734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>
            <a:extLst xmlns:a="http://schemas.openxmlformats.org/drawingml/2006/main">
              <a:ext uri="{FF2B5EF4-FFF2-40B4-BE49-F238E27FC236}">
                <a16:creationId xmlns:a16="http://schemas.microsoft.com/office/drawing/2014/main" id="{6EC431A9-832E-410D-B8E3-51C352D6E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67" y="663797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 algn="l">
              <a:defRPr sz="16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rgbClr val="000000"/>
                </a:solidFill>
              </a:defRPr>
            </a:pPr>
            <a:r>
              <a:rPr sz="1600" b="1">
                <a:solidFill>
                  <a:srgbClr val="000000"/>
                </a:solidFill>
                <a:latin typeface="Google Sans Flex SemiBold"/>
                <a:ea typeface="Google Sans Flex SemiBold"/>
                <a:cs typeface="Google Sans Flex SemiBold"/>
              </a:rPr>
              <a:t>Why Re:Source is different</a:t>
            </a:r>
            <a:endParaRPr sz="1600">
              <a:latin typeface="Google Sans Flex SemiBold"/>
              <a:ea typeface="Google Sans Flex SemiBold"/>
              <a:cs typeface="Google Sans Flex SemiBold"/>
            </a:endParaRP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7D2EA83A-AD8A-4C44-AA73-C18742773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82296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CFBFD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9B1FC2D9-F65E-4F61-97C5-386909D13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525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1">
                <a:solidFill>
                  <a:srgbClr val="3788E8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3788E8"/>
                </a:solidFill>
              </a:defRPr>
            </a:pPr>
            <a:r>
              <a:rPr sz="1500" b="1">
                <a:solidFill>
                  <a:srgbClr val="3788E8"/>
                </a:solidFill>
              </a:rPr>
              <a:t>The gap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8A7DA15-6FFC-4209-B4EF-1834B7669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524000"/>
            <a:ext cx="600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111827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People search with project intent, while leftover inventory is described as isolated items.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D89500D9-9F80-4A09-B5A9-AF56D1CE4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47925"/>
            <a:ext cx="82296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1ECFC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B241EC9F-EAA9-4716-8EC0-08FF98EA9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1">
                <a:solidFill>
                  <a:srgbClr val="7041D9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7041D9"/>
                </a:solidFill>
              </a:defRPr>
            </a:pPr>
            <a:r>
              <a:rPr sz="1500" b="1">
                <a:solidFill>
                  <a:srgbClr val="7041D9"/>
                </a:solidFill>
              </a:rPr>
              <a:t>The response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1ABA2368-2B4F-40F5-82D0-F2212D79A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590800"/>
            <a:ext cx="600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111827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Re:Source converts a project brief into requirements and matches only against available inventory.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F0AA50EC-B785-4F4D-B43A-DB75640FD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14725"/>
            <a:ext cx="82296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CFBFD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AD97D3E7-AEBF-40D5-AE99-1E808FE0A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861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1">
                <a:solidFill>
                  <a:srgbClr val="3788E8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3788E8"/>
                </a:solidFill>
              </a:defRPr>
            </a:pPr>
            <a:r>
              <a:rPr sz="1500" b="1">
                <a:solidFill>
                  <a:srgbClr val="3788E8"/>
                </a:solidFill>
              </a:rPr>
              <a:t>The trust layer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9AFA8958-E8DA-4423-B0E2-3629AF164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657600"/>
            <a:ext cx="600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111827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Every recommendation shows confirmed facts, calculated coverage, missing information and pickup questions.</a:t>
            </a:r>
          </a:p>
        </p:txBody>
      </p:sp>
    </p:spTree>
    <p:extLst>
      <p:ext uri="{BB962C8B-B14F-4D97-AF65-F5344CB8AC3E}">
        <p14:creationId xmlns:p14="http://schemas.microsoft.com/office/powerpoint/2010/main" val="42916041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4" name="Google Shape;84;p17">
            <a:extLst xmlns:a="http://schemas.openxmlformats.org/drawingml/2006/main">
              <a:ext uri="{FF2B5EF4-FFF2-40B4-BE49-F238E27FC236}">
                <a16:creationId xmlns:a16="http://schemas.microsoft.com/office/drawing/2014/main" id="{5F39F126-E9BD-46FD-AC72-15DC2F9E8F2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980efb6ec2f49a8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85" name="Google Shape;85;p17">
            <a:extLst xmlns:a="http://schemas.openxmlformats.org/drawingml/2006/main">
              <a:ext uri="{FF2B5EF4-FFF2-40B4-BE49-F238E27FC236}">
                <a16:creationId xmlns:a16="http://schemas.microsoft.com/office/drawing/2014/main" id="{AF2E6076-F1E9-4DAD-84D7-B07A3086AE3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57a7a9b28f4b43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6" name="Google Shape;86;p17">
            <a:extLst xmlns:a="http://schemas.openxmlformats.org/drawingml/2006/main">
              <a:ext uri="{FF2B5EF4-FFF2-40B4-BE49-F238E27FC236}">
                <a16:creationId xmlns:a16="http://schemas.microsoft.com/office/drawing/2014/main" id="{C2574D8D-2270-49A8-8FEC-8419EF3DC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250" y="5071875"/>
            <a:ext cx="91734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>
            <a:extLst xmlns:a="http://schemas.openxmlformats.org/drawingml/2006/main">
              <a:ext uri="{FF2B5EF4-FFF2-40B4-BE49-F238E27FC236}">
                <a16:creationId xmlns:a16="http://schemas.microsoft.com/office/drawing/2014/main" id="{E7EF30E0-A2BE-4A24-AB3A-1C87C737E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67" y="663797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 algn="l">
              <a:defRPr sz="16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rgbClr val="000000"/>
                </a:solidFill>
              </a:defRPr>
            </a:pPr>
            <a:r>
              <a:rPr sz="1600" b="1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Core product features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D1674639-FDE1-4CB1-A9D5-2FD83CFFD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3952875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572F6150-ED36-4C5C-BEC4-17397BCDF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24000"/>
            <a:ext cx="3571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1">
                <a:solidFill>
                  <a:srgbClr val="3788E8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3788E8"/>
                </a:solidFill>
              </a:defRPr>
            </a:pPr>
            <a:r>
              <a:rPr sz="1350" b="1">
                <a:solidFill>
                  <a:srgbClr val="3788E8"/>
                </a:solidFill>
              </a:rPr>
              <a:t>Guided project brief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59EC845C-6CD0-453C-AA45-D91B2E657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3571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50" b="0">
                <a:solidFill>
                  <a:srgbClr val="586273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86273"/>
                </a:solidFill>
              </a:defRPr>
            </a:pPr>
            <a:r>
              <a:rPr sz="1050" b="0">
                <a:solidFill>
                  <a:srgbClr val="586273"/>
                </a:solidFill>
              </a:rPr>
              <a:t>Captures material, size, budget and pickup locality in plain language.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48B8AD39-A269-45C6-93F8-DC45339B9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381125"/>
            <a:ext cx="3952875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EBA3BCBC-FA83-475B-B4D7-4BDCD8CC8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1524000"/>
            <a:ext cx="3571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1">
                <a:solidFill>
                  <a:srgbClr val="7041D9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7041D9"/>
                </a:solidFill>
              </a:defRPr>
            </a:pPr>
            <a:r>
              <a:rPr sz="1350" b="1">
                <a:solidFill>
                  <a:srgbClr val="7041D9"/>
                </a:solidFill>
              </a:rPr>
              <a:t>Transparent matching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B0EBEFA6-F7CC-4590-A38F-19CBA18F8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1809750"/>
            <a:ext cx="3571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50" b="0">
                <a:solidFill>
                  <a:srgbClr val="586273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86273"/>
                </a:solidFill>
              </a:defRPr>
            </a:pPr>
            <a:r>
              <a:rPr sz="1050" b="0">
                <a:solidFill>
                  <a:srgbClr val="586273"/>
                </a:solidFill>
              </a:rPr>
              <a:t>Ranks real listings and shows area coverage, cost, gaps and uncertainty.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2A087B9B-294C-496D-AB15-4845D8E43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05075"/>
            <a:ext cx="3952875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D5E92DF4-66BE-41D6-B882-2B13E08DB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47950"/>
            <a:ext cx="3571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1">
                <a:solidFill>
                  <a:srgbClr val="3788E8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3788E8"/>
                </a:solidFill>
              </a:defRPr>
            </a:pPr>
            <a:r>
              <a:rPr sz="1350" b="1">
                <a:solidFill>
                  <a:srgbClr val="3788E8"/>
                </a:solidFill>
              </a:rPr>
              <a:t>Saved material plan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4445733F-DE16-43DA-86F1-FB8F36737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33700"/>
            <a:ext cx="3571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50" b="0">
                <a:solidFill>
                  <a:srgbClr val="586273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86273"/>
                </a:solidFill>
              </a:defRPr>
            </a:pPr>
            <a:r>
              <a:rPr sz="1050" b="0">
                <a:solidFill>
                  <a:srgbClr val="586273"/>
                </a:solidFill>
              </a:rPr>
              <a:t>Combines selected lots and tracks known coverage, spend and remaining need.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375F1265-AE1A-4453-9C6B-0161CB1D6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505075"/>
            <a:ext cx="3952875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2463A83E-C98A-4C1E-B90F-D96986877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647950"/>
            <a:ext cx="3571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1">
                <a:solidFill>
                  <a:srgbClr val="7041D9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7041D9"/>
                </a:solidFill>
              </a:defRPr>
            </a:pPr>
            <a:r>
              <a:rPr sz="1350" b="1">
                <a:solidFill>
                  <a:srgbClr val="7041D9"/>
                </a:solidFill>
              </a:rPr>
              <a:t>Fast owner listing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353CA1F2-6322-4EFF-9183-4C8A996E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933700"/>
            <a:ext cx="3571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50" b="0">
                <a:solidFill>
                  <a:srgbClr val="586273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86273"/>
                </a:solidFill>
              </a:defRPr>
            </a:pPr>
            <a:r>
              <a:rPr sz="1050" b="0">
                <a:solidFill>
                  <a:srgbClr val="586273"/>
                </a:solidFill>
              </a:rPr>
              <a:t>Turns a photo into a draft while keeping every field editable before publishing.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9627183B-7979-440F-857D-5FF003EBF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29025"/>
            <a:ext cx="3952875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B2A50A23-8C57-4B4E-AB5B-B3AA418E0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71900"/>
            <a:ext cx="3571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1">
                <a:solidFill>
                  <a:srgbClr val="3788E8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3788E8"/>
                </a:solidFill>
              </a:defRPr>
            </a:pPr>
            <a:r>
              <a:rPr sz="1350" b="1">
                <a:solidFill>
                  <a:srgbClr val="3788E8"/>
                </a:solidFill>
              </a:rPr>
              <a:t>Manual fallback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A0EB9D9F-01D3-4AD0-98AA-833A8C688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57650"/>
            <a:ext cx="3571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50" b="0">
                <a:solidFill>
                  <a:srgbClr val="586273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86273"/>
                </a:solidFill>
              </a:defRPr>
            </a:pPr>
            <a:r>
              <a:rPr sz="1050" b="0">
                <a:solidFill>
                  <a:srgbClr val="586273"/>
                </a:solidFill>
              </a:rPr>
              <a:t>Keeps browsing and listing usable when AI is unavailable.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3A302745-4828-464E-BD0D-897FB71BD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629025"/>
            <a:ext cx="3952875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C849D030-265D-4E97-B77C-C5E524E84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771900"/>
            <a:ext cx="3571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1">
                <a:solidFill>
                  <a:srgbClr val="7041D9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7041D9"/>
                </a:solidFill>
              </a:defRPr>
            </a:pPr>
            <a:r>
              <a:rPr sz="1350" b="1">
                <a:solidFill>
                  <a:srgbClr val="7041D9"/>
                </a:solidFill>
              </a:rPr>
              <a:t>Responsive experience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87D723F9-88FD-4BE3-83D7-EB752BCB1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4057650"/>
            <a:ext cx="3571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50" b="0">
                <a:solidFill>
                  <a:srgbClr val="586273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86273"/>
                </a:solidFill>
              </a:defRPr>
            </a:pPr>
            <a:r>
              <a:rPr sz="1050" b="0">
                <a:solidFill>
                  <a:srgbClr val="586273"/>
                </a:solidFill>
              </a:rPr>
              <a:t>Supports the complete finder and owner journey on desktop and mobile.</a:t>
            </a:r>
          </a:p>
        </p:txBody>
      </p:sp>
    </p:spTree>
    <p:extLst>
      <p:ext uri="{BB962C8B-B14F-4D97-AF65-F5344CB8AC3E}">
        <p14:creationId xmlns:p14="http://schemas.microsoft.com/office/powerpoint/2010/main" val="85122007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2" name="Google Shape;92;p18">
            <a:extLst xmlns:a="http://schemas.openxmlformats.org/drawingml/2006/main">
              <a:ext uri="{FF2B5EF4-FFF2-40B4-BE49-F238E27FC236}">
                <a16:creationId xmlns:a16="http://schemas.microsoft.com/office/drawing/2014/main" id="{FDA35285-2268-4904-9BE8-2FDCE2D0A4D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210cd1c81854bb0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93" name="Google Shape;93;p18">
            <a:extLst xmlns:a="http://schemas.openxmlformats.org/drawingml/2006/main">
              <a:ext uri="{FF2B5EF4-FFF2-40B4-BE49-F238E27FC236}">
                <a16:creationId xmlns:a16="http://schemas.microsoft.com/office/drawing/2014/main" id="{4ED45FBA-69E3-41FC-952D-E4015B94DC0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4008fbca894019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94" name="Google Shape;94;p18">
            <a:extLst xmlns:a="http://schemas.openxmlformats.org/drawingml/2006/main">
              <a:ext uri="{FF2B5EF4-FFF2-40B4-BE49-F238E27FC236}">
                <a16:creationId xmlns:a16="http://schemas.microsoft.com/office/drawing/2014/main" id="{BC1E40B9-2B7B-4FC5-B47F-3B45B767E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250" y="5071875"/>
            <a:ext cx="91734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8">
            <a:extLst xmlns:a="http://schemas.openxmlformats.org/drawingml/2006/main">
              <a:ext uri="{FF2B5EF4-FFF2-40B4-BE49-F238E27FC236}">
                <a16:creationId xmlns:a16="http://schemas.microsoft.com/office/drawing/2014/main" id="{44526AFC-7BFD-4F1B-B3A1-74DBE4ABB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67" y="663797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 algn="l">
              <a:defRPr sz="16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rgbClr val="000000"/>
                </a:solidFill>
              </a:defRPr>
            </a:pPr>
            <a:r>
              <a:rPr sz="1600" b="1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Finder and owner journeys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1CF33FE7-0474-4E40-90DE-F179B67EE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91452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 b="1">
                <a:solidFill>
                  <a:srgbClr val="25D9F0"/>
                </a:solidFill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25D9F0"/>
                </a:solidFill>
              </a:defRPr>
            </a:pPr>
            <a:r>
              <a:rPr sz="1125" b="1">
                <a:solidFill>
                  <a:srgbClr val="25D9F0"/>
                </a:solidFill>
              </a:rPr>
              <a:t>FINDER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11E2EC4C-5F57-4A33-8714-640F8F63C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619250"/>
            <a:ext cx="14287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D9F0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200" b="1">
                <a:solidFill>
                  <a:srgbClr val="111827"/>
                </a:solidFill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1</a:t>
            </a:r>
          </a:p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Describe project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42041155-4B76-413F-BE81-2A36DC5A5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1914525"/>
            <a:ext cx="23812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D9F0"/>
          </a:solidFill>
          <a:ln xmlns:a="http://schemas.openxmlformats.org/drawingml/2006/main" w="0">
            <a:solidFill>
              <a:srgbClr val="25D9F0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804378FE-CE09-435B-B072-157D2C1BA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19250"/>
            <a:ext cx="14287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D9F0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200" b="1">
                <a:solidFill>
                  <a:srgbClr val="111827"/>
                </a:solidFill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2</a:t>
            </a:r>
          </a:p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Confirm requirements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214D0B52-7DE0-441C-B9CA-6406DAB44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914525"/>
            <a:ext cx="23812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D9F0"/>
          </a:solidFill>
          <a:ln xmlns:a="http://schemas.openxmlformats.org/drawingml/2006/main" w="0">
            <a:solidFill>
              <a:srgbClr val="25D9F0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D1D93CDE-7E2E-4964-A787-15E0DB1A0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619250"/>
            <a:ext cx="14287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D9F0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200" b="1">
                <a:solidFill>
                  <a:srgbClr val="111827"/>
                </a:solidFill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3</a:t>
            </a:r>
          </a:p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Review matches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396BE7F4-0D6B-4015-9BF9-D72FDD0EF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1914525"/>
            <a:ext cx="23812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D9F0"/>
          </a:solidFill>
          <a:ln xmlns:a="http://schemas.openxmlformats.org/drawingml/2006/main" w="0">
            <a:solidFill>
              <a:srgbClr val="25D9F0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05E6220B-154E-4F9D-BFDA-7856F015D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619250"/>
            <a:ext cx="14287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D9F0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200" b="1">
                <a:solidFill>
                  <a:srgbClr val="111827"/>
                </a:solidFill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4</a:t>
            </a:r>
          </a:p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Save a plan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B5DE3954-813B-4138-B9E3-77F5ED475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3909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 b="1">
                <a:solidFill>
                  <a:srgbClr val="7041D9"/>
                </a:solidFill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7041D9"/>
                </a:solidFill>
              </a:defRPr>
            </a:pPr>
            <a:r>
              <a:rPr sz="1125" b="1">
                <a:solidFill>
                  <a:srgbClr val="7041D9"/>
                </a:solidFill>
              </a:rPr>
              <a:t>OWNER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7316E1F7-136F-4F71-A677-EE29DF6CC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95625"/>
            <a:ext cx="14287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041D9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200" b="1">
                <a:solidFill>
                  <a:srgbClr val="111827"/>
                </a:solidFill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1</a:t>
            </a:r>
          </a:p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Add a photo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7CEF8EE6-37B0-42EB-8D44-5E3F0D3AA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390900"/>
            <a:ext cx="23812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041D9"/>
          </a:solidFill>
          <a:ln xmlns:a="http://schemas.openxmlformats.org/drawingml/2006/main" w="0">
            <a:solidFill>
              <a:srgbClr val="7041D9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279A0096-4B3A-4D48-83FF-6EB9032AB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95625"/>
            <a:ext cx="14287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041D9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200" b="1">
                <a:solidFill>
                  <a:srgbClr val="111827"/>
                </a:solidFill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2</a:t>
            </a:r>
          </a:p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Review draft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B477F59A-1B46-475F-B208-F63572C78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3390900"/>
            <a:ext cx="23812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041D9"/>
          </a:solidFill>
          <a:ln xmlns:a="http://schemas.openxmlformats.org/drawingml/2006/main" w="0">
            <a:solidFill>
              <a:srgbClr val="7041D9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55835252-76E4-47DB-8F0F-D8C89545F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095625"/>
            <a:ext cx="14287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041D9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200" b="1">
                <a:solidFill>
                  <a:srgbClr val="111827"/>
                </a:solidFill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3</a:t>
            </a:r>
          </a:p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Correct details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F8EF3067-F8F3-4EE5-91CA-7F9894364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390900"/>
            <a:ext cx="23812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041D9"/>
          </a:solidFill>
          <a:ln xmlns:a="http://schemas.openxmlformats.org/drawingml/2006/main" w="0">
            <a:solidFill>
              <a:srgbClr val="7041D9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8FB70506-6D0F-46A8-9053-0EA42B72D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95625"/>
            <a:ext cx="14287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041D9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200" b="1">
                <a:solidFill>
                  <a:srgbClr val="111827"/>
                </a:solidFill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4</a:t>
            </a:r>
          </a:p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Publish listing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746DB3A4-EEB4-4D39-8F72-9C59E6513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00550"/>
            <a:ext cx="762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200" b="1">
                <a:solidFill>
                  <a:srgbClr val="586273"/>
                </a:solidFill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586273"/>
                </a:solidFill>
              </a:defRPr>
            </a:pPr>
            <a:r>
              <a:rPr sz="1200" b="1">
                <a:solidFill>
                  <a:srgbClr val="586273"/>
                </a:solidFill>
              </a:rPr>
              <a:t>Signature scenario: a renter needs a mosaic tabletop. Re:Source identifies suitable tile leftovers, calculates coverage and cost, flags missing details and saves the plan.</a:t>
            </a:r>
          </a:p>
        </p:txBody>
      </p:sp>
    </p:spTree>
    <p:extLst>
      <p:ext uri="{BB962C8B-B14F-4D97-AF65-F5344CB8AC3E}">
        <p14:creationId xmlns:p14="http://schemas.microsoft.com/office/powerpoint/2010/main" val="123557933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0" name="Google Shape;100;p19">
            <a:extLst xmlns:a="http://schemas.openxmlformats.org/drawingml/2006/main">
              <a:ext uri="{FF2B5EF4-FFF2-40B4-BE49-F238E27FC236}">
                <a16:creationId xmlns:a16="http://schemas.microsoft.com/office/drawing/2014/main" id="{CECE9E3E-851D-4910-BFBF-A87490C10E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1cd5faa0ae74f9e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1" name="Google Shape;101;p19">
            <a:extLst xmlns:a="http://schemas.openxmlformats.org/drawingml/2006/main">
              <a:ext uri="{FF2B5EF4-FFF2-40B4-BE49-F238E27FC236}">
                <a16:creationId xmlns:a16="http://schemas.microsoft.com/office/drawing/2014/main" id="{DE77495B-E02A-429F-9581-A7957A42DA9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c367661fde4eb5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2" name="Google Shape;102;p19">
            <a:extLst xmlns:a="http://schemas.openxmlformats.org/drawingml/2006/main">
              <a:ext uri="{FF2B5EF4-FFF2-40B4-BE49-F238E27FC236}">
                <a16:creationId xmlns:a16="http://schemas.microsoft.com/office/drawing/2014/main" id="{9D208A02-66FC-4681-AA88-20A9D25D9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250" y="5071875"/>
            <a:ext cx="91734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9">
            <a:extLst xmlns:a="http://schemas.openxmlformats.org/drawingml/2006/main">
              <a:ext uri="{FF2B5EF4-FFF2-40B4-BE49-F238E27FC236}">
                <a16:creationId xmlns:a16="http://schemas.microsoft.com/office/drawing/2014/main" id="{5C8DC2A1-BC3F-47EE-AADF-15872B584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67" y="663797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 algn="l">
              <a:defRPr sz="16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rgbClr val="000000"/>
                </a:solidFill>
              </a:defRPr>
            </a:pPr>
            <a:r>
              <a:rPr sz="1600" b="1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Experience evolved from catalogue to guided conversation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534782BD-D8E3-4635-9E7A-BBE289CBE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2571750" cy="27622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160F8709-AAC0-4E37-A7E3-0EE269575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7162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1">
                <a:solidFill>
                  <a:srgbClr val="3788E8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3788E8"/>
                </a:solidFill>
              </a:defRPr>
            </a:pPr>
            <a:r>
              <a:rPr sz="1650" b="1">
                <a:solidFill>
                  <a:srgbClr val="3788E8"/>
                </a:solidFill>
              </a:rPr>
              <a:t>1. Browse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4BC179AD-3362-4751-8E1C-5E88479CA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09775"/>
            <a:ext cx="219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 b="0">
                <a:solidFill>
                  <a:srgbClr val="586273"/>
                </a:solidFill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86273"/>
                </a:solidFill>
              </a:defRPr>
            </a:pPr>
            <a:r>
              <a:rPr sz="1125" b="0">
                <a:solidFill>
                  <a:srgbClr val="586273"/>
                </a:solidFill>
              </a:rPr>
              <a:t>A catalogue exposed inventory but left the user to translate a project into search terms.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E99A46A5-6A69-4881-B827-AE1AB2E57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04800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6E07B587-AF2E-4E83-B5A6-9C725377A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3337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4AB97F10-660B-453D-B010-EABE46A22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E0D00B72-5793-4EB5-AAC7-F87186B08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1381125"/>
            <a:ext cx="2571750" cy="27622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1ECFC"/>
          </a:solidFill>
          <a:ln xmlns:a="http://schemas.openxmlformats.org/drawingml/2006/main" w="9525">
            <a:solidFill>
              <a:srgbClr val="7041D9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C2BC0BBA-DB6B-4D47-A822-29B1AAFCF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157162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1">
                <a:solidFill>
                  <a:srgbClr val="7041D9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7041D9"/>
                </a:solidFill>
              </a:defRPr>
            </a:pPr>
            <a:r>
              <a:rPr sz="1650" b="1">
                <a:solidFill>
                  <a:srgbClr val="7041D9"/>
                </a:solidFill>
              </a:rPr>
              <a:t>2. Clarify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1AE71541-3EBB-4B6E-8AB8-16BA11223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009775"/>
            <a:ext cx="219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 b="0">
                <a:solidFill>
                  <a:srgbClr val="586273"/>
                </a:solidFill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86273"/>
                </a:solidFill>
              </a:defRPr>
            </a:pPr>
            <a:r>
              <a:rPr sz="1125" b="0">
                <a:solidFill>
                  <a:srgbClr val="586273"/>
                </a:solidFill>
              </a:rPr>
              <a:t>The interface now asks for material, size, budget and locality only when needed.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52F54948-3B13-437C-B897-30504B02A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04800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2DF2159F-B3BD-453A-93AE-38DDE6E12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333750"/>
            <a:ext cx="1571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C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D30A4DA0-D083-4D6C-9084-2475184BE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6195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40FBD33A-7BD0-45E6-B131-168A6EAF7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381125"/>
            <a:ext cx="2571750" cy="27622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0E84DBEA-7F64-4A6A-90A0-C94B02D89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7162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1">
                <a:solidFill>
                  <a:srgbClr val="3788E8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3788E8"/>
                </a:solidFill>
              </a:defRPr>
            </a:pPr>
            <a:r>
              <a:rPr sz="1650" b="1">
                <a:solidFill>
                  <a:srgbClr val="3788E8"/>
                </a:solidFill>
              </a:rPr>
              <a:t>3. Explain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45AEDE17-A6DD-4ED8-8C31-E3FDD8661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09775"/>
            <a:ext cx="219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 b="0">
                <a:solidFill>
                  <a:srgbClr val="586273"/>
                </a:solidFill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86273"/>
                </a:solidFill>
              </a:defRPr>
            </a:pPr>
            <a:r>
              <a:rPr sz="1125" b="0">
                <a:solidFill>
                  <a:srgbClr val="586273"/>
                </a:solidFill>
              </a:rPr>
              <a:t>Results connect each recommendation to evidence, calculations and remaining uncertainty.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B085BDA1-1E3C-4954-99E3-F2E78766A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04800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BB320214-AF62-453A-8A2F-D4FA746A0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3337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9D2CF040-05FC-4179-A771-68E0E32D4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6195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BFD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6256841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8" name="Google Shape;108;p20">
            <a:extLst xmlns:a="http://schemas.openxmlformats.org/drawingml/2006/main">
              <a:ext uri="{FF2B5EF4-FFF2-40B4-BE49-F238E27FC236}">
                <a16:creationId xmlns:a16="http://schemas.microsoft.com/office/drawing/2014/main" id="{125A95BF-9FEE-4810-81C2-C2570C40943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0bb695c320240e9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9" name="Google Shape;109;p20">
            <a:extLst xmlns:a="http://schemas.openxmlformats.org/drawingml/2006/main">
              <a:ext uri="{FF2B5EF4-FFF2-40B4-BE49-F238E27FC236}">
                <a16:creationId xmlns:a16="http://schemas.microsoft.com/office/drawing/2014/main" id="{2C31EF28-DEC0-409C-8E0D-E9FAE6BDAE4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7571c0f2c04337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10" name="Google Shape;110;p20">
            <a:extLst xmlns:a="http://schemas.openxmlformats.org/drawingml/2006/main">
              <a:ext uri="{FF2B5EF4-FFF2-40B4-BE49-F238E27FC236}">
                <a16:creationId xmlns:a16="http://schemas.microsoft.com/office/drawing/2014/main" id="{A593515E-9CA8-410F-AC93-1BC356371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250" y="5071875"/>
            <a:ext cx="91734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0">
            <a:extLst xmlns:a="http://schemas.openxmlformats.org/drawingml/2006/main">
              <a:ext uri="{FF2B5EF4-FFF2-40B4-BE49-F238E27FC236}">
                <a16:creationId xmlns:a16="http://schemas.microsoft.com/office/drawing/2014/main" id="{B0B17515-B1BA-4EE4-A4A2-5FB997629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67" y="663797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 algn="l">
              <a:defRPr sz="16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rgbClr val="000000"/>
                </a:solidFill>
              </a:defRPr>
            </a:pPr>
            <a:r>
              <a:rPr sz="1600" b="1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Proposed Google-hosted architecture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DD6DA233-ECD0-4632-A378-23D8D8BD6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809750"/>
            <a:ext cx="16192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CFBFD"/>
          </a:solidFill>
          <a:ln xmlns:a="http://schemas.openxmlformats.org/drawingml/2006/main" w="9525">
            <a:solidFill>
              <a:srgbClr val="25D9F0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275" b="1">
                <a:solidFill>
                  <a:srgbClr val="111827"/>
                </a:solidFill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React + TypeScript</a:t>
            </a:r>
          </a:p>
          <a:p xmlns:a="http://schemas.openxmlformats.org/drawingml/2006/main">
            <a:pPr algn="ctr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shadcn/ui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481D0B4A-05DC-404A-BF4A-8961ED3A9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809750"/>
            <a:ext cx="1428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CFBFD"/>
          </a:solidFill>
          <a:ln xmlns:a="http://schemas.openxmlformats.org/drawingml/2006/main" w="9525">
            <a:solidFill>
              <a:srgbClr val="25D9F0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275" b="1">
                <a:solidFill>
                  <a:srgbClr val="111827"/>
                </a:solidFill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Firebase Hosting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10E974EB-9147-4F8B-8DF5-B272E5A7C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285875"/>
            <a:ext cx="16192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1ECFC"/>
          </a:solidFill>
          <a:ln xmlns:a="http://schemas.openxmlformats.org/drawingml/2006/main" w="9525">
            <a:solidFill>
              <a:srgbClr val="7041D9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275" b="1">
                <a:solidFill>
                  <a:srgbClr val="111827"/>
                </a:solidFill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Auth + App Check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E3806505-C601-475D-B062-85F261FFE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381250"/>
            <a:ext cx="16192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1ECFC"/>
          </a:solidFill>
          <a:ln xmlns:a="http://schemas.openxmlformats.org/drawingml/2006/main" w="9525">
            <a:solidFill>
              <a:srgbClr val="7041D9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275" b="1">
                <a:solidFill>
                  <a:srgbClr val="111827"/>
                </a:solidFill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Cloud Firestore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C72268B3-4377-42D3-BCAD-4BDB2FDD4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09750"/>
            <a:ext cx="16192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CFBFD"/>
          </a:solidFill>
          <a:ln xmlns:a="http://schemas.openxmlformats.org/drawingml/2006/main" w="9525">
            <a:solidFill>
              <a:srgbClr val="25D9F0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275" b="1">
                <a:solidFill>
                  <a:srgbClr val="111827"/>
                </a:solidFill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Firebase AI Logic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20EE0A48-F3D8-464F-9961-4F2DAD9F5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43250"/>
            <a:ext cx="16192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1ECFC"/>
          </a:solidFill>
          <a:ln xmlns:a="http://schemas.openxmlformats.org/drawingml/2006/main" w="9525">
            <a:solidFill>
              <a:srgbClr val="7041D9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275" b="1">
                <a:solidFill>
                  <a:srgbClr val="111827"/>
                </a:solidFill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Gemini Developer API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E474C34B-B8D6-4C87-8DCF-230C1EB6E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028825"/>
            <a:ext cx="33337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D9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DA9D8B6C-D60C-45A9-8514-123C5F138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28825"/>
            <a:ext cx="33337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041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FF50BC5B-A920-47DF-8AD9-0BEF0AA7A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028825"/>
            <a:ext cx="42862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D9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94BD256A-60D8-46F1-93FF-966C53992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571750"/>
            <a:ext cx="285750" cy="4762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041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0C2A24DF-2229-4C21-9205-26A381931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429000"/>
            <a:ext cx="3476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350" b="1">
                <a:solidFill>
                  <a:srgbClr val="3788E8"/>
                </a:solidFill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3788E8"/>
                </a:solidFill>
              </a:defRPr>
            </a:pPr>
            <a:r>
              <a:rPr sz="1350" b="1">
                <a:solidFill>
                  <a:srgbClr val="3788E8"/>
                </a:solidFill>
              </a:rPr>
              <a:t>Deterministic app code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6EE40D72-0E34-4059-8179-BED36BCE6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790950"/>
            <a:ext cx="3476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125" b="0">
                <a:solidFill>
                  <a:srgbClr val="586273"/>
                </a:solidFill>
              </a:defRPr>
            </a:defPPr>
          </a:lstStyle>
          <a:p xmlns:a="http://schemas.openxmlformats.org/drawingml/2006/main">
            <a:pPr algn="ctr">
              <a:defRPr sz="1125" b="0">
                <a:solidFill>
                  <a:srgbClr val="586273"/>
                </a:solidFill>
              </a:defRPr>
            </a:pPr>
            <a:r>
              <a:rPr sz="1125" b="0">
                <a:solidFill>
                  <a:srgbClr val="586273"/>
                </a:solidFill>
              </a:rPr>
              <a:t>Quantity, area and price calculations remain outside the model.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248C3F82-395A-4978-9C47-B0EFDBECA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52950"/>
            <a:ext cx="733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050" b="0">
                <a:solidFill>
                  <a:srgbClr val="586273"/>
                </a:solidFill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586273"/>
                </a:solidFill>
              </a:defRPr>
            </a:pPr>
            <a:r>
              <a:rPr sz="1050" b="0">
                <a:solidFill>
                  <a:srgbClr val="586273"/>
                </a:solidFill>
              </a:rPr>
              <a:t>No Cloud Storage, Cloud Functions, Cloud Run or Vertex AI in the zero-billing design.</a:t>
            </a:r>
          </a:p>
        </p:txBody>
      </p:sp>
    </p:spTree>
    <p:extLst>
      <p:ext uri="{BB962C8B-B14F-4D97-AF65-F5344CB8AC3E}">
        <p14:creationId xmlns:p14="http://schemas.microsoft.com/office/powerpoint/2010/main" val="133333277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6" name="Google Shape;116;p21">
            <a:extLst xmlns:a="http://schemas.openxmlformats.org/drawingml/2006/main">
              <a:ext uri="{FF2B5EF4-FFF2-40B4-BE49-F238E27FC236}">
                <a16:creationId xmlns:a16="http://schemas.microsoft.com/office/drawing/2014/main" id="{C65CA4DD-70CE-4841-A367-F2EB86276B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69a589a85634c7f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17" name="Google Shape;117;p21">
            <a:extLst xmlns:a="http://schemas.openxmlformats.org/drawingml/2006/main">
              <a:ext uri="{FF2B5EF4-FFF2-40B4-BE49-F238E27FC236}">
                <a16:creationId xmlns:a16="http://schemas.microsoft.com/office/drawing/2014/main" id="{53D9491E-445C-4E80-BD63-49DF3C4DF1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2656f54fe149af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18" name="Google Shape;118;p21">
            <a:extLst xmlns:a="http://schemas.openxmlformats.org/drawingml/2006/main">
              <a:ext uri="{FF2B5EF4-FFF2-40B4-BE49-F238E27FC236}">
                <a16:creationId xmlns:a16="http://schemas.microsoft.com/office/drawing/2014/main" id="{47615BFD-EDAA-4E5A-B4A9-F954613F0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250" y="5071875"/>
            <a:ext cx="91734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1">
            <a:extLst xmlns:a="http://schemas.openxmlformats.org/drawingml/2006/main">
              <a:ext uri="{FF2B5EF4-FFF2-40B4-BE49-F238E27FC236}">
                <a16:creationId xmlns:a16="http://schemas.microsoft.com/office/drawing/2014/main" id="{2D7B54CD-5F81-42D5-A9B3-088AEA1A1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67" y="663797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 algn="l">
              <a:defRPr sz="16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rgbClr val="000000"/>
                </a:solidFill>
              </a:defRPr>
            </a:pPr>
            <a:r>
              <a:rPr sz="1600" b="1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Technology choices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101EEC5E-CA7D-4D88-9039-E5270F6E1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763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1">
                <a:solidFill>
                  <a:srgbClr val="3788E8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3788E8"/>
                </a:solidFill>
              </a:defRPr>
            </a:pPr>
            <a:r>
              <a:rPr sz="1350" b="1">
                <a:solidFill>
                  <a:srgbClr val="3788E8"/>
                </a:solidFill>
              </a:rPr>
              <a:t>Frontend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7D9B136E-CB55-4A80-B955-C007D2872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476375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111827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React 19, TypeScript, Vite 8, Tailwind CSS and shadcn/ui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B987137C-9602-4F34-9FDA-9FC2D5D00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669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1">
                <a:solidFill>
                  <a:srgbClr val="7041D9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7041D9"/>
                </a:solidFill>
              </a:defRPr>
            </a:pPr>
            <a:r>
              <a:rPr sz="1350" b="1">
                <a:solidFill>
                  <a:srgbClr val="7041D9"/>
                </a:solidFill>
              </a:rPr>
              <a:t>Google services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A62FBE9F-AFA2-484D-99A7-20BC1026A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266950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111827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Firebase Hosting, Firestore, anonymous Authentication and App Check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AE35B580-21D4-4BAB-8275-5EE86FAD2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575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1">
                <a:solidFill>
                  <a:srgbClr val="3788E8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3788E8"/>
                </a:solidFill>
              </a:defRPr>
            </a:pPr>
            <a:r>
              <a:rPr sz="1350" b="1">
                <a:solidFill>
                  <a:srgbClr val="3788E8"/>
                </a:solidFill>
              </a:rPr>
              <a:t>AI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70EE8A5A-D7BC-4385-8EDE-69046D179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057525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111827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Firebase AI Logic with the Gemini Developer API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78C50CA6-2120-4024-997A-058373252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8481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1">
                <a:solidFill>
                  <a:srgbClr val="7041D9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7041D9"/>
                </a:solidFill>
              </a:defRPr>
            </a:pPr>
            <a:r>
              <a:rPr sz="1350" b="1">
                <a:solidFill>
                  <a:srgbClr val="7041D9"/>
                </a:solidFill>
              </a:rPr>
              <a:t>Quality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C4157852-ED42-4ADF-B389-67CB7FF95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848100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111827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Vitest, production builds and browser-based journey checks</a:t>
            </a:r>
          </a:p>
        </p:txBody>
      </p:sp>
      <p:pic>
        <p:nvPic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FD39684B-F884-423C-99B3-4F0EF754961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e5e78f94984e16"/>
          <a:stretch xmlns:a="http://schemas.openxmlformats.org/drawingml/2006/main"/>
        </p:blipFill>
        <p:spPr>
          <a:xfrm xmlns:a="http://schemas.openxmlformats.org/drawingml/2006/main">
            <a:off x="7096125" y="1910137"/>
            <a:ext cx="1619250" cy="1704225"/>
          </a:xfrm>
          <a:prstGeom xmlns:a="http://schemas.openxmlformats.org/drawingml/2006/main" prst="rect">
            <a:avLst/>
          </a:prstGeom>
        </p:spPr>
      </p:pic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D4F7E74F-282C-4148-AAE0-D604A426B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4386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 b="1">
                <a:solidFill>
                  <a:srgbClr val="586273"/>
                </a:solidFill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586273"/>
                </a:solidFill>
              </a:defRPr>
            </a:pPr>
            <a:r>
              <a:rPr sz="1125" b="1">
                <a:solidFill>
                  <a:srgbClr val="586273"/>
                </a:solidFill>
              </a:rPr>
              <a:t>Open-source UI foundation: shadcn/ui (MIT)</a:t>
            </a:r>
          </a:p>
        </p:txBody>
      </p:sp>
    </p:spTree>
    <p:extLst>
      <p:ext uri="{BB962C8B-B14F-4D97-AF65-F5344CB8AC3E}">
        <p14:creationId xmlns:p14="http://schemas.microsoft.com/office/powerpoint/2010/main" val="47966350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4" name="Google Shape;124;p22">
            <a:extLst xmlns:a="http://schemas.openxmlformats.org/drawingml/2006/main">
              <a:ext uri="{FF2B5EF4-FFF2-40B4-BE49-F238E27FC236}">
                <a16:creationId xmlns:a16="http://schemas.microsoft.com/office/drawing/2014/main" id="{EF3F4565-57E5-4003-B8CD-F67D51B8182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027cc5321da42ed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25" name="Google Shape;125;p22">
            <a:extLst xmlns:a="http://schemas.openxmlformats.org/drawingml/2006/main">
              <a:ext uri="{FF2B5EF4-FFF2-40B4-BE49-F238E27FC236}">
                <a16:creationId xmlns:a16="http://schemas.microsoft.com/office/drawing/2014/main" id="{DE67D14A-1092-4286-8A83-81A7E1634EF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5d19544b4d49b3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26" name="Google Shape;126;p22">
            <a:extLst xmlns:a="http://schemas.openxmlformats.org/drawingml/2006/main">
              <a:ext uri="{FF2B5EF4-FFF2-40B4-BE49-F238E27FC236}">
                <a16:creationId xmlns:a16="http://schemas.microsoft.com/office/drawing/2014/main" id="{04FC8E6A-A3BA-4B0A-AD0E-44B72F98A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250" y="5071875"/>
            <a:ext cx="91734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2">
            <a:extLst xmlns:a="http://schemas.openxmlformats.org/drawingml/2006/main">
              <a:ext uri="{FF2B5EF4-FFF2-40B4-BE49-F238E27FC236}">
                <a16:creationId xmlns:a16="http://schemas.microsoft.com/office/drawing/2014/main" id="{06C7D163-5ADD-493B-B471-60B8286C6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67" y="663797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 algn="l">
              <a:defRPr sz="16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rgbClr val="000000"/>
                </a:solidFill>
              </a:defRPr>
            </a:pPr>
            <a:r>
              <a:rPr sz="1600" b="1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Implementation cost target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6059DE2E-F0A2-4654-8A01-278C45E2F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14450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1">
                <a:solidFill>
                  <a:srgbClr val="111827"/>
                </a:solidFill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The prototype is designed to run without paid infrastructure during the competition.</a:t>
            </a:r>
          </a:p>
        </p:txBody>
      </p:sp>
      <p:graphicFrame>
        <p:nvGraphicFrame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147D1461-4D67-4F93-BB59-C4197911290F}"/>
              </a:ext>
            </a:extLst>
          </p:cNvPr>
          <p:cNvGraphicFramePr/>
          <p:nvPr/>
        </p:nvGraphicFramePr>
        <p:xfrm>
          <a:off xmlns:a="http://schemas.openxmlformats.org/drawingml/2006/main" x="523875" y="2000250"/>
          <a:ext xmlns:a="http://schemas.openxmlformats.org/drawingml/2006/main" cx="8096250" cy="2143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98750"/>
                <a:gridCol w="2698750"/>
                <a:gridCol w="2698750"/>
              </a:tblGrid>
              <a:tr h="4286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Component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DEE8"/>
                      </a:solidFill>
                      <a:prstDash val="solid"/>
                    </a:lnL>
                    <a:lnR w="9525">
                      <a:solidFill>
                        <a:srgbClr val="D8DEE8"/>
                      </a:solidFill>
                      <a:prstDash val="solid"/>
                    </a:lnR>
                    <a:lnT w="9525">
                      <a:solidFill>
                        <a:srgbClr val="D8DEE8"/>
                      </a:solidFill>
                      <a:prstDash val="solid"/>
                    </a:lnT>
                    <a:lnB w="9525">
                      <a:solidFill>
                        <a:srgbClr val="D8DEE8"/>
                      </a:solidFill>
                      <a:prstDash val="soli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Planned tier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8"/>
                      </a:solidFill>
                      <a:prstDash val="solid"/>
                    </a:lnR>
                    <a:lnT w="9525">
                      <a:solidFill>
                        <a:srgbClr val="D8DEE8"/>
                      </a:solidFill>
                      <a:prstDash val="solid"/>
                    </a:lnT>
                    <a:lnB w="9525">
                      <a:solidFill>
                        <a:srgbClr val="D8DEE8"/>
                      </a:solidFill>
                      <a:prstDash val="soli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Competition cost target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8"/>
                      </a:solidFill>
                      <a:prstDash val="solid"/>
                    </a:lnR>
                    <a:lnT w="9525">
                      <a:solidFill>
                        <a:srgbClr val="D8DEE8"/>
                      </a:solidFill>
                      <a:prstDash val="solid"/>
                    </a:lnT>
                    <a:lnB w="9525">
                      <a:solidFill>
                        <a:srgbClr val="D8DEE8"/>
                      </a:solidFill>
                      <a:prstDash val="solid"/>
                    </a:lnB>
                    <a:solidFill>
                      <a:srgbClr val="111827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</a:rPr>
                        <a:t>Firebase Hosting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DEE8"/>
                      </a:solidFill>
                      <a:prstDash val="solid"/>
                    </a:lnL>
                    <a:lnR w="9525">
                      <a:solidFill>
                        <a:srgbClr val="D8DEE8"/>
                      </a:solidFill>
                      <a:prstDash val="solid"/>
                    </a:lnR>
                    <a:lnB w="9525">
                      <a:solidFill>
                        <a:srgbClr val="D8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</a:rPr>
                        <a:t>Spark / unbilled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8"/>
                      </a:solidFill>
                      <a:prstDash val="solid"/>
                    </a:lnR>
                    <a:lnB w="9525">
                      <a:solidFill>
                        <a:srgbClr val="D8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</a:rPr>
                        <a:t>₹0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8"/>
                      </a:solidFill>
                      <a:prstDash val="solid"/>
                    </a:lnR>
                    <a:lnB w="9525">
                      <a:solidFill>
                        <a:srgbClr val="D8DEE8"/>
                      </a:solidFill>
                      <a:prstDash val="solid"/>
                    </a:lnB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</a:rPr>
                        <a:t>Firestore + anonymous Auth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DEE8"/>
                      </a:solidFill>
                      <a:prstDash val="solid"/>
                    </a:lnL>
                    <a:lnR w="9525">
                      <a:solidFill>
                        <a:srgbClr val="D8DEE8"/>
                      </a:solidFill>
                      <a:prstDash val="solid"/>
                    </a:lnR>
                    <a:lnB w="9525">
                      <a:solidFill>
                        <a:srgbClr val="D8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</a:rPr>
                        <a:t>Free quota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8"/>
                      </a:solidFill>
                      <a:prstDash val="solid"/>
                    </a:lnR>
                    <a:lnB w="9525">
                      <a:solidFill>
                        <a:srgbClr val="D8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</a:rPr>
                        <a:t>₹0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8"/>
                      </a:solidFill>
                      <a:prstDash val="solid"/>
                    </a:lnR>
                    <a:lnB w="9525">
                      <a:solidFill>
                        <a:srgbClr val="D8DEE8"/>
                      </a:solidFill>
                      <a:prstDash val="solid"/>
                    </a:lnB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</a:rPr>
                        <a:t>Firebase AI Logic + Gemini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DEE8"/>
                      </a:solidFill>
                      <a:prstDash val="solid"/>
                    </a:lnL>
                    <a:lnR w="9525">
                      <a:solidFill>
                        <a:srgbClr val="D8DEE8"/>
                      </a:solidFill>
                      <a:prstDash val="solid"/>
                    </a:lnR>
                    <a:lnB w="9525">
                      <a:solidFill>
                        <a:srgbClr val="D8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</a:rPr>
                        <a:t>Free developer quota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8"/>
                      </a:solidFill>
                      <a:prstDash val="solid"/>
                    </a:lnR>
                    <a:lnB w="9525">
                      <a:solidFill>
                        <a:srgbClr val="D8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</a:rPr>
                        <a:t>₹0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8"/>
                      </a:solidFill>
                      <a:prstDash val="solid"/>
                    </a:lnR>
                    <a:lnB w="9525">
                      <a:solidFill>
                        <a:srgbClr val="D8DEE8"/>
                      </a:solidFill>
                      <a:prstDash val="solid"/>
                    </a:lnB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</a:rPr>
                        <a:t>Frontend libraries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DEE8"/>
                      </a:solidFill>
                      <a:prstDash val="solid"/>
                    </a:lnL>
                    <a:lnR w="9525">
                      <a:solidFill>
                        <a:srgbClr val="D8DEE8"/>
                      </a:solidFill>
                      <a:prstDash val="solid"/>
                    </a:lnR>
                    <a:lnB w="9525">
                      <a:solidFill>
                        <a:srgbClr val="D8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</a:rPr>
                        <a:t>Open source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8"/>
                      </a:solidFill>
                      <a:prstDash val="solid"/>
                    </a:lnR>
                    <a:lnB w="9525">
                      <a:solidFill>
                        <a:srgbClr val="D8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</a:rPr>
                        <a:t>₹0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8"/>
                      </a:solidFill>
                      <a:prstDash val="solid"/>
                    </a:lnR>
                    <a:lnB w="9525">
                      <a:solidFill>
                        <a:srgbClr val="D8DEE8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00C223E4-CCB4-41EE-B5FE-D67172A0E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38650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050" b="1">
                <a:solidFill>
                  <a:srgbClr val="9A6700"/>
                </a:solidFill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9A6700"/>
                </a:solidFill>
              </a:defRPr>
            </a:pPr>
            <a:r>
              <a:rPr sz="1050" b="1">
                <a:solidFill>
                  <a:srgbClr val="9A6700"/>
                </a:solidFill>
              </a:rPr>
              <a:t>Cost and capacity depend on current quotas and event rules. Verify both before submission.</a:t>
            </a:r>
          </a:p>
        </p:txBody>
      </p:sp>
    </p:spTree>
    <p:extLst>
      <p:ext uri="{BB962C8B-B14F-4D97-AF65-F5344CB8AC3E}">
        <p14:creationId xmlns:p14="http://schemas.microsoft.com/office/powerpoint/2010/main" val="197792673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2" name="Google Shape;132;p23">
            <a:extLst xmlns:a="http://schemas.openxmlformats.org/drawingml/2006/main">
              <a:ext uri="{FF2B5EF4-FFF2-40B4-BE49-F238E27FC236}">
                <a16:creationId xmlns:a16="http://schemas.microsoft.com/office/drawing/2014/main" id="{66C04307-1F84-4EC2-8929-7EB3B06F7B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c1b24baff8842f0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33" name="Google Shape;133;p23">
            <a:extLst xmlns:a="http://schemas.openxmlformats.org/drawingml/2006/main">
              <a:ext uri="{FF2B5EF4-FFF2-40B4-BE49-F238E27FC236}">
                <a16:creationId xmlns:a16="http://schemas.microsoft.com/office/drawing/2014/main" id="{54D90497-B46C-4D6D-987F-4203172FB92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a002a39b2141a0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34" name="Google Shape;134;p23">
            <a:extLst xmlns:a="http://schemas.openxmlformats.org/drawingml/2006/main">
              <a:ext uri="{FF2B5EF4-FFF2-40B4-BE49-F238E27FC236}">
                <a16:creationId xmlns:a16="http://schemas.microsoft.com/office/drawing/2014/main" id="{63A3E64A-5CC0-43A1-8BB0-4EA77C51C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250" y="5071875"/>
            <a:ext cx="91734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3">
            <a:extLst xmlns:a="http://schemas.openxmlformats.org/drawingml/2006/main">
              <a:ext uri="{FF2B5EF4-FFF2-40B4-BE49-F238E27FC236}">
                <a16:creationId xmlns:a16="http://schemas.microsoft.com/office/drawing/2014/main" id="{2543A786-DB01-4B0F-8E23-26690EF30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67" y="663797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 algn="l">
              <a:defRPr sz="16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rgbClr val="000000"/>
                </a:solidFill>
              </a:defRPr>
            </a:pPr>
            <a:r>
              <a:rPr sz="1600" b="1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Prototype snapshot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pic>
        <p:nvPic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3B9C5BF2-1A78-4708-A985-14FBB4CAB8F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a65d708db64d09"/>
          <a:stretch xmlns:a="http://schemas.openxmlformats.org/drawingml/2006/main"/>
        </p:blipFill>
        <p:spPr>
          <a:xfrm xmlns:a="http://schemas.openxmlformats.org/drawingml/2006/main">
            <a:off x="1474690" y="1285875"/>
            <a:ext cx="6194621" cy="3190875"/>
          </a:xfrm>
          <a:prstGeom xmlns:a="http://schemas.openxmlformats.org/drawingml/2006/main" prst="roundRect">
            <a:avLst>
              <a:gd name="adj" fmla="val 3582"/>
            </a:avLst>
          </a:prstGeom>
        </p:spPr>
      </p:pic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85648F5B-6241-4F17-83E2-E6B27CDD8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72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050" b="1">
                <a:solidFill>
                  <a:srgbClr val="3788E8"/>
                </a:solidFill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3788E8"/>
                </a:solidFill>
              </a:defRPr>
            </a:pPr>
            <a:r>
              <a:rPr sz="1050" b="1">
                <a:solidFill>
                  <a:srgbClr val="3788E8"/>
                </a:solidFill>
              </a:rPr>
              <a:t>Confirmed project brief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1FE35860-4791-4982-9C8A-4FAFC1DF1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572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050" b="1">
                <a:solidFill>
                  <a:srgbClr val="7041D9"/>
                </a:solidFill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7041D9"/>
                </a:solidFill>
              </a:defRPr>
            </a:pPr>
            <a:r>
              <a:rPr sz="1050" b="1">
                <a:solidFill>
                  <a:srgbClr val="7041D9"/>
                </a:solidFill>
              </a:rPr>
              <a:t>Inventory-backed matches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A93716DB-2320-4E89-AA2C-64314DD5F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720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050" b="1">
                <a:solidFill>
                  <a:srgbClr val="3788E8"/>
                </a:solidFill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3788E8"/>
                </a:solidFill>
              </a:defRPr>
            </a:pPr>
            <a:r>
              <a:rPr sz="1050" b="1">
                <a:solidFill>
                  <a:srgbClr val="3788E8"/>
                </a:solidFill>
              </a:rPr>
              <a:t>Saved-plan workflow</a:t>
            </a:r>
          </a:p>
        </p:txBody>
      </p:sp>
    </p:spTree>
    <p:extLst>
      <p:ext uri="{BB962C8B-B14F-4D97-AF65-F5344CB8AC3E}">
        <p14:creationId xmlns:p14="http://schemas.microsoft.com/office/powerpoint/2010/main" val="28477822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0" name="Google Shape;140;p24">
            <a:extLst xmlns:a="http://schemas.openxmlformats.org/drawingml/2006/main">
              <a:ext uri="{FF2B5EF4-FFF2-40B4-BE49-F238E27FC236}">
                <a16:creationId xmlns:a16="http://schemas.microsoft.com/office/drawing/2014/main" id="{6A98B8E2-EEF2-4B2D-8803-FFE31896DC9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149a3333f274073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41" name="Google Shape;141;p24">
            <a:extLst xmlns:a="http://schemas.openxmlformats.org/drawingml/2006/main">
              <a:ext uri="{FF2B5EF4-FFF2-40B4-BE49-F238E27FC236}">
                <a16:creationId xmlns:a16="http://schemas.microsoft.com/office/drawing/2014/main" id="{2B24CB2E-D3F0-4633-A254-30DB835F2ED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0fe5ab58ea4ae6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2" name="Google Shape;142;p24">
            <a:extLst xmlns:a="http://schemas.openxmlformats.org/drawingml/2006/main">
              <a:ext uri="{FF2B5EF4-FFF2-40B4-BE49-F238E27FC236}">
                <a16:creationId xmlns:a16="http://schemas.microsoft.com/office/drawing/2014/main" id="{E9EE434C-72DD-49BA-B623-05BD50E05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250" y="5071875"/>
            <a:ext cx="91734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4">
            <a:extLst xmlns:a="http://schemas.openxmlformats.org/drawingml/2006/main">
              <a:ext uri="{FF2B5EF4-FFF2-40B4-BE49-F238E27FC236}">
                <a16:creationId xmlns:a16="http://schemas.microsoft.com/office/drawing/2014/main" id="{0EA1D521-E5F5-48D0-A324-06A6872CA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67" y="663797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 algn="l">
              <a:defRPr sz="16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rgbClr val="000000"/>
                </a:solidFill>
              </a:defRPr>
            </a:pPr>
            <a:r>
              <a:rPr sz="1600" b="1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Prototype checks and benchmarks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graphicFrame>
        <p:nvGraphicFrame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0CE9AFB3-7731-4D3C-AB33-5462C1BF8DBA}"/>
              </a:ext>
            </a:extLst>
          </p:cNvPr>
          <p:cNvGraphicFramePr/>
          <p:nvPr/>
        </p:nvGraphicFramePr>
        <p:xfrm>
          <a:off xmlns:a="http://schemas.openxmlformats.org/drawingml/2006/main" x="428625" y="1285875"/>
          <a:ext xmlns:a="http://schemas.openxmlformats.org/drawingml/2006/main" cx="8286750" cy="3190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71688"/>
                <a:gridCol w="2071688"/>
                <a:gridCol w="2071688"/>
                <a:gridCol w="2071688"/>
              </a:tblGrid>
              <a:tr h="398859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Check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DEE8"/>
                      </a:solidFill>
                      <a:prstDash val="solid"/>
                    </a:lnL>
                    <a:lnR w="9525">
                      <a:solidFill>
                        <a:srgbClr val="D8DEE8"/>
                      </a:solidFill>
                      <a:prstDash val="solid"/>
                    </a:lnR>
                    <a:lnT w="9525">
                      <a:solidFill>
                        <a:srgbClr val="D8DEE8"/>
                      </a:solidFill>
                      <a:prstDash val="solid"/>
                    </a:lnT>
                    <a:lnB w="9525">
                      <a:solidFill>
                        <a:srgbClr val="D8DEE8"/>
                      </a:solidFill>
                      <a:prstDash val="soli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Current result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8"/>
                      </a:solidFill>
                      <a:prstDash val="solid"/>
                    </a:lnR>
                    <a:lnT w="9525">
                      <a:solidFill>
                        <a:srgbClr val="D8DEE8"/>
                      </a:solidFill>
                      <a:prstDash val="solid"/>
                    </a:lnT>
                    <a:lnB w="9525">
                      <a:solidFill>
                        <a:srgbClr val="D8DEE8"/>
                      </a:solidFill>
                      <a:prstDash val="soli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Next evidence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8"/>
                      </a:solidFill>
                      <a:prstDash val="solid"/>
                    </a:lnR>
                    <a:lnT w="9525">
                      <a:solidFill>
                        <a:srgbClr val="D8DEE8"/>
                      </a:solidFill>
                      <a:prstDash val="solid"/>
                    </a:lnT>
                    <a:lnB w="9525">
                      <a:solidFill>
                        <a:srgbClr val="D8DEE8"/>
                      </a:solidFill>
                      <a:prstDash val="soli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8"/>
                      </a:solidFill>
                      <a:prstDash val="solid"/>
                    </a:lnR>
                    <a:lnT w="9525">
                      <a:solidFill>
                        <a:srgbClr val="D8DEE8"/>
                      </a:solidFill>
                      <a:prstDash val="solid"/>
                    </a:lnT>
                    <a:lnB w="9525">
                      <a:solidFill>
                        <a:srgbClr val="D8DEE8"/>
                      </a:solidFill>
                      <a:prstDash val="solid"/>
                    </a:lnB>
                    <a:solidFill>
                      <a:srgbClr val="111827"/>
                    </a:solidFill>
                  </a:tcPr>
                </a:tc>
              </a:tr>
              <a:tr h="398859"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11827"/>
                          </a:solidFill>
                        </a:rPr>
                        <a:t>Production build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DEE8"/>
                      </a:solidFill>
                      <a:prstDash val="solid"/>
                    </a:lnL>
                    <a:lnR w="9525">
                      <a:solidFill>
                        <a:srgbClr val="D8DEE8"/>
                      </a:solidFill>
                      <a:prstDash val="solid"/>
                    </a:lnR>
                    <a:lnB w="9525">
                      <a:solidFill>
                        <a:srgbClr val="D8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11827"/>
                          </a:solidFill>
                        </a:rPr>
                        <a:t>Pass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8"/>
                      </a:solidFill>
                      <a:prstDash val="solid"/>
                    </a:lnR>
                    <a:lnB w="9525">
                      <a:solidFill>
                        <a:srgbClr val="D8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11827"/>
                          </a:solidFill>
                        </a:rPr>
                        <a:t>Capture dated build output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8"/>
                      </a:solidFill>
                      <a:prstDash val="solid"/>
                    </a:lnR>
                    <a:lnB w="9525">
                      <a:solidFill>
                        <a:srgbClr val="D8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177245"/>
                          </a:solidFill>
                        </a:rPr>
                        <a:t>Verified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8"/>
                      </a:solidFill>
                      <a:prstDash val="solid"/>
                    </a:lnR>
                    <a:lnB w="9525">
                      <a:solidFill>
                        <a:srgbClr val="D8DEE8"/>
                      </a:solidFill>
                      <a:prstDash val="solid"/>
                    </a:lnB>
                    <a:solidFill>
                      <a:srgbClr val="E7F6EC"/>
                    </a:solidFill>
                  </a:tcPr>
                </a:tc>
              </a:tr>
              <a:tr h="398859"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11827"/>
                          </a:solidFill>
                        </a:rPr>
                        <a:t>Matching tests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DEE8"/>
                      </a:solidFill>
                      <a:prstDash val="solid"/>
                    </a:lnL>
                    <a:lnR w="9525">
                      <a:solidFill>
                        <a:srgbClr val="D8DEE8"/>
                      </a:solidFill>
                      <a:prstDash val="solid"/>
                    </a:lnR>
                    <a:lnB w="9525">
                      <a:solidFill>
                        <a:srgbClr val="D8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11827"/>
                          </a:solidFill>
                        </a:rPr>
                        <a:t>6 of 6 pass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8"/>
                      </a:solidFill>
                      <a:prstDash val="solid"/>
                    </a:lnR>
                    <a:lnB w="9525">
                      <a:solidFill>
                        <a:srgbClr val="D8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11827"/>
                          </a:solidFill>
                        </a:rPr>
                        <a:t>Retain test output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8"/>
                      </a:solidFill>
                      <a:prstDash val="solid"/>
                    </a:lnR>
                    <a:lnB w="9525">
                      <a:solidFill>
                        <a:srgbClr val="D8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177245"/>
                          </a:solidFill>
                        </a:rPr>
                        <a:t>Verified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8"/>
                      </a:solidFill>
                      <a:prstDash val="solid"/>
                    </a:lnR>
                    <a:lnB w="9525">
                      <a:solidFill>
                        <a:srgbClr val="D8DEE8"/>
                      </a:solidFill>
                      <a:prstDash val="solid"/>
                    </a:lnB>
                    <a:solidFill>
                      <a:srgbClr val="E7F6EC"/>
                    </a:solidFill>
                  </a:tcPr>
                </a:tc>
              </a:tr>
              <a:tr h="398859"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11827"/>
                          </a:solidFill>
                        </a:rPr>
                        <a:t>Owner + finder journeys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DEE8"/>
                      </a:solidFill>
                      <a:prstDash val="solid"/>
                    </a:lnL>
                    <a:lnR w="9525">
                      <a:solidFill>
                        <a:srgbClr val="D8DEE8"/>
                      </a:solidFill>
                      <a:prstDash val="solid"/>
                    </a:lnR>
                    <a:lnB w="9525">
                      <a:solidFill>
                        <a:srgbClr val="D8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11827"/>
                          </a:solidFill>
                        </a:rPr>
                        <a:t>Browser checked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8"/>
                      </a:solidFill>
                      <a:prstDash val="solid"/>
                    </a:lnR>
                    <a:lnB w="9525">
                      <a:solidFill>
                        <a:srgbClr val="D8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11827"/>
                          </a:solidFill>
                        </a:rPr>
                        <a:t>Record full flows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8"/>
                      </a:solidFill>
                      <a:prstDash val="solid"/>
                    </a:lnR>
                    <a:lnB w="9525">
                      <a:solidFill>
                        <a:srgbClr val="D8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177245"/>
                          </a:solidFill>
                        </a:rPr>
                        <a:t>Verified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8"/>
                      </a:solidFill>
                      <a:prstDash val="solid"/>
                    </a:lnR>
                    <a:lnB w="9525">
                      <a:solidFill>
                        <a:srgbClr val="D8DEE8"/>
                      </a:solidFill>
                      <a:prstDash val="solid"/>
                    </a:lnB>
                    <a:solidFill>
                      <a:srgbClr val="E7F6EC"/>
                    </a:solidFill>
                  </a:tcPr>
                </a:tc>
              </a:tr>
              <a:tr h="398859"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11827"/>
                          </a:solidFill>
                        </a:rPr>
                        <a:t>Desktop + 390 px mobile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DEE8"/>
                      </a:solidFill>
                      <a:prstDash val="solid"/>
                    </a:lnL>
                    <a:lnR w="9525">
                      <a:solidFill>
                        <a:srgbClr val="D8DEE8"/>
                      </a:solidFill>
                      <a:prstDash val="solid"/>
                    </a:lnR>
                    <a:lnB w="9525">
                      <a:solidFill>
                        <a:srgbClr val="D8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11827"/>
                          </a:solidFill>
                        </a:rPr>
                        <a:t>Visually inspected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8"/>
                      </a:solidFill>
                      <a:prstDash val="solid"/>
                    </a:lnR>
                    <a:lnB w="9525">
                      <a:solidFill>
                        <a:srgbClr val="D8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11827"/>
                          </a:solidFill>
                        </a:rPr>
                        <a:t>Capture final deployed views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8"/>
                      </a:solidFill>
                      <a:prstDash val="solid"/>
                    </a:lnR>
                    <a:lnB w="9525">
                      <a:solidFill>
                        <a:srgbClr val="D8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177245"/>
                          </a:solidFill>
                        </a:rPr>
                        <a:t>Verified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8"/>
                      </a:solidFill>
                      <a:prstDash val="solid"/>
                    </a:lnR>
                    <a:lnB w="9525">
                      <a:solidFill>
                        <a:srgbClr val="D8DEE8"/>
                      </a:solidFill>
                      <a:prstDash val="solid"/>
                    </a:lnB>
                    <a:solidFill>
                      <a:srgbClr val="E7F6EC"/>
                    </a:solidFill>
                  </a:tcPr>
                </a:tc>
              </a:tr>
              <a:tr h="398859"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11827"/>
                          </a:solidFill>
                        </a:rPr>
                        <a:t>Task completion time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DEE8"/>
                      </a:solidFill>
                      <a:prstDash val="solid"/>
                    </a:lnL>
                    <a:lnR w="9525">
                      <a:solidFill>
                        <a:srgbClr val="D8DEE8"/>
                      </a:solidFill>
                      <a:prstDash val="solid"/>
                    </a:lnR>
                    <a:lnB w="9525">
                      <a:solidFill>
                        <a:srgbClr val="D8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11827"/>
                          </a:solidFill>
                        </a:rPr>
                        <a:t>Not measured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8"/>
                      </a:solidFill>
                      <a:prstDash val="solid"/>
                    </a:lnR>
                    <a:lnB w="9525">
                      <a:solidFill>
                        <a:srgbClr val="D8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11827"/>
                          </a:solidFill>
                        </a:rPr>
                        <a:t>5+ attempts per journey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8"/>
                      </a:solidFill>
                      <a:prstDash val="solid"/>
                    </a:lnR>
                    <a:lnB w="9525">
                      <a:solidFill>
                        <a:srgbClr val="D8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9A6700"/>
                          </a:solidFill>
                        </a:rPr>
                        <a:t>Required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8"/>
                      </a:solidFill>
                      <a:prstDash val="solid"/>
                    </a:lnR>
                    <a:lnB w="9525">
                      <a:solidFill>
                        <a:srgbClr val="D8DEE8"/>
                      </a:solidFill>
                      <a:prstDash val="solid"/>
                    </a:lnB>
                    <a:solidFill>
                      <a:srgbClr val="FFF4CE"/>
                    </a:solidFill>
                  </a:tcPr>
                </a:tc>
              </a:tr>
              <a:tr h="398859"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11827"/>
                          </a:solidFill>
                        </a:rPr>
                        <a:t>Match relevance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DEE8"/>
                      </a:solidFill>
                      <a:prstDash val="solid"/>
                    </a:lnL>
                    <a:lnR w="9525">
                      <a:solidFill>
                        <a:srgbClr val="D8DEE8"/>
                      </a:solidFill>
                      <a:prstDash val="solid"/>
                    </a:lnR>
                    <a:lnB w="9525">
                      <a:solidFill>
                        <a:srgbClr val="D8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11827"/>
                          </a:solidFill>
                        </a:rPr>
                        <a:t>Not measured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8"/>
                      </a:solidFill>
                      <a:prstDash val="solid"/>
                    </a:lnR>
                    <a:lnB w="9525">
                      <a:solidFill>
                        <a:srgbClr val="D8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11827"/>
                          </a:solidFill>
                        </a:rPr>
                        <a:t>10+ project briefs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8"/>
                      </a:solidFill>
                      <a:prstDash val="solid"/>
                    </a:lnR>
                    <a:lnB w="9525">
                      <a:solidFill>
                        <a:srgbClr val="D8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9A6700"/>
                          </a:solidFill>
                        </a:rPr>
                        <a:t>Required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8"/>
                      </a:solidFill>
                      <a:prstDash val="solid"/>
                    </a:lnR>
                    <a:lnB w="9525">
                      <a:solidFill>
                        <a:srgbClr val="D8DEE8"/>
                      </a:solidFill>
                      <a:prstDash val="solid"/>
                    </a:lnB>
                    <a:solidFill>
                      <a:srgbClr val="FFF4CE"/>
                    </a:solidFill>
                  </a:tcPr>
                </a:tc>
              </a:tr>
              <a:tr h="398859"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11827"/>
                          </a:solidFill>
                        </a:rPr>
                        <a:t>AI latency + claim audit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DEE8"/>
                      </a:solidFill>
                      <a:prstDash val="solid"/>
                    </a:lnL>
                    <a:lnR w="9525">
                      <a:solidFill>
                        <a:srgbClr val="D8DEE8"/>
                      </a:solidFill>
                      <a:prstDash val="solid"/>
                    </a:lnR>
                    <a:lnB w="9525">
                      <a:solidFill>
                        <a:srgbClr val="D8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11827"/>
                          </a:solidFill>
                        </a:rPr>
                        <a:t>Live AI pending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8"/>
                      </a:solidFill>
                      <a:prstDash val="solid"/>
                    </a:lnR>
                    <a:lnB w="9525">
                      <a:solidFill>
                        <a:srgbClr val="D8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11827"/>
                          </a:solidFill>
                        </a:rPr>
                        <a:t>10+ calls; audit 30+ claims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8"/>
                      </a:solidFill>
                      <a:prstDash val="solid"/>
                    </a:lnR>
                    <a:lnB w="9525">
                      <a:solidFill>
                        <a:srgbClr val="D8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9A6700"/>
                          </a:solidFill>
                        </a:rPr>
                        <a:t>Required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8"/>
                      </a:solidFill>
                      <a:prstDash val="solid"/>
                    </a:lnR>
                    <a:lnB w="9525">
                      <a:solidFill>
                        <a:srgbClr val="D8DEE8"/>
                      </a:solidFill>
                      <a:prstDash val="solid"/>
                    </a:lnB>
                    <a:solidFill>
                      <a:srgbClr val="FFF4CE"/>
                    </a:solidFill>
                  </a:tcPr>
                </a:tc>
              </a:tr>
            </a:tbl>
          </a:graphicData>
        </a:graphic>
      </p:graphicFrame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013C0EE1-DC8B-4833-AD0B-71F845974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19625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050" b="1">
                <a:solidFill>
                  <a:srgbClr val="586273"/>
                </a:solidFill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586273"/>
                </a:solidFill>
              </a:defRPr>
            </a:pPr>
            <a:r>
              <a:rPr sz="1050" b="1">
                <a:solidFill>
                  <a:srgbClr val="586273"/>
                </a:solidFill>
              </a:rPr>
              <a:t>Targets never appear as measured results. The final deck should use dated evidence from the deployed build.</a:t>
            </a:r>
          </a:p>
        </p:txBody>
      </p:sp>
    </p:spTree>
    <p:extLst>
      <p:ext uri="{BB962C8B-B14F-4D97-AF65-F5344CB8AC3E}">
        <p14:creationId xmlns:p14="http://schemas.microsoft.com/office/powerpoint/2010/main" val="1829914127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8" name="Google Shape;148;p25">
            <a:extLst xmlns:a="http://schemas.openxmlformats.org/drawingml/2006/main">
              <a:ext uri="{FF2B5EF4-FFF2-40B4-BE49-F238E27FC236}">
                <a16:creationId xmlns:a16="http://schemas.microsoft.com/office/drawing/2014/main" id="{41149B70-0794-491C-97EC-63FB0DCDA1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0e017a4a17e414e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49" name="Google Shape;149;p25">
            <a:extLst xmlns:a="http://schemas.openxmlformats.org/drawingml/2006/main">
              <a:ext uri="{FF2B5EF4-FFF2-40B4-BE49-F238E27FC236}">
                <a16:creationId xmlns:a16="http://schemas.microsoft.com/office/drawing/2014/main" id="{B6F3C6EF-F892-48A7-A074-A85092DB223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1a7be1a3154ea6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50" name="Google Shape;150;p25">
            <a:extLst xmlns:a="http://schemas.openxmlformats.org/drawingml/2006/main">
              <a:ext uri="{FF2B5EF4-FFF2-40B4-BE49-F238E27FC236}">
                <a16:creationId xmlns:a16="http://schemas.microsoft.com/office/drawing/2014/main" id="{2E790C87-EE54-41A7-9F57-6CC85303F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250" y="5071875"/>
            <a:ext cx="91734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5">
            <a:extLst xmlns:a="http://schemas.openxmlformats.org/drawingml/2006/main">
              <a:ext uri="{FF2B5EF4-FFF2-40B4-BE49-F238E27FC236}">
                <a16:creationId xmlns:a16="http://schemas.microsoft.com/office/drawing/2014/main" id="{154C60CA-A6B3-43D0-8965-F51A9F8B3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67" y="663797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 algn="l">
              <a:defRPr sz="16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rgbClr val="000000"/>
                </a:solidFill>
              </a:defRPr>
            </a:pPr>
            <a:r>
              <a:rPr sz="1600" b="1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Development roadmap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2AAE7825-9C7C-4351-B80F-FD5CA6138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476375"/>
            <a:ext cx="2571750" cy="271462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D9F0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E8D44174-B549-4BE5-A087-5F9E67287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66875"/>
            <a:ext cx="57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25D9F0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25D9F0"/>
                </a:solidFill>
              </a:defRPr>
            </a:pPr>
            <a:r>
              <a:rPr sz="2550" b="1">
                <a:solidFill>
                  <a:srgbClr val="25D9F0"/>
                </a:solidFill>
              </a:rPr>
              <a:t>01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070A02A0-3E8E-4E34-A320-A4C72FFB2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8600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1">
                <a:solidFill>
                  <a:srgbClr val="111827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Before submission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34B4DB4A-4354-43F8-89EA-7A1A8960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00375"/>
            <a:ext cx="2190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 b="0">
                <a:solidFill>
                  <a:srgbClr val="586273"/>
                </a:solidFill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86273"/>
                </a:solidFill>
              </a:defRPr>
            </a:pPr>
            <a:r>
              <a:rPr sz="1125" b="0">
                <a:solidFill>
                  <a:srgbClr val="586273"/>
                </a:solidFill>
              </a:rPr>
              <a:t>Connect live Gemini calls, finish Firebase persistence and security rules, deploy publicly, and record evidence.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12B848A4-545B-4D21-BD16-535E9D337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1476375"/>
            <a:ext cx="2571750" cy="271462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788E8"/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75F7321A-4618-430A-A535-E418AB03B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1666875"/>
            <a:ext cx="57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3788E8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3788E8"/>
                </a:solidFill>
              </a:defRPr>
            </a:pPr>
            <a:r>
              <a:rPr sz="2550" b="1">
                <a:solidFill>
                  <a:srgbClr val="3788E8"/>
                </a:solidFill>
              </a:rPr>
              <a:t>02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F4A4A080-D26F-47C9-8C54-7C5378FB6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28600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1">
                <a:solidFill>
                  <a:srgbClr val="111827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Pilot</a:t>
            </a:r>
          </a:p>
        </p:txBody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D68FD5B7-9A53-4011-B6DC-E3BED114E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000375"/>
            <a:ext cx="2190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 b="0">
                <a:solidFill>
                  <a:srgbClr val="586273"/>
                </a:solidFill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86273"/>
                </a:solidFill>
              </a:defRPr>
            </a:pPr>
            <a:r>
              <a:rPr sz="1125" b="0">
                <a:solidFill>
                  <a:srgbClr val="586273"/>
                </a:solidFill>
              </a:rPr>
              <a:t>Run a locality-based trial, measure successful matches, and improve dimension and condition confidence.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171FA7FC-5439-40F1-AB6D-23D86D06F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476375"/>
            <a:ext cx="2571750" cy="271462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041D9"/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3016B86C-71A9-481F-81D9-57BDC1E73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1666875"/>
            <a:ext cx="57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7041D9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7041D9"/>
                </a:solidFill>
              </a:defRPr>
            </a:pPr>
            <a:r>
              <a:rPr sz="2550" b="1">
                <a:solidFill>
                  <a:srgbClr val="7041D9"/>
                </a:solidFill>
              </a:rPr>
              <a:t>03</a:t>
            </a:r>
          </a:p>
        </p:txBody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4226FD17-E031-401D-9574-BDDFA4009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28600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1">
                <a:solidFill>
                  <a:srgbClr val="111827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After validation</a:t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79544251-B6C5-43FC-857C-3C2CAABB4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000375"/>
            <a:ext cx="2190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 b="0">
                <a:solidFill>
                  <a:srgbClr val="586273"/>
                </a:solidFill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86273"/>
                </a:solidFill>
              </a:defRPr>
            </a:pPr>
            <a:r>
              <a:rPr sz="1125" b="0">
                <a:solidFill>
                  <a:srgbClr val="586273"/>
                </a:solidFill>
              </a:rPr>
              <a:t>Add owner and finder feedback, improve pickup reliability, and expand material coverage with clear safety limits.</a:t>
            </a:r>
          </a:p>
        </p:txBody>
      </p:sp>
    </p:spTree>
    <p:extLst>
      <p:ext uri="{BB962C8B-B14F-4D97-AF65-F5344CB8AC3E}">
        <p14:creationId xmlns:p14="http://schemas.microsoft.com/office/powerpoint/2010/main" val="2028910601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6" name="Google Shape;156;p26">
            <a:extLst xmlns:a="http://schemas.openxmlformats.org/drawingml/2006/main">
              <a:ext uri="{FF2B5EF4-FFF2-40B4-BE49-F238E27FC236}">
                <a16:creationId xmlns:a16="http://schemas.microsoft.com/office/drawing/2014/main" id="{B8F2282F-191A-422C-B70C-2245FB57A2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b7f1957f83c4fea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57" name="Google Shape;157;p26">
            <a:extLst xmlns:a="http://schemas.openxmlformats.org/drawingml/2006/main">
              <a:ext uri="{FF2B5EF4-FFF2-40B4-BE49-F238E27FC236}">
                <a16:creationId xmlns:a16="http://schemas.microsoft.com/office/drawing/2014/main" id="{FD35A4D4-9D7F-4B7D-BA26-CFF3A3FA8F1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8b8f3456924f7f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58" name="Google Shape;158;p26">
            <a:extLst xmlns:a="http://schemas.openxmlformats.org/drawingml/2006/main">
              <a:ext uri="{FF2B5EF4-FFF2-40B4-BE49-F238E27FC236}">
                <a16:creationId xmlns:a16="http://schemas.microsoft.com/office/drawing/2014/main" id="{99867CF1-92B9-45D9-8FB7-51ADE1BB7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250" y="5071875"/>
            <a:ext cx="91734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6">
            <a:extLst xmlns:a="http://schemas.openxmlformats.org/drawingml/2006/main">
              <a:ext uri="{FF2B5EF4-FFF2-40B4-BE49-F238E27FC236}">
                <a16:creationId xmlns:a16="http://schemas.microsoft.com/office/drawing/2014/main" id="{32379DC1-248B-42C6-84C2-03A913A42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67" y="663797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 algn="l">
              <a:defRPr sz="16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rgbClr val="000000"/>
                </a:solidFill>
              </a:defRPr>
            </a:pPr>
            <a:r>
              <a:rPr sz="1600" b="1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Submission links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2EC28666-1A6D-4FEF-BDEC-9F483DDAE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7810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7F6EC"/>
          </a:solidFill>
          <a:ln xmlns:a="http://schemas.openxmlformats.org/drawingml/2006/main" w="9525">
            <a:solidFill>
              <a:srgbClr val="E7F6EC"/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5A929FD1-AE55-4D16-A165-39483B624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9725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1">
                <a:solidFill>
                  <a:srgbClr val="177245"/>
                </a:solidFill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77245"/>
                </a:solidFill>
              </a:defRPr>
            </a:pPr>
            <a:r>
              <a:rPr sz="1200" b="1">
                <a:solidFill>
                  <a:srgbClr val="177245"/>
                </a:solidFill>
              </a:rPr>
              <a:t>Public GitHub repository</a:t>
            </a:r>
          </a:p>
        </p:txBody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39F43F12-9F64-4984-800D-189B564CA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85950"/>
            <a:ext cx="714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1">
                <a:solidFill>
                  <a:srgbClr val="111827"/>
                </a:solidFill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https://github.com/abhishekm0892/AIBuilderCup2026</a:t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A0F52E2F-9653-4418-9659-DC6331BBC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43175"/>
            <a:ext cx="7810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4CE"/>
          </a:solidFill>
          <a:ln xmlns:a="http://schemas.openxmlformats.org/drawingml/2006/main" w="9525">
            <a:solidFill>
              <a:srgbClr val="FFF4CE"/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1ADA1293-D234-491B-BB2C-66B542C29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76525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1">
                <a:solidFill>
                  <a:srgbClr val="9A6700"/>
                </a:solidFill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9A6700"/>
                </a:solidFill>
              </a:defRPr>
            </a:pPr>
            <a:r>
              <a:rPr sz="1200" b="1">
                <a:solidFill>
                  <a:srgbClr val="9A6700"/>
                </a:solidFill>
              </a:rPr>
              <a:t>Three-minute demo video</a:t>
            </a:r>
          </a:p>
        </p:txBody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55BA8882-B8FE-4B1E-95D0-BBF6D1CD0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714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1">
                <a:solidFill>
                  <a:srgbClr val="111827"/>
                </a:solidFill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ADD PUBLIC VIDEO URL BEFORE SUBMISSION</a:t>
            </a:r>
          </a:p>
        </p:txBody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E7215367-1D74-40AD-A45E-C2BCCA802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9975"/>
            <a:ext cx="7810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4CE"/>
          </a:solidFill>
          <a:ln xmlns:a="http://schemas.openxmlformats.org/drawingml/2006/main" w="9525">
            <a:solidFill>
              <a:srgbClr val="FFF4CE"/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00682EA3-8875-495B-865A-0BE568460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43325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1">
                <a:solidFill>
                  <a:srgbClr val="9A6700"/>
                </a:solidFill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9A6700"/>
                </a:solidFill>
              </a:defRPr>
            </a:pPr>
            <a:r>
              <a:rPr sz="1200" b="1">
                <a:solidFill>
                  <a:srgbClr val="9A6700"/>
                </a:solidFill>
              </a:rPr>
              <a:t>Final product</a:t>
            </a:r>
          </a:p>
        </p:txBody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52F198E4-3DC1-48DD-821E-13F5E4E2C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19550"/>
            <a:ext cx="714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1">
                <a:solidFill>
                  <a:srgbClr val="111827"/>
                </a:solidFill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ADD PUBLIC DEPLOYMENT URL BEFORE SUBMISSION</a:t>
            </a:r>
          </a:p>
        </p:txBody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6C74171F-F844-4EEC-8A8A-A14EDC107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68630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050" b="1">
                <a:solidFill>
                  <a:srgbClr val="586273"/>
                </a:solidFill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586273"/>
                </a:solidFill>
              </a:defRPr>
            </a:pPr>
            <a:r>
              <a:rPr sz="1050" b="1">
                <a:solidFill>
                  <a:srgbClr val="586273"/>
                </a:solidFill>
              </a:rPr>
              <a:t>Test every link while signed out before uploading the final deck.</a:t>
            </a:r>
          </a:p>
        </p:txBody>
      </p:sp>
    </p:spTree>
    <p:extLst>
      <p:ext uri="{BB962C8B-B14F-4D97-AF65-F5344CB8AC3E}">
        <p14:creationId xmlns:p14="http://schemas.microsoft.com/office/powerpoint/2010/main" val="868298060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4" name="Google Shape;164;p27">
            <a:extLst xmlns:a="http://schemas.openxmlformats.org/drawingml/2006/main">
              <a:ext uri="{FF2B5EF4-FFF2-40B4-BE49-F238E27FC236}">
                <a16:creationId xmlns:a16="http://schemas.microsoft.com/office/drawing/2014/main" id="{39521A6D-A433-4D55-965A-E8F7CBDC32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5309236e55645c0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65" name="Google Shape;165;p27">
            <a:extLst xmlns:a="http://schemas.openxmlformats.org/drawingml/2006/main">
              <a:ext uri="{FF2B5EF4-FFF2-40B4-BE49-F238E27FC236}">
                <a16:creationId xmlns:a16="http://schemas.microsoft.com/office/drawing/2014/main" id="{598A1AF5-5EDE-4871-8E44-0709E924279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4a5a9a3f9c42ca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66" name="Google Shape;166;p27">
            <a:extLst xmlns:a="http://schemas.openxmlformats.org/drawingml/2006/main">
              <a:ext uri="{FF2B5EF4-FFF2-40B4-BE49-F238E27FC236}">
                <a16:creationId xmlns:a16="http://schemas.microsoft.com/office/drawing/2014/main" id="{8331BC63-52D6-4D95-9DF5-A4D02A0F6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250" y="5071875"/>
            <a:ext cx="91734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F88DA88C-DBF0-45A4-9026-D0AC0C901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00" b="1">
                <a:solidFill>
                  <a:srgbClr val="111827"/>
                </a:solidFill>
              </a:defRPr>
            </a:defPPr>
          </a:lstStyle>
          <a:p xmlns:a="http://schemas.openxmlformats.org/drawingml/2006/main">
            <a:pPr algn="l">
              <a:defRPr sz="1600" b="1">
                <a:solidFill>
                  <a:srgbClr val="111827"/>
                </a:solidFill>
              </a:defRPr>
            </a:pPr>
            <a:r>
              <a:rPr sz="1600" b="1">
                <a:solidFill>
                  <a:srgbClr val="111827"/>
                </a:solidFill>
              </a:rPr>
              <a:t>AI contribution and trust boundaries</a:t>
            </a:r>
          </a:p>
        </p:txBody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5D24A533-15BA-4450-AF90-F2E786CFD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81125"/>
            <a:ext cx="3810000" cy="2905125"/>
          </a:xfrm>
          <a:prstGeom xmlns:a="http://schemas.openxmlformats.org/drawingml/2006/main" prst="roundRect">
            <a:avLst>
              <a:gd name="adj" fmla="val 3934"/>
            </a:avLst>
          </a:prstGeom>
          <a:solidFill xmlns:a="http://schemas.openxmlformats.org/drawingml/2006/main">
            <a:srgbClr val="ECFBFD"/>
          </a:solidFill>
          <a:ln xmlns:a="http://schemas.openxmlformats.org/drawingml/2006/main" w="9525">
            <a:solidFill>
              <a:srgbClr val="3788E8"/>
            </a:solidFill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39771E11-D80D-4C3F-8EE9-D57F91D45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725" b="1">
                <a:solidFill>
                  <a:srgbClr val="3788E8"/>
                </a:solidFill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3788E8"/>
                </a:solidFill>
              </a:defRPr>
            </a:pPr>
            <a:r>
              <a:rPr sz="1725" b="1">
                <a:solidFill>
                  <a:srgbClr val="3788E8"/>
                </a:solidFill>
              </a:rPr>
              <a:t>AI assists with</a:t>
            </a:r>
          </a:p>
        </p:txBody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0A67DBA0-6097-4879-9A5B-01BC6FB0E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19075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788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BE791ADA-FAA4-4800-A628-96C54A19F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1812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0">
                <a:solidFill>
                  <a:srgbClr val="111827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Photo-to-listing suggestions</a:t>
            </a:r>
          </a:p>
        </p:txBody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C4B5C2D9-8D9D-479F-8A56-8B1F725A3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68605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788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3A042E8D-B9FA-47C6-9997-F1AA6D9C0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765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0">
                <a:solidFill>
                  <a:srgbClr val="111827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Project brief to structured requirements</a:t>
            </a:r>
          </a:p>
        </p:txBody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2DFA93DD-ED77-44C9-BF50-FDC4B4093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18135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788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268C497F-9831-42DE-A125-0590B24D3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1718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0">
                <a:solidFill>
                  <a:srgbClr val="111827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Plain-language match explanations</a:t>
            </a:r>
          </a:p>
        </p:txBody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9DE07564-0419-4218-8D17-86EE42E52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381125"/>
            <a:ext cx="3810000" cy="2905125"/>
          </a:xfrm>
          <a:prstGeom xmlns:a="http://schemas.openxmlformats.org/drawingml/2006/main" prst="roundRect">
            <a:avLst>
              <a:gd name="adj" fmla="val 3934"/>
            </a:avLst>
          </a:prstGeom>
          <a:solidFill xmlns:a="http://schemas.openxmlformats.org/drawingml/2006/main">
            <a:srgbClr val="F1ECFC"/>
          </a:solidFill>
          <a:ln xmlns:a="http://schemas.openxmlformats.org/drawingml/2006/main" w="9525">
            <a:solidFill>
              <a:srgbClr val="7041D9"/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F04D22A3-FBD8-40E6-A565-A353C5523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61925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725" b="1">
                <a:solidFill>
                  <a:srgbClr val="7041D9"/>
                </a:solidFill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7041D9"/>
                </a:solidFill>
              </a:defRPr>
            </a:pPr>
            <a:r>
              <a:rPr sz="1725" b="1">
                <a:solidFill>
                  <a:srgbClr val="7041D9"/>
                </a:solidFill>
              </a:rPr>
              <a:t>The product controls</a:t>
            </a:r>
          </a:p>
        </p:txBody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067851BF-5838-47C9-AFFB-32E876C36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19075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041D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9C996CCF-C534-438F-9803-4FB1E965C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1812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0">
                <a:solidFill>
                  <a:srgbClr val="111827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Owner confirmation before publishing</a:t>
            </a:r>
          </a:p>
        </p:txBody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F7C0CB14-F333-4805-913A-63A8B9D9F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68605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041D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0535217C-A71C-41BE-9B31-6CF567D75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6765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0">
                <a:solidFill>
                  <a:srgbClr val="111827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Inventory-only evidence</a:t>
            </a:r>
          </a:p>
        </p:txBody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52383F1E-9022-4131-A53F-1FEA32C72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18135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041D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B31E9072-E0E0-4FAE-A37F-481A49CBF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1718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0">
                <a:solidFill>
                  <a:srgbClr val="111827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Deterministic quantity, area and price calculations</a:t>
            </a:r>
          </a:p>
        </p:txBody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A40A3D7B-59B6-478C-BE71-ABA065835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67665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041D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C33C936B-01B4-483F-BA9E-AC9085934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6671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0">
                <a:solidFill>
                  <a:srgbClr val="111827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Manual fallback when AI is unavailable</a:t>
            </a:r>
          </a:p>
        </p:txBody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12DE89CE-9CAF-4665-AA00-219EAFFD3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72000"/>
            <a:ext cx="714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050" b="1">
                <a:solidFill>
                  <a:srgbClr val="9A6700"/>
                </a:solidFill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9A6700"/>
                </a:solidFill>
              </a:defRPr>
            </a:pPr>
            <a:r>
              <a:rPr sz="1050" b="1">
                <a:solidFill>
                  <a:srgbClr val="9A6700"/>
                </a:solidFill>
              </a:rPr>
              <a:t>The submission should describe live AI only after Gemini access and end-to-end behavior are verified.</a:t>
            </a:r>
          </a:p>
        </p:txBody>
      </p:sp>
    </p:spTree>
    <p:extLst>
      <p:ext uri="{BB962C8B-B14F-4D97-AF65-F5344CB8AC3E}">
        <p14:creationId xmlns:p14="http://schemas.microsoft.com/office/powerpoint/2010/main" val="44909971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1" name="Google Shape;171;p28">
            <a:extLst xmlns:a="http://schemas.openxmlformats.org/drawingml/2006/main">
              <a:ext uri="{FF2B5EF4-FFF2-40B4-BE49-F238E27FC236}">
                <a16:creationId xmlns:a16="http://schemas.microsoft.com/office/drawing/2014/main" id="{5A7222DC-50B4-491D-AAFA-CA0C547BD61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a6fd08d04244972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72" name="Google Shape;172;p28">
            <a:extLst xmlns:a="http://schemas.openxmlformats.org/drawingml/2006/main">
              <a:ext uri="{FF2B5EF4-FFF2-40B4-BE49-F238E27FC236}">
                <a16:creationId xmlns:a16="http://schemas.microsoft.com/office/drawing/2014/main" id="{3D4CA31F-4645-4706-8C36-92E7B8325E4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47cbb912be48c1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1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397301383"/>
      </p:ext>
    </p:extLst>
  </p:cSld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2026-10-17T08:08:42.0710000Z</dcterms:created>
  <dcterms:modified xsi:type="dcterms:W3CDTF">2026-10-17T08:08:42.0710000Z</dcterms:modified>
</coreProperties>
</file>