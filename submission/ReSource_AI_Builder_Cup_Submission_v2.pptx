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b355988924042" /><Relationship Type="http://schemas.openxmlformats.org/officeDocument/2006/relationships/extended-properties" Target="/docProps/app.xml" Id="Rbd1ad2a518c649b2" /><Relationship Type="http://schemas.openxmlformats.org/officeDocument/2006/relationships/officeDocument" Target="/ppt/presentation.xml" Id="R125cab69b5c548a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ef34fb5b6d04eea"/>
  </p:sldMasterIdLst>
  <p:notesMasterIdLst>
    <p:notesMasterId xmlns:r="http://schemas.openxmlformats.org/officeDocument/2006/relationships" r:id="R8499aa93552b4581"/>
  </p:notesMasterIdLst>
  <p:sldIdLst>
    <p:sldId xmlns:r="http://schemas.openxmlformats.org/officeDocument/2006/relationships" id="256" r:id="R811070c11a0648b4"/>
    <p:sldId xmlns:r="http://schemas.openxmlformats.org/officeDocument/2006/relationships" id="257" r:id="Rcf4b286bdd4043e0"/>
    <p:sldId xmlns:r="http://schemas.openxmlformats.org/officeDocument/2006/relationships" id="258" r:id="R7f192f42435a4d22"/>
    <p:sldId xmlns:r="http://schemas.openxmlformats.org/officeDocument/2006/relationships" id="259" r:id="R4670025b0e444cc9"/>
    <p:sldId xmlns:r="http://schemas.openxmlformats.org/officeDocument/2006/relationships" id="260" r:id="R49848afba0ee43f5"/>
    <p:sldId xmlns:r="http://schemas.openxmlformats.org/officeDocument/2006/relationships" id="261" r:id="Refb66eb1335e4a2d"/>
    <p:sldId xmlns:r="http://schemas.openxmlformats.org/officeDocument/2006/relationships" id="262" r:id="R1a54dda8b5d6409b"/>
    <p:sldId xmlns:r="http://schemas.openxmlformats.org/officeDocument/2006/relationships" id="263" r:id="R45794d82a90d47dc"/>
    <p:sldId xmlns:r="http://schemas.openxmlformats.org/officeDocument/2006/relationships" id="264" r:id="R3856890c2dd84535"/>
    <p:sldId xmlns:r="http://schemas.openxmlformats.org/officeDocument/2006/relationships" id="265" r:id="Rea7314f7cf7c4ef5"/>
    <p:sldId xmlns:r="http://schemas.openxmlformats.org/officeDocument/2006/relationships" id="266" r:id="Rf5602591ac224f92"/>
    <p:sldId xmlns:r="http://schemas.openxmlformats.org/officeDocument/2006/relationships" id="267" r:id="R33758bb0b27b49dd"/>
    <p:sldId xmlns:r="http://schemas.openxmlformats.org/officeDocument/2006/relationships" id="268" r:id="R9e5c53b7351d45c1"/>
    <p:sldId xmlns:r="http://schemas.openxmlformats.org/officeDocument/2006/relationships" id="269" r:id="Rd013c2e326ec4a09"/>
    <p:sldId xmlns:r="http://schemas.openxmlformats.org/officeDocument/2006/relationships" id="270" r:id="Ra2da4c95851b477e"/>
    <p:sldId xmlns:r="http://schemas.openxmlformats.org/officeDocument/2006/relationships" id="271" r:id="R56aae03fc98c4e00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68cfcc641a434f01"/>
      <p:bold xmlns:r="http://schemas.openxmlformats.org/officeDocument/2006/relationships" r:id="R8cd915ca39404c6c"/>
    </p:embeddedFont>
    <p:embeddedFont>
      <p:font typeface="Google Sans Flex"/>
      <p:regular xmlns:r="http://schemas.openxmlformats.org/officeDocument/2006/relationships" r:id="R797b2e526aec489d"/>
      <p:bold xmlns:r="http://schemas.openxmlformats.org/officeDocument/2006/relationships" r:id="R795c75e0b4b244c8"/>
    </p:embeddedFont>
    <p:embeddedFont>
      <p:font typeface="Google Sans Flex SemiBold"/>
      <p:regular xmlns:r="http://schemas.openxmlformats.org/officeDocument/2006/relationships" r:id="Rcc4d44e660f94907"/>
      <p:bold xmlns:r="http://schemas.openxmlformats.org/officeDocument/2006/relationships" r:id="R79085c90692a4eee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4f085cfa404431" /><Relationship Type="http://schemas.openxmlformats.org/officeDocument/2006/relationships/slideMaster" Target="/ppt/slideMasters/slideMaster1.xml" Id="Rdef34fb5b6d04eea" /><Relationship Type="http://schemas.openxmlformats.org/officeDocument/2006/relationships/notesMaster" Target="/ppt/notesMasters/notesMaster1.xml" Id="R8499aa93552b4581" /><Relationship Type="http://schemas.openxmlformats.org/officeDocument/2006/relationships/presProps" Target="/ppt/presProps.xml" Id="R0ac5ebc7c233402a" /><Relationship Type="http://schemas.openxmlformats.org/officeDocument/2006/relationships/viewProps" Target="/ppt/viewProps.xml" Id="R3d0cdf9a37034258" /><Relationship Type="http://schemas.openxmlformats.org/officeDocument/2006/relationships/tableStyles" Target="/ppt/tableStyles.xml" Id="R43c224278a8e4b24" /><Relationship Type="http://schemas.openxmlformats.org/officeDocument/2006/relationships/font" Target="/ppt/fonts/font.dat" Id="R68cfcc641a434f01" /><Relationship Type="http://schemas.openxmlformats.org/officeDocument/2006/relationships/font" Target="/ppt/fonts/font2.dat" Id="R8cd915ca39404c6c" /><Relationship Type="http://schemas.openxmlformats.org/officeDocument/2006/relationships/font" Target="/ppt/fonts/font3.dat" Id="R797b2e526aec489d" /><Relationship Type="http://schemas.openxmlformats.org/officeDocument/2006/relationships/font" Target="/ppt/fonts/font4.dat" Id="R795c75e0b4b244c8" /><Relationship Type="http://schemas.openxmlformats.org/officeDocument/2006/relationships/font" Target="/ppt/fonts/font5.dat" Id="Rcc4d44e660f94907" /><Relationship Type="http://schemas.openxmlformats.org/officeDocument/2006/relationships/font" Target="/ppt/fonts/font6.dat" Id="R79085c90692a4eee" /><Relationship Type="http://schemas.openxmlformats.org/officeDocument/2006/relationships/slide" Target="/ppt/slides/slide1.xml" Id="R811070c11a0648b4" /><Relationship Type="http://schemas.openxmlformats.org/officeDocument/2006/relationships/slide" Target="/ppt/slides/slide2.xml" Id="Rcf4b286bdd4043e0" /><Relationship Type="http://schemas.openxmlformats.org/officeDocument/2006/relationships/slide" Target="/ppt/slides/slide3.xml" Id="R7f192f42435a4d22" /><Relationship Type="http://schemas.openxmlformats.org/officeDocument/2006/relationships/slide" Target="/ppt/slides/slide4.xml" Id="R4670025b0e444cc9" /><Relationship Type="http://schemas.openxmlformats.org/officeDocument/2006/relationships/slide" Target="/ppt/slides/slide5.xml" Id="R49848afba0ee43f5" /><Relationship Type="http://schemas.openxmlformats.org/officeDocument/2006/relationships/slide" Target="/ppt/slides/slide6.xml" Id="Refb66eb1335e4a2d" /><Relationship Type="http://schemas.openxmlformats.org/officeDocument/2006/relationships/slide" Target="/ppt/slides/slide7.xml" Id="R1a54dda8b5d6409b" /><Relationship Type="http://schemas.openxmlformats.org/officeDocument/2006/relationships/slide" Target="/ppt/slides/slide8.xml" Id="R45794d82a90d47dc" /><Relationship Type="http://schemas.openxmlformats.org/officeDocument/2006/relationships/slide" Target="/ppt/slides/slide9.xml" Id="R3856890c2dd84535" /><Relationship Type="http://schemas.openxmlformats.org/officeDocument/2006/relationships/slide" Target="/ppt/slides/slide10.xml" Id="Rea7314f7cf7c4ef5" /><Relationship Type="http://schemas.openxmlformats.org/officeDocument/2006/relationships/slide" Target="/ppt/slides/slide11.xml" Id="Rf5602591ac224f92" /><Relationship Type="http://schemas.openxmlformats.org/officeDocument/2006/relationships/slide" Target="/ppt/slides/slide12.xml" Id="R33758bb0b27b49dd" /><Relationship Type="http://schemas.openxmlformats.org/officeDocument/2006/relationships/slide" Target="/ppt/slides/slide13.xml" Id="R9e5c53b7351d45c1" /><Relationship Type="http://schemas.openxmlformats.org/officeDocument/2006/relationships/slide" Target="/ppt/slides/slide14.xml" Id="Rd013c2e326ec4a09" /><Relationship Type="http://schemas.openxmlformats.org/officeDocument/2006/relationships/slide" Target="/ppt/slides/slide15.xml" Id="Ra2da4c95851b477e" /><Relationship Type="http://schemas.openxmlformats.org/officeDocument/2006/relationships/slide" Target="/ppt/slides/slide16.xml" Id="R56aae03fc98c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6015b33cfa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90cca0e884dd5" /><Relationship Type="http://schemas.openxmlformats.org/officeDocument/2006/relationships/notesMaster" Target="/ppt/notesMasters/notesMaster1.xml" Id="Red4b6e2db4a640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95e59ee6bf475e" /><Relationship Type="http://schemas.openxmlformats.org/officeDocument/2006/relationships/notesMaster" Target="/ppt/notesMasters/notesMaster1.xml" Id="R68790dea681044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2795fe6eac40cf" /><Relationship Type="http://schemas.openxmlformats.org/officeDocument/2006/relationships/notesMaster" Target="/ppt/notesMasters/notesMaster1.xml" Id="Rd171088e29b141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4a057350b444dd" /><Relationship Type="http://schemas.openxmlformats.org/officeDocument/2006/relationships/notesMaster" Target="/ppt/notesMasters/notesMaster1.xml" Id="R51d3ca9ea7e443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a8b9cc7085400d" /><Relationship Type="http://schemas.openxmlformats.org/officeDocument/2006/relationships/notesMaster" Target="/ppt/notesMasters/notesMaster1.xml" Id="Rc4efd5ce0cb741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13d1e576d461c" /><Relationship Type="http://schemas.openxmlformats.org/officeDocument/2006/relationships/notesMaster" Target="/ppt/notesMasters/notesMaster1.xml" Id="R4044454f8dea4a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9d958a9c554f34" /><Relationship Type="http://schemas.openxmlformats.org/officeDocument/2006/relationships/notesMaster" Target="/ppt/notesMasters/notesMaster1.xml" Id="Raf0a0ba335a540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b2083e15e94451" /><Relationship Type="http://schemas.openxmlformats.org/officeDocument/2006/relationships/notesMaster" Target="/ppt/notesMasters/notesMaster1.xml" Id="R199682b0f4a64d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3a28cbf5594a8a" /><Relationship Type="http://schemas.openxmlformats.org/officeDocument/2006/relationships/notesMaster" Target="/ppt/notesMasters/notesMaster1.xml" Id="R6b1f69f7419647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a4d6fe76eb433e" /><Relationship Type="http://schemas.openxmlformats.org/officeDocument/2006/relationships/notesMaster" Target="/ppt/notesMasters/notesMaster1.xml" Id="Re8ed2c83f31f41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65de92c6f04bb0" /><Relationship Type="http://schemas.openxmlformats.org/officeDocument/2006/relationships/notesMaster" Target="/ppt/notesMasters/notesMaster1.xml" Id="Ree79244e3bb145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fcf99042f84ccf" /><Relationship Type="http://schemas.openxmlformats.org/officeDocument/2006/relationships/notesMaster" Target="/ppt/notesMasters/notesMaster1.xml" Id="R0a47f95a072e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4e0ea1c65b4963" /><Relationship Type="http://schemas.openxmlformats.org/officeDocument/2006/relationships/notesMaster" Target="/ppt/notesMasters/notesMaster1.xml" Id="R9f14da4ff24c47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6ed2fecfd04230" /><Relationship Type="http://schemas.openxmlformats.org/officeDocument/2006/relationships/notesMaster" Target="/ppt/notesMasters/notesMaster1.xml" Id="R3dedbfc7995d40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f11240fc8a4bbd" /><Relationship Type="http://schemas.openxmlformats.org/officeDocument/2006/relationships/notesMaster" Target="/ppt/notesMasters/notesMaster1.xml" Id="R24bd52d1fc4648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ed54bc45c84a06" /><Relationship Type="http://schemas.openxmlformats.org/officeDocument/2006/relationships/notesMaster" Target="/ppt/notesMasters/notesMaster1.xml" Id="Rb45469d84f794d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 details were confirmed from the supplied event-dashboard screenshot. Product framing: RESOURCE_PLAN.md and COMPETITION_STRATEGY.md.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template instruction page retained.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COMPETITION_STRATEGY.md, RESOURCE_PLAN.md and BRAND_GUIDELINES.md. Brand artwork is a project asset supplied by the team.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COMPETITION_STRATEGY.md. The deck avoids unsupported claims about market leadership or competitor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Implemented prototype behavior and current limitations: PRODUCT.md, DESIGN.md and resource-app/README.md. Live Gemini and Firebase persistence remain planned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RESOURCE_PLAN.md and COMPETITION_STRATEGY.md. The scenario is a proposed demonstration, not a measured user study.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DESIGN.md. These are simplified editable mock diagrams showing the product's design evolution.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architecture from RESOURCE_PLAN.md. Hosting, Firestore, Auth, App Check and live Gemini access require final deployment verification.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resource-app/package.json, RESOURCE_PLAN.md and UI_UX_NOTES.md. Google services remain the proposed deployment stack until public deployment is verified.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RESOURCE_PLAN.md. ₹0 is a target based on the proposed unbilled architecture, not a guarantee of availability or quota.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image: demo/resource_agent_demo.webp, a project-owned prototype screenshot.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Verified items come from resource-app/README.md and DESIGN.md. Unmeasured benchmark plans come from SUBMISSION_CHECKLIST.md and the submission workbook.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RESOURCE_PLAN.md and PRODUCT.md. Future items are deliberately separated from current prototype capability.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GitHub link targets the resource-app folder in the public repository. The deployed product URL was supplied by the team. The video link still needs to be added before submission.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COMPETITION_STRATEGY.md, RESOURCE_PLAN.md and DESIGN.md. Live Gemini integration remains pending at the time this deck was authored.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template thank-you slide retained.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2c8b514ac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c5750d270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4d85d4b20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8808b282245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bdf8c387e4f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15d040e1b47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82cd68a3a49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2e26afdfe47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21e54bdfe49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b50bd91a94e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d68a1317f41d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7194825-B025-4499-8D60-61C6E9BF23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5460866B-0957-4D36-8FFF-EE8CEC5D9F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5695058A-A1AF-409F-A15A-9C15FE5889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CC5BCB53-A965-478A-BCC2-FC1884161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672AF5CD-DD0C-48B9-B1B0-D14EFEC96D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EDA3E5DE-F9FF-470B-B8DC-2D3969074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ABC3485-7308-4AF2-B055-C291AD021B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7A17391-D0DA-42A2-BE46-F69BD9C70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25DE1CDC-E70A-4797-ADC1-DC7D1FB19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4D655435-9FBE-46E4-B1EB-959F56A175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9D1B1ED0-0E0C-4AD1-AD33-D7508AA014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5322BCCA-8EAC-4876-B012-B600F8BFE3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62D35214-BC89-4761-9E6F-4B14A4BC2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1D3B9090-C470-4C16-A973-E69F58BA44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E0973479-0A12-475E-A2B6-DC669D2034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48780BB7-B36A-4945-B34B-AA06EB8A93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24C4EDF8-3FE2-4ED0-AF85-72846DFF7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A0F20B1A-5BB2-4325-AF25-E8DAC077A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6CF4A7D-90CF-4E5C-ABA0-870DD3BEC6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4345C28F-D4EC-4AD4-8A8C-F015DAEC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774D879B-6260-4F0E-A4F7-F0CC4FBD6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90271759-2EA1-432C-8FC6-95C6F322AE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C0CCA9A0-4BB2-4A72-88A5-E40B159DAF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320C176F-8D75-448E-AAB8-D1F4024AD1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D620C178-4C35-487D-80D5-09AB1A1A9F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18EE6956-4CC1-47E3-BE0D-39B06F95B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04DD9CB-14E8-4617-B0D2-D360E8C4A2A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7888C312-8E08-4DA7-94C4-A172BB039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134AC84F-48F5-4873-B024-F1E3809EC4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373A1D4A-3628-43A3-8B74-CFF825801F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4105ee44bb45d1" /><Relationship Type="http://schemas.openxmlformats.org/officeDocument/2006/relationships/slideLayout" Target="/ppt/slideLayouts/slideLayout1.xml" Id="R7cd80ab4324e4ec8" /><Relationship Type="http://schemas.openxmlformats.org/officeDocument/2006/relationships/slideLayout" Target="/ppt/slideLayouts/slideLayout2.xml" Id="R092d7c7b4b1448da" /><Relationship Type="http://schemas.openxmlformats.org/officeDocument/2006/relationships/slideLayout" Target="/ppt/slideLayouts/slideLayout3.xml" Id="R020afc4d881c46a8" /><Relationship Type="http://schemas.openxmlformats.org/officeDocument/2006/relationships/slideLayout" Target="/ppt/slideLayouts/slideLayout4.xml" Id="R1897125662144e5b" /><Relationship Type="http://schemas.openxmlformats.org/officeDocument/2006/relationships/slideLayout" Target="/ppt/slideLayouts/slideLayout5.xml" Id="Rb7fbe8460f934db4" /><Relationship Type="http://schemas.openxmlformats.org/officeDocument/2006/relationships/slideLayout" Target="/ppt/slideLayouts/slideLayout6.xml" Id="Rad42ac54e37c4d63" /><Relationship Type="http://schemas.openxmlformats.org/officeDocument/2006/relationships/slideLayout" Target="/ppt/slideLayouts/slideLayout7.xml" Id="Ra9836bf5b8bc4dc0" /><Relationship Type="http://schemas.openxmlformats.org/officeDocument/2006/relationships/slideLayout" Target="/ppt/slideLayouts/slideLayout8.xml" Id="R8d5ae11da6804f8a" /><Relationship Type="http://schemas.openxmlformats.org/officeDocument/2006/relationships/slideLayout" Target="/ppt/slideLayouts/slideLayout9.xml" Id="R8a97ea6a056f4c25" /><Relationship Type="http://schemas.openxmlformats.org/officeDocument/2006/relationships/slideLayout" Target="/ppt/slideLayouts/slideLayout10.xml" Id="Ra95c278f1644407a" /><Relationship Type="http://schemas.openxmlformats.org/officeDocument/2006/relationships/slideLayout" Target="/ppt/slideLayouts/slideLayout11.xml" Id="R5bd56cdaf6c1478e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D4BCBD2-2B7F-49D2-9A5F-0E6D68C9E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206D602-BD55-4B6E-BE50-080BBD87A3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C549640-E19A-4D96-BEC2-7921FF785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80ab4324e4ec8"/>
    <p:sldLayoutId xmlns:r="http://schemas.openxmlformats.org/officeDocument/2006/relationships" id="2147483650" r:id="R092d7c7b4b1448da"/>
    <p:sldLayoutId xmlns:r="http://schemas.openxmlformats.org/officeDocument/2006/relationships" id="2147483651" r:id="R020afc4d881c46a8"/>
    <p:sldLayoutId xmlns:r="http://schemas.openxmlformats.org/officeDocument/2006/relationships" id="2147483652" r:id="R1897125662144e5b"/>
    <p:sldLayoutId xmlns:r="http://schemas.openxmlformats.org/officeDocument/2006/relationships" id="2147483653" r:id="Rb7fbe8460f934db4"/>
    <p:sldLayoutId xmlns:r="http://schemas.openxmlformats.org/officeDocument/2006/relationships" id="2147483654" r:id="Rad42ac54e37c4d63"/>
    <p:sldLayoutId xmlns:r="http://schemas.openxmlformats.org/officeDocument/2006/relationships" id="2147483655" r:id="Ra9836bf5b8bc4dc0"/>
    <p:sldLayoutId xmlns:r="http://schemas.openxmlformats.org/officeDocument/2006/relationships" id="2147483656" r:id="R8d5ae11da6804f8a"/>
    <p:sldLayoutId xmlns:r="http://schemas.openxmlformats.org/officeDocument/2006/relationships" id="2147483657" r:id="R8a97ea6a056f4c25"/>
    <p:sldLayoutId xmlns:r="http://schemas.openxmlformats.org/officeDocument/2006/relationships" id="2147483658" r:id="Ra95c278f1644407a"/>
    <p:sldLayoutId xmlns:r="http://schemas.openxmlformats.org/officeDocument/2006/relationships" id="2147483659" r:id="R5bd56cdaf6c1478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fa5f3f50f40c5" /><Relationship Type="http://schemas.openxmlformats.org/officeDocument/2006/relationships/image" Target="/ppt/media/image.png" Id="Rd62d21a50f704aea" /><Relationship Type="http://schemas.openxmlformats.org/officeDocument/2006/relationships/image" Target="/ppt/media/image2.png" Id="R32fba25c75b34338" /><Relationship Type="http://schemas.openxmlformats.org/officeDocument/2006/relationships/notesSlide" Target="/ppt/notesSlides/notesSlide1.xml" Id="R785efb4443484e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a09eaeaa94cfd" /><Relationship Type="http://schemas.openxmlformats.org/officeDocument/2006/relationships/image" Target="/ppt/media/image2.png" Id="Reb04dca388154f98" /><Relationship Type="http://schemas.openxmlformats.org/officeDocument/2006/relationships/image" Target="/ppt/media/image3.png" Id="R893d194a720a459b" /><Relationship Type="http://schemas.openxmlformats.org/officeDocument/2006/relationships/notesSlide" Target="/ppt/notesSlides/notesSlide2.xml" Id="R957fdd2f451b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99065ac374f7b" /><Relationship Type="http://schemas.openxmlformats.org/officeDocument/2006/relationships/image" Target="/ppt/media/image4.png" Id="Rcbbf008ab03049b8" /><Relationship Type="http://schemas.openxmlformats.org/officeDocument/2006/relationships/image" Target="/ppt/media/image.jpeg" Id="Re4b9a2bda9bc426f" /><Relationship Type="http://schemas.openxmlformats.org/officeDocument/2006/relationships/notesSlide" Target="/ppt/notesSlides/notesSlide3.xml" Id="R4ba61372f5bc41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c573c5ec4e5f" /><Relationship Type="http://schemas.openxmlformats.org/officeDocument/2006/relationships/image" Target="/ppt/media/image2.png" Id="R49d66c5506aa47e3" /><Relationship Type="http://schemas.openxmlformats.org/officeDocument/2006/relationships/image" Target="/ppt/media/image4.png" Id="Rd134b80956864448" /><Relationship Type="http://schemas.openxmlformats.org/officeDocument/2006/relationships/notesSlide" Target="/ppt/notesSlides/notesSlide4.xml" Id="R6d1f08c5a507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68e93c9084d39" /><Relationship Type="http://schemas.openxmlformats.org/officeDocument/2006/relationships/image" Target="/ppt/media/image2.png" Id="Re2742ac943154a26" /><Relationship Type="http://schemas.openxmlformats.org/officeDocument/2006/relationships/image" Target="/ppt/media/image4.png" Id="R381c3e419d464b4b" /><Relationship Type="http://schemas.openxmlformats.org/officeDocument/2006/relationships/notesSlide" Target="/ppt/notesSlides/notesSlide5.xml" Id="R694b854b9291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b76ea993847a6" /><Relationship Type="http://schemas.openxmlformats.org/officeDocument/2006/relationships/image" Target="/ppt/media/image2.png" Id="R166eb01632fc43cd" /><Relationship Type="http://schemas.openxmlformats.org/officeDocument/2006/relationships/image" Target="/ppt/media/image4.png" Id="R211ec9af785941a8" /><Relationship Type="http://schemas.openxmlformats.org/officeDocument/2006/relationships/notesSlide" Target="/ppt/notesSlides/notesSlide6.xml" Id="R0e06f7de1bb048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43467932f4811" /><Relationship Type="http://schemas.openxmlformats.org/officeDocument/2006/relationships/image" Target="/ppt/media/image2.png" Id="Ra455a239544c4f0b" /><Relationship Type="http://schemas.openxmlformats.org/officeDocument/2006/relationships/image" Target="/ppt/media/image4.png" Id="Re3a141608f8a408f" /><Relationship Type="http://schemas.openxmlformats.org/officeDocument/2006/relationships/notesSlide" Target="/ppt/notesSlides/notesSlide7.xml" Id="Rfa4d4c914a3a47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ebb8991db4972" /><Relationship Type="http://schemas.openxmlformats.org/officeDocument/2006/relationships/image" Target="/ppt/media/image2.png" Id="R3d6414b019e24119" /><Relationship Type="http://schemas.openxmlformats.org/officeDocument/2006/relationships/image" Target="/ppt/media/image4.png" Id="R548eb5e9a62a4407" /><Relationship Type="http://schemas.openxmlformats.org/officeDocument/2006/relationships/notesSlide" Target="/ppt/notesSlides/notesSlide8.xml" Id="R2f0212a26c3e4a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438c7cabb4505" /><Relationship Type="http://schemas.openxmlformats.org/officeDocument/2006/relationships/image" Target="/ppt/media/image2.png" Id="R4a88e4dae9ca48c7" /><Relationship Type="http://schemas.openxmlformats.org/officeDocument/2006/relationships/image" Target="/ppt/media/image4.png" Id="R5cb863446cbd44c3" /><Relationship Type="http://schemas.openxmlformats.org/officeDocument/2006/relationships/image" Target="/ppt/media/image5.png" Id="R8df3fe80f6af45fa" /><Relationship Type="http://schemas.openxmlformats.org/officeDocument/2006/relationships/notesSlide" Target="/ppt/notesSlides/notesSlide9.xml" Id="Rcea974d01e2449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2fa2fa9ad43d2" /><Relationship Type="http://schemas.openxmlformats.org/officeDocument/2006/relationships/image" Target="/ppt/media/image2.png" Id="Re425728f96ef41e0" /><Relationship Type="http://schemas.openxmlformats.org/officeDocument/2006/relationships/image" Target="/ppt/media/image4.png" Id="R49227723ce2e43f0" /><Relationship Type="http://schemas.openxmlformats.org/officeDocument/2006/relationships/notesSlide" Target="/ppt/notesSlides/notesSlide10.xml" Id="Rafc576ac0f3f4c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566c1c8bd41fe" /><Relationship Type="http://schemas.openxmlformats.org/officeDocument/2006/relationships/image" Target="/ppt/media/image2.png" Id="R2f21ccf9bc754414" /><Relationship Type="http://schemas.openxmlformats.org/officeDocument/2006/relationships/image" Target="/ppt/media/image4.png" Id="Ra898188f5a7e4163" /><Relationship Type="http://schemas.openxmlformats.org/officeDocument/2006/relationships/image" Target="/ppt/media/image.bin" Id="Rdedb24b1446f49c4" /><Relationship Type="http://schemas.openxmlformats.org/officeDocument/2006/relationships/notesSlide" Target="/ppt/notesSlides/notesSlide11.xml" Id="Ra6d58538aa4c4a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a858ac5ce4cda" /><Relationship Type="http://schemas.openxmlformats.org/officeDocument/2006/relationships/image" Target="/ppt/media/image2.png" Id="R00569f1391d14916" /><Relationship Type="http://schemas.openxmlformats.org/officeDocument/2006/relationships/image" Target="/ppt/media/image4.png" Id="R841ba12911dc4011" /><Relationship Type="http://schemas.openxmlformats.org/officeDocument/2006/relationships/notesSlide" Target="/ppt/notesSlides/notesSlide12.xml" Id="Re3f7e3f7d93343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89587b340481a" /><Relationship Type="http://schemas.openxmlformats.org/officeDocument/2006/relationships/image" Target="/ppt/media/image2.png" Id="Ra60194cc9e5e485a" /><Relationship Type="http://schemas.openxmlformats.org/officeDocument/2006/relationships/image" Target="/ppt/media/image4.png" Id="R1900e4764f6d4bf9" /><Relationship Type="http://schemas.openxmlformats.org/officeDocument/2006/relationships/notesSlide" Target="/ppt/notesSlides/notesSlide13.xml" Id="Rf5ed81786a304c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c49723c44d51" /><Relationship Type="http://schemas.openxmlformats.org/officeDocument/2006/relationships/image" Target="/ppt/media/image2.png" Id="R8d0bed45b90f40d0" /><Relationship Type="http://schemas.openxmlformats.org/officeDocument/2006/relationships/image" Target="/ppt/media/image4.png" Id="Rad10dd5579cd491b" /><Relationship Type="http://schemas.openxmlformats.org/officeDocument/2006/relationships/notesSlide" Target="/ppt/notesSlides/notesSlide14.xml" Id="Rcd59faf73bab42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5304581364cc7" /><Relationship Type="http://schemas.openxmlformats.org/officeDocument/2006/relationships/image" Target="/ppt/media/image2.png" Id="Re06c8b727b9c4fb1" /><Relationship Type="http://schemas.openxmlformats.org/officeDocument/2006/relationships/image" Target="/ppt/media/image4.png" Id="R4d18a2f2f6b446a5" /><Relationship Type="http://schemas.openxmlformats.org/officeDocument/2006/relationships/notesSlide" Target="/ppt/notesSlides/notesSlide15.xml" Id="R5e0dc9401d7e46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c3e65ada24c91" /><Relationship Type="http://schemas.openxmlformats.org/officeDocument/2006/relationships/image" Target="/ppt/media/image2.png" Id="R5bc981eeacf945b5" /><Relationship Type="http://schemas.openxmlformats.org/officeDocument/2006/relationships/image" Target="/ppt/media/image6.png" Id="Rcc1a634d5f8a4526" /><Relationship Type="http://schemas.openxmlformats.org/officeDocument/2006/relationships/notesSlide" Target="/ppt/notesSlides/notesSlide16.xml" Id="R5172fc4c1beb4f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D8F4C65D-9CB3-4DB5-BBE9-BD89D3DA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95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81D51C51-F406-4A4D-9677-893E12F55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d21a50f704ae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E61AD896-67D9-4CD5-9CF6-CF91A84183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fba25c75b3433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057525-0127-42CB-BAA4-362AC8E4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name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AB35AC-0AAB-45FB-A6B6-CB18991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24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Recursive Minds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0CB461-1004-436E-9FC9-72DEB2E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leader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12A15C-EDE3-4A5B-8041-18A709C8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242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Dhanyashree S Navileker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331CBA-A5EE-4685-B3DE-AD5F009C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Team member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00F328-424B-4199-9952-CD92F848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Abhishek 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B86E91-230F-4825-A5B2-74ACCC92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767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6273"/>
                </a:solidFill>
              </a:defRPr>
            </a:pPr>
            <a:r>
              <a:rPr sz="975" b="1">
                <a:solidFill>
                  <a:srgbClr val="586273"/>
                </a:solidFill>
              </a:rPr>
              <a:t>Problem statement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5DE137-2E75-4768-B586-76D8E801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505325"/>
            <a:ext cx="804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Useful renovation leftovers are discarded because owners struggle to describe uncertain materials and finders cannot judge whether a listing fits a real project.</a:t>
            </a:r>
          </a:p>
        </p:txBody>
      </p:sp>
    </p:spTree>
    <p:extLst>
      <p:ext uri="{BB962C8B-B14F-4D97-AF65-F5344CB8AC3E}">
        <p14:creationId xmlns:p14="http://schemas.microsoft.com/office/powerpoint/2010/main" val="3117259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E6E7E82B-67CA-4C50-99D6-E75681482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04dca388154f9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0CE79447-C4DD-4675-ACE8-5F411D1A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EB2618C5-11C4-4C6A-9CBA-FD2083C4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Note:</a:t>
            </a: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 Please download this template to make your edits and submit the final version.</a:t>
            </a: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b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</a:br>
            <a:r>
              <a:rPr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51E8508A-6887-452F-971C-B98CB00482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d194a720a459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203" y="1194675"/>
            <a:ext cx="3604250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15678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545E830C-58EA-49E9-B555-87FC7A852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f008ab03049b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3934354B-FE48-4D1F-9096-FF8E6230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FF3BF095-4F5A-4E4E-B834-514DC971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Re:Source: practical reuse for renovation leftovers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20B92F-DE07-4D27-8E20-5886E3CA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A project-first reuse marketplace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194ADF0-3AAE-4749-AAF8-350AA76D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716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273"/>
                </a:solidFill>
              </a:defRPr>
            </a:pPr>
            <a:r>
              <a:rPr sz="1500" b="0">
                <a:solidFill>
                  <a:srgbClr val="586273"/>
                </a:solidFill>
              </a:rPr>
              <a:t>Owners publish usable leftovers with less effort. Finders describe what they want to build and receive a material plan grounded in available inventory.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C115FF-37C6-4DB1-97D5-4C64B205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242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ECFBF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Photo to draft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96585F-2E4F-4E6E-A3D2-09B733D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242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F1ECFC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Brief to requirements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E5347A3-FD8A-42B0-A0C5-BA469B34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ECFBF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0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Evidence-backed matches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AC484F-892D-4956-B6C9-B32BEF9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041D9"/>
                </a:solidFill>
              </a:defRPr>
            </a:pPr>
            <a:r>
              <a:rPr sz="1500" b="1">
                <a:solidFill>
                  <a:srgbClr val="7041D9"/>
                </a:solidFill>
              </a:rPr>
              <a:t>AI proposes. People confirm. Deterministic code calculates coverage, quantity and price.</a:t>
            </a:r>
          </a:p>
        </p:txBody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15E1D4-5A26-4C82-950D-BCDD7C24F4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9a2bda9bc426f"/>
          <a:srcRect xmlns:a="http://schemas.openxmlformats.org/drawingml/2006/main" l="11667" t="0" r="11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381125"/>
            <a:ext cx="2190750" cy="285750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</p:spTree>
    <p:extLst>
      <p:ext uri="{BB962C8B-B14F-4D97-AF65-F5344CB8AC3E}">
        <p14:creationId xmlns:p14="http://schemas.microsoft.com/office/powerpoint/2010/main" val="16165387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36E2DEA9-2D3E-4A9D-8AFF-E87D97B05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d66c5506aa47e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A921BB75-552B-46F7-AA3E-01E1668C0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4b8095686444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144B2052-5B7B-4FFF-80DB-9DAB609F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605B24AD-3D79-4EEC-98A9-EAED4CA5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Why Re:Source is different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430D46-30A6-4321-8D42-DF67CDF5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E23213-8D96-4523-946D-24A0E486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788E8"/>
                </a:solidFill>
              </a:defRPr>
            </a:pPr>
            <a:r>
              <a:rPr sz="1500" b="1">
                <a:solidFill>
                  <a:srgbClr val="3788E8"/>
                </a:solidFill>
              </a:rPr>
              <a:t>The gap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23C6C1-570D-4359-95A4-422CD09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240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People search with project intent, while leftover inventory is described as isolated items.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6DB12AD-CCA1-4BCD-B3DE-6CC4BD8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6C3089-C4A8-49D8-9D81-69F0589E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041D9"/>
                </a:solidFill>
              </a:defRPr>
            </a:pPr>
            <a:r>
              <a:rPr sz="1500" b="1">
                <a:solidFill>
                  <a:srgbClr val="7041D9"/>
                </a:solidFill>
              </a:rPr>
              <a:t>The response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9B4EED-F7C3-4308-9701-FA3674D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Re:Source converts a project brief into requirements and matches only against available inventory.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36FCC37-9541-43E5-B649-07054973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4725"/>
            <a:ext cx="8229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B068263-96F1-48EF-8463-A2EDA759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788E8"/>
                </a:solidFill>
              </a:defRPr>
            </a:pPr>
            <a:r>
              <a:rPr sz="1500" b="1">
                <a:solidFill>
                  <a:srgbClr val="3788E8"/>
                </a:solidFill>
              </a:rPr>
              <a:t>The trust layer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2A84CF5-542A-4AE1-B3AB-DB3C274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576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Every recommendation shows confirmed facts, calculated coverage, missing information and pickup questions.</a:t>
            </a:r>
          </a:p>
        </p:txBody>
      </p:sp>
    </p:spTree>
    <p:extLst>
      <p:ext uri="{BB962C8B-B14F-4D97-AF65-F5344CB8AC3E}">
        <p14:creationId xmlns:p14="http://schemas.microsoft.com/office/powerpoint/2010/main" val="12510041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B98E8F09-9A90-4F6F-9DB5-B9312BA434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742ac943154a2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BF8337C2-4EB7-4321-938E-BA507CECD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c3e419d464b4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BC726850-C32A-45C8-BDDC-B1F3D985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E9200836-3F09-436E-AE1C-768B7BC2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Core product features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AE4D42-6D1F-4DDA-A069-CFE8413F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223576-20CF-4CD3-B69C-82EF5FCE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Guided project brief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92090A1-B620-4A86-A3BE-AE76A5D4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Captures material, size, budget and pickup locality in plain language.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7B5ECB-0733-4ECB-BACA-8236A6E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811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4DA1F5A-C74F-4824-AF36-1DFD5A9F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5240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Transparent matching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98253F1-F180-473F-AE34-1EC478AA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097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Ranks real listings and shows area coverage, cost, gaps and uncertainty.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D5DD9F2-FACD-4C24-B9B5-ED538FDC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3A212D2-4E86-4894-B745-1AE75649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Saved material plan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B24E3A1-CB67-4354-83FA-45BE808E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Combines selected lots and tracks known coverage, spend and remaining need.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D545DF-6026-4B05-85F4-65BA1673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0507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74DB07F-34B2-43A2-9B64-2BC60202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4795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Fast owner listing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6555E9-1A41-48E4-B1DF-04A19667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337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Turns a photo into a draft while keeping every field editable before publishing.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64CD36A-0359-4DB9-8650-80B2FB3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F0848E4-0AED-4C64-9E81-8B8CF8F7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Manual fallback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3B8EA9-9C15-4B73-8D16-3439F112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Keeps browsing and listing usable when AI is unavailable.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DEAF0A-4D3C-420D-B28C-86AFDC29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29025"/>
            <a:ext cx="3952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76F778-E362-410B-9AB1-B60E49AB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71900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Responsive experience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3EFBE3B-6E8A-4FDC-A5FC-0B0F077C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576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Supports the complete finder and owner journey on desktop and mobile.</a:t>
            </a:r>
          </a:p>
        </p:txBody>
      </p:sp>
    </p:spTree>
    <p:extLst>
      <p:ext uri="{BB962C8B-B14F-4D97-AF65-F5344CB8AC3E}">
        <p14:creationId xmlns:p14="http://schemas.microsoft.com/office/powerpoint/2010/main" val="11279666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673C2F96-977A-4C5B-94D8-A84E0B2F5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6eb01632fc43c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4C209BA2-09D4-4123-8F54-2FE753F6B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ec9af785941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283AEEFA-751B-455A-8E75-A6060083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222B7F25-E4E4-48AC-AF42-A37A3601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Finder and owner journeys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6F7683E-8E09-41F8-BA5B-63B84CF6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145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25D9F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5D9F0"/>
                </a:solidFill>
              </a:defRPr>
            </a:pPr>
            <a:r>
              <a:rPr sz="1125" b="1">
                <a:solidFill>
                  <a:srgbClr val="25D9F0"/>
                </a:solidFill>
              </a:rPr>
              <a:t>FINDER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E99B4C-EEFB-479E-A11B-170589E2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Describe project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B523AE-A572-425B-988F-6A78C909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145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695D2A-43B2-44D3-8E29-BD17FA62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Confirm requirements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A0CF83-7F36-414B-9EF1-DF2674A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145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F9225B-FDD8-42E3-97E6-409C127D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Review matches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3EF421-1C96-4C94-8C13-628BF65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14525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solidFill>
              <a:srgbClr val="25D9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DADF8D5-9135-4212-B777-A4184B06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Save a plan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6FE01E-FF65-4E4F-90F1-691AEFC4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90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7041D9"/>
                </a:solidFill>
              </a:defRPr>
            </a:pPr>
            <a:r>
              <a:rPr sz="1125" b="1">
                <a:solidFill>
                  <a:srgbClr val="7041D9"/>
                </a:solidFill>
              </a:rPr>
              <a:t>OWNER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A77EEF-29F1-406F-96CF-DA08805A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Add a photo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C46833F-C674-4F63-9F80-70E46F32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909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0A5E9E-6E16-48F1-93B8-CD9F3129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Review draft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6BB22E2-F7FE-478D-831E-D68481F7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909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1A8BDC2-9E3F-4C4A-A25A-27A35533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Correct details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4B06D90-1BB0-4796-B3D5-7C2AA64B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90900"/>
            <a:ext cx="2381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solidFill>
              <a:srgbClr val="7041D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23268C2-631E-4841-8713-CB0A9F6E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Publish listing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7ABD5AB-5502-414F-89C9-AF7E46C9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586273"/>
                </a:solidFill>
              </a:defRPr>
            </a:pPr>
            <a:r>
              <a:rPr sz="1200" b="1">
                <a:solidFill>
                  <a:srgbClr val="586273"/>
                </a:solidFill>
              </a:rPr>
              <a:t>Signature scenario: a renter needs a mosaic tabletop. Re:Source identifies suitable tile leftovers, calculates coverage and cost, flags missing details and saves the plan.</a:t>
            </a:r>
          </a:p>
        </p:txBody>
      </p:sp>
    </p:spTree>
    <p:extLst>
      <p:ext uri="{BB962C8B-B14F-4D97-AF65-F5344CB8AC3E}">
        <p14:creationId xmlns:p14="http://schemas.microsoft.com/office/powerpoint/2010/main" val="222126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4909CB29-31F8-47E8-ACB8-B60CE2E3F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55a239544c4f0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60410AE5-B5AB-4FDD-96BA-23DC873DDE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141608f8a408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96219E2E-CA56-45E9-9768-64BAD29F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F4104B0A-6779-4227-B241-71F9651D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Experience evolved from catalogue to guided conversation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A44F4B8-BC6E-49A1-AC1E-2B81C78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BF8981A-1D49-4F1D-B5B8-1EDE5017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788E8"/>
                </a:solidFill>
              </a:defRPr>
            </a:pPr>
            <a:r>
              <a:rPr sz="1650" b="1">
                <a:solidFill>
                  <a:srgbClr val="3788E8"/>
                </a:solidFill>
              </a:rPr>
              <a:t>1. Browse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C18E40-5F78-4F9C-BFAA-E9BD290C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A catalogue exposed inventory but left the user to translate a project into search terms.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DFD7A6-0E0A-45AB-A385-71437B74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3A5DE5C-05D7-4C09-B808-27023279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33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B1F9E50-B604-497F-86E4-7E0C60D9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D8FFC15-CF87-4E1D-9A5A-A07E93B0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1CED19D-2B98-4492-B10D-27F68F9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041D9"/>
                </a:solidFill>
              </a:defRPr>
            </a:pPr>
            <a:r>
              <a:rPr sz="1650" b="1">
                <a:solidFill>
                  <a:srgbClr val="7041D9"/>
                </a:solidFill>
              </a:rPr>
              <a:t>2. Clarify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2CA3683-68D7-400C-AEA5-BB031BE3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The interface now asks for material, size, budget and locality only when needed.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7C81916-6574-42FB-B41A-5090515F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C6EDB80-AF40-4072-85C4-A6117BE2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7B2ED58-BADC-4D18-87AF-018642D5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A81602C-F93A-408E-8434-67D4AA79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81125"/>
            <a:ext cx="2571750" cy="2762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D5152C2-68C3-426C-9107-0B60214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788E8"/>
                </a:solidFill>
              </a:defRPr>
            </a:pPr>
            <a:r>
              <a:rPr sz="1650" b="1">
                <a:solidFill>
                  <a:srgbClr val="3788E8"/>
                </a:solidFill>
              </a:rPr>
              <a:t>3. Explain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5C7435E-C09E-4710-98DE-17F67315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977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Results connect each recommendation to evidence, calculations and remaining uncertainty.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5567A66-C625-469A-83C4-2E1723F6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B8F26C7-F353-41E8-A061-DFF6B82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33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D1B081F-7BC4-491A-AC3C-12153C7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19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96365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A5015F48-7E3E-4321-82A4-E428382A1F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6414b019e2411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72ABDCCA-B994-4507-A637-5840EA6ED8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eb5e9a62a44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415898DB-7868-49E9-ADE5-322EEE3F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1502D0AC-6452-4A8D-AE42-FB5D8082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Proposed Google-hosted architecture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7CD494-AC11-4479-8486-B3EA9DAC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React + TypeScript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shadcn/ui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3B0474C-7CFE-42A6-BFF7-37EF9051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Firebase Hosting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3480F6-2F1A-4AFA-ACBD-4CA13074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Auth + App Check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7B6200-E651-4B4F-AB0D-E5E94621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Cloud Firestore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9B47DC-0C17-4A27-892C-48EE6171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Firebase AI Logic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97428FC-6526-47C2-8323-3F223F75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Gemini Developer API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41BB73-09D6-49F3-8385-20D7F4AB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28825"/>
            <a:ext cx="333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0BA0AE2-B4C0-4FDD-B7B0-EB7DB814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28825"/>
            <a:ext cx="333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C2301B8-9868-4EE4-8F3C-A7DCC99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288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D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D7765C6-4ED5-4462-8CB7-0C00508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2857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AAB09C4-6E08-4342-936A-EA642A7A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Deterministic app code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D2B8F65-A847-491E-AB05-DD429858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909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Quantity, area and price calculations remain outside the model.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41BA87D-AC1B-4FAB-9156-B4F686B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86273"/>
                </a:solidFill>
              </a:defRPr>
            </a:pPr>
            <a:r>
              <a:rPr sz="1050" b="0">
                <a:solidFill>
                  <a:srgbClr val="586273"/>
                </a:solidFill>
              </a:rPr>
              <a:t>No Cloud Storage, Cloud Functions, Cloud Run or Vertex AI in the zero-billing design.</a:t>
            </a:r>
          </a:p>
        </p:txBody>
      </p:sp>
    </p:spTree>
    <p:extLst>
      <p:ext uri="{BB962C8B-B14F-4D97-AF65-F5344CB8AC3E}">
        <p14:creationId xmlns:p14="http://schemas.microsoft.com/office/powerpoint/2010/main" val="17377780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6BF7402A-56DA-478C-9D43-D830AEDBE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88e4dae9ca48c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CE45B79E-D2F6-47E1-9244-875E3531FD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863446cbd44c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63523596-64AE-497E-B3BA-A329B7C7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666D5C72-A4BC-4964-849E-D8412DA9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Technology choices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D34D1C0-365D-43DB-813F-EDBD028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Frontend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E6F3CC3-0EFD-404E-BB91-D36FD5C0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763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React 19, TypeScript, Vite 8, Tailwind CSS and shadcn/ui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8EE47F2-3583-4904-A72F-CF97E219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Google services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18596AE-4F9F-4629-AC01-6B462391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66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Firebase Hosting, Firestore, anonymous Authentication and App Check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442298A-0C21-4FBE-B85E-D40CFF3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788E8"/>
                </a:solidFill>
              </a:defRPr>
            </a:pPr>
            <a:r>
              <a:rPr sz="1350" b="1">
                <a:solidFill>
                  <a:srgbClr val="3788E8"/>
                </a:solidFill>
              </a:rPr>
              <a:t>AI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405ABFA-4BF5-4CC5-8F54-A08CD7BF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575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Firebase AI Logic with the Gemini Developer API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4E4DA50-7A6C-4077-B071-D11B664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041D9"/>
                </a:solidFill>
              </a:defRPr>
            </a:pPr>
            <a:r>
              <a:rPr sz="1350" b="1">
                <a:solidFill>
                  <a:srgbClr val="7041D9"/>
                </a:solidFill>
              </a:rPr>
              <a:t>Quality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04BB2F-D2F4-4710-8E22-6907A468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481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Vitest, production builds and browser-based journey checks</a:t>
            </a:r>
          </a:p>
        </p:txBody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F3D337-22E9-4A52-B884-7D9E61A5B7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3fe80f6af45fa"/>
          <a:stretch xmlns:a="http://schemas.openxmlformats.org/drawingml/2006/main"/>
        </p:blipFill>
        <p:spPr>
          <a:xfrm xmlns:a="http://schemas.openxmlformats.org/drawingml/2006/main">
            <a:off x="7096125" y="1910137"/>
            <a:ext cx="1619250" cy="1704225"/>
          </a:xfrm>
          <a:prstGeom xmlns:a="http://schemas.openxmlformats.org/drawingml/2006/main" prst="rect">
            <a:avLst/>
          </a:prstGeom>
        </p:spPr>
      </p:pic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7E62FA0-B6CA-4107-802B-487307F1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8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86273"/>
                </a:solidFill>
              </a:defRPr>
            </a:pPr>
            <a:r>
              <a:rPr sz="1125" b="1">
                <a:solidFill>
                  <a:srgbClr val="586273"/>
                </a:solidFill>
              </a:rPr>
              <a:t>Open-source UI foundation: shadcn/ui (MIT)</a:t>
            </a:r>
          </a:p>
        </p:txBody>
      </p:sp>
    </p:spTree>
    <p:extLst>
      <p:ext uri="{BB962C8B-B14F-4D97-AF65-F5344CB8AC3E}">
        <p14:creationId xmlns:p14="http://schemas.microsoft.com/office/powerpoint/2010/main" val="11139336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3FCA01ED-9076-45C8-A87F-A0ACEAED6C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25728f96ef41e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655461EF-9784-4069-B14A-563761C26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27723ce2e43f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396DDF53-1745-47ED-AB5B-5F628895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7DB2828D-BED0-4E09-80A6-1111EEF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Implementation cost target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488BCE3-9316-4DEC-A27E-80D1248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The prototype is designed to run without paid infrastructure during the competition.</a:t>
            </a:r>
          </a:p>
        </p:txBody>
      </p:sp>
      <p:graphicFrame>
        <p:nvGraphicFrame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51B8C1-44AE-4DF3-8E34-317DE864F1DB}"/>
              </a:ext>
            </a:extLst>
          </p:cNvPr>
          <p:cNvGraphicFramePr/>
          <p:nvPr/>
        </p:nvGraphicFramePr>
        <p:xfrm>
          <a:off xmlns:a="http://schemas.openxmlformats.org/drawingml/2006/main" x="523875" y="2000250"/>
          <a:ext xmlns:a="http://schemas.openxmlformats.org/drawingml/2006/main" cx="8096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8750"/>
                <a:gridCol w="2698750"/>
                <a:gridCol w="2698750"/>
              </a:tblGrid>
              <a:tr h="428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Planned tier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Competition cost target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Firebase Hosting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Spark / unbilled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Firestore + anonymous Auth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Free quota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Firebase AI Logic + Gemini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Free developer quota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Frontend libraries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Open source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</a:rPr>
                        <a:t>₹0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3795FCB-F47E-4667-B9F4-FD233DBD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A6700"/>
                </a:solidFill>
              </a:defRPr>
            </a:pPr>
            <a:r>
              <a:rPr sz="1050" b="1">
                <a:solidFill>
                  <a:srgbClr val="9A6700"/>
                </a:solidFill>
              </a:rPr>
              <a:t>Cost and capacity depend on current quotas and event rules. Verify both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248840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EBC1DB35-CB6A-49E6-A71A-5596EDF72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21ccf9bc75441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1719D5FF-7B80-4C4A-81D2-3C6C431FF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8188f5a7e41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539A3D8B-916E-49AF-A196-EEF54401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ABA0FB2E-D95D-4AE6-8F35-450A165C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snapshot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FCBEBD-BA44-439A-9974-D4DC076B79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b24b1446f49c4"/>
          <a:stretch xmlns:a="http://schemas.openxmlformats.org/drawingml/2006/main"/>
        </p:blipFill>
        <p:spPr>
          <a:xfrm xmlns:a="http://schemas.openxmlformats.org/drawingml/2006/main">
            <a:off x="1474690" y="1285875"/>
            <a:ext cx="6194621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A665579-C0EA-4CE1-957C-B9C43546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788E8"/>
                </a:solidFill>
              </a:defRPr>
            </a:pPr>
            <a:r>
              <a:rPr sz="1050" b="1">
                <a:solidFill>
                  <a:srgbClr val="3788E8"/>
                </a:solidFill>
              </a:rPr>
              <a:t>Confirmed project brief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0720F85-6B95-4B2D-9468-CD47D35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7041D9"/>
                </a:solidFill>
              </a:defRPr>
            </a:pPr>
            <a:r>
              <a:rPr sz="1050" b="1">
                <a:solidFill>
                  <a:srgbClr val="7041D9"/>
                </a:solidFill>
              </a:rPr>
              <a:t>Inventory-backed matches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D473A97-EE6D-49EA-B27B-20989DBE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3788E8"/>
                </a:solidFill>
              </a:defRPr>
            </a:pPr>
            <a:r>
              <a:rPr sz="1050" b="1">
                <a:solidFill>
                  <a:srgbClr val="3788E8"/>
                </a:solidFill>
              </a:rPr>
              <a:t>Saved-plan workflow</a:t>
            </a:r>
          </a:p>
        </p:txBody>
      </p:sp>
    </p:spTree>
    <p:extLst>
      <p:ext uri="{BB962C8B-B14F-4D97-AF65-F5344CB8AC3E}">
        <p14:creationId xmlns:p14="http://schemas.microsoft.com/office/powerpoint/2010/main" val="21204555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2660A8AB-41B5-442E-AFBC-9CF6EC062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569f1391d1491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323FFCA2-8ECF-4128-A897-0E63782FD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ba12911dc401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B3566433-BCB9-4ABF-A864-2AA73BC5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B8344227-57FD-4C2D-A0FF-3E13D2E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checks and benchmarks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graphicFrame>
        <p:nvGraphicFrame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A5767BD-6460-4444-92F1-A97CAEF71CA6}"/>
              </a:ext>
            </a:extLst>
          </p:cNvPr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8286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1688"/>
                <a:gridCol w="2071688"/>
                <a:gridCol w="2071688"/>
                <a:gridCol w="2071688"/>
              </a:tblGrid>
              <a:tr h="39885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 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Next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Production build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Capture dated build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Matching tests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6 of 6 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Retain test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Owner + finder journeys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Browser checked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Record full flows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Desktop + 390 px mobile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Visually inspected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Capture final deployed views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77245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E7F6EC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Task completion 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Not measured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5+ attempts per journey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Match relevance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Not measured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10+ project briefs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AI latency + claim audit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Live AI pending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827"/>
                          </a:solidFill>
                        </a:rPr>
                        <a:t>10+ calls; audit 30+ claims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9A6700"/>
                          </a:solidFill>
                        </a:rPr>
                        <a:t>Required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EE8"/>
                      </a:solidFill>
                      <a:prstDash val="solid"/>
                    </a:lnR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4CE"/>
                    </a:solidFill>
                  </a:tcPr>
                </a:tc>
              </a:tr>
            </a:tbl>
          </a:graphicData>
        </a:graphic>
      </p:graphicFrame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BDB0BED-A596-4FFB-AA08-50B073F8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86273"/>
                </a:solidFill>
              </a:defRPr>
            </a:pPr>
            <a:r>
              <a:rPr sz="1050" b="1">
                <a:solidFill>
                  <a:srgbClr val="586273"/>
                </a:solidFill>
              </a:rPr>
              <a:t>Targets never appear as measured results. The final deck should use dated evidence from the deployed build.</a:t>
            </a:r>
          </a:p>
        </p:txBody>
      </p:sp>
    </p:spTree>
    <p:extLst>
      <p:ext uri="{BB962C8B-B14F-4D97-AF65-F5344CB8AC3E}">
        <p14:creationId xmlns:p14="http://schemas.microsoft.com/office/powerpoint/2010/main" val="6930039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C3BA2B21-D2F1-4360-A60D-462D60BE9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0194cc9e5e485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4E435FC8-C8DB-48C9-933C-5C1FD3DA1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0e4764f6d4bf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432E043B-AE9E-4186-AF6F-D99E87A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982D8D29-D9FB-4389-B3A6-88BA7215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Development roadmap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1BF1EF6-F16B-4163-889D-63E8A391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D9F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C22C671-2D24-4430-8D4C-77F855F2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5D9F0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D9F0"/>
                </a:solidFill>
              </a:defRPr>
            </a:pPr>
            <a:r>
              <a:rPr sz="2550" b="1">
                <a:solidFill>
                  <a:srgbClr val="25D9F0"/>
                </a:solidFill>
              </a:rPr>
              <a:t>01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DA7DBEC-4631-482F-850E-01E99B2B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Before submission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FDEB9B0-BE8F-40B0-8A92-A601F182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Connect live Gemini calls, finish Firebase persistence and security rules, deploy publicly, and record evidence.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63E4FA6-D2B2-43EE-807E-945F918C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457CD43-AC5C-4795-B48F-F1F18B0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788E8"/>
                </a:solidFill>
              </a:defRPr>
            </a:pPr>
            <a:r>
              <a:rPr sz="2550" b="1">
                <a:solidFill>
                  <a:srgbClr val="3788E8"/>
                </a:solidFill>
              </a:rPr>
              <a:t>02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36C368B-11D0-4DBF-B810-FBF4443E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Pilot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76DCBAF-619D-4B1F-BE79-FB9AF7C3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Run a locality-based trial, measure successful matches, and improve dimension and condition confidence.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72AA5F9-9A44-46DE-B7F3-BC37DF58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76375"/>
            <a:ext cx="2571750" cy="2714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6D6D5F3-E818-48D9-A3B6-110EE91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66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041D9"/>
                </a:solidFill>
              </a:defRPr>
            </a:pPr>
            <a:r>
              <a:rPr sz="2550" b="1">
                <a:solidFill>
                  <a:srgbClr val="7041D9"/>
                </a:solidFill>
              </a:rPr>
              <a:t>03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DF04058-5DA1-4497-9452-FE882CF9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86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After validation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DDD8B45-3D3D-48D6-B6C0-BDDEFD6E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00375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273"/>
                </a:solidFill>
              </a:defRPr>
            </a:pPr>
            <a:r>
              <a:rPr sz="1125" b="0">
                <a:solidFill>
                  <a:srgbClr val="586273"/>
                </a:solidFill>
              </a:rPr>
              <a:t>Add owner and finder feedback, improve pickup reliability, and expand material coverage with clear safety limits.</a:t>
            </a:r>
          </a:p>
        </p:txBody>
      </p:sp>
    </p:spTree>
    <p:extLst>
      <p:ext uri="{BB962C8B-B14F-4D97-AF65-F5344CB8AC3E}">
        <p14:creationId xmlns:p14="http://schemas.microsoft.com/office/powerpoint/2010/main" val="440631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1307B5F5-3326-4570-8547-F69846856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0bed45b90f40d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F2E05075-BD27-4B4F-91BB-D528AADEC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0dd5579cd491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AA33C3BB-A984-4693-96E9-60EEC4F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5F6339B-831E-4FE0-98F0-538A9D00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sz="16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Submission links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1450C07-B650-43BC-9AE4-9C8ED12D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E7F6E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67AA771-B857-41D2-9AB6-2516209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97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7245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7245"/>
                </a:solidFill>
              </a:defRPr>
            </a:pPr>
            <a:r>
              <a:rPr sz="1200" b="1">
                <a:solidFill>
                  <a:srgbClr val="177245"/>
                </a:solidFill>
              </a:rPr>
              <a:t>Public GitHub repository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8B20AEF-FAD6-4317-B183-48874910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https://github.com/abhishekm0892/AIBuilderCup2026/tree/main/resource-app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D2225E3-7008-403F-B165-94F18CAC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FFF4CE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C4400C5-8894-42A2-BE19-D60F4EF4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A6700"/>
                </a:solidFill>
              </a:defRPr>
            </a:pPr>
            <a:r>
              <a:rPr sz="1200" b="1">
                <a:solidFill>
                  <a:srgbClr val="9A6700"/>
                </a:solidFill>
              </a:rPr>
              <a:t>Three-minute demo video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AC19A1A-571B-41AC-AE35-5BB60EE7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ADD PUBLIC VIDEO URL BEFORE SUBMISSION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97AD7D8-AD75-4984-B76A-4FD5DECD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E7F6EC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D4C13AF-1E48-489A-B67C-68F1C8E6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7245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7245"/>
                </a:solidFill>
              </a:defRPr>
            </a:pPr>
            <a:r>
              <a:rPr sz="1200" b="1">
                <a:solidFill>
                  <a:srgbClr val="177245"/>
                </a:solidFill>
              </a:rPr>
              <a:t>Final product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F4E4603-A53D-4F7F-B1C3-23B5574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https://recursive-minds-submission-430351890694.asia-south1.run.app/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D28DA1E-725B-42F7-BAEF-E45E7D5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586273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86273"/>
                </a:solidFill>
              </a:defRPr>
            </a:pPr>
            <a:r>
              <a:rPr sz="1050" b="1">
                <a:solidFill>
                  <a:srgbClr val="586273"/>
                </a:solidFill>
              </a:rPr>
              <a:t>Test every link while signed out before uploading the final deck.</a:t>
            </a:r>
          </a:p>
        </p:txBody>
      </p:sp>
    </p:spTree>
    <p:extLst>
      <p:ext uri="{BB962C8B-B14F-4D97-AF65-F5344CB8AC3E}">
        <p14:creationId xmlns:p14="http://schemas.microsoft.com/office/powerpoint/2010/main" val="10503053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B337CAFB-96B5-4F8C-AF13-F0EF825E77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6c8b727b9c4fb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4795F39D-F4FA-4520-A056-6E5B87B044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8a2f2f6b446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851F6AC5-6C71-4E7F-90A3-0A9754BD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3E4F5B1-6C92-40E7-AC83-EEB1CBC2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00" b="1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111827"/>
                </a:solidFill>
              </a:defRPr>
            </a:pPr>
            <a:r>
              <a:rPr sz="1600" b="1">
                <a:solidFill>
                  <a:srgbClr val="111827"/>
                </a:solidFill>
              </a:rPr>
              <a:t>AI contribution and trust boundaries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2984EC1-E6F2-4529-8A2A-976CE6CF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8100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CFBFD"/>
          </a:solidFill>
          <a:ln xmlns:a="http://schemas.openxmlformats.org/drawingml/2006/main" w="9525">
            <a:solidFill>
              <a:srgbClr val="3788E8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0110D73-D668-4DD9-A4E8-0DE975E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3788E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788E8"/>
                </a:solidFill>
              </a:defRPr>
            </a:pPr>
            <a:r>
              <a:rPr sz="1725" b="1">
                <a:solidFill>
                  <a:srgbClr val="3788E8"/>
                </a:solidFill>
              </a:rPr>
              <a:t>AI assists with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A1B65C7-B0D8-44D2-BB19-C7D7559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90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A033082-7AB4-4389-83A2-69A7567E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81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Photo-to-listing suggestions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647FBC5-A718-4A91-B762-41DABAA7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8040B22-DFD0-4C13-93AD-F40A8AE8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76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Project brief to structured requirements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CC85B6F-F6B6-499A-924F-291ACC42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ADAC9A8-F6B8-4969-A87F-01E5217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71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Plain-language match explanations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457F104-6559-4C14-99D5-83506F6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8100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1ECFC"/>
          </a:solidFill>
          <a:ln xmlns:a="http://schemas.openxmlformats.org/drawingml/2006/main" w="9525">
            <a:solidFill>
              <a:srgbClr val="7041D9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35AF9BA-ECB0-4DAE-ACB5-9F4DE192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7041D9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041D9"/>
                </a:solidFill>
              </a:defRPr>
            </a:pPr>
            <a:r>
              <a:rPr sz="1725" b="1">
                <a:solidFill>
                  <a:srgbClr val="7041D9"/>
                </a:solidFill>
              </a:rPr>
              <a:t>The product controls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820D04A-DC1D-468F-959F-A3282D5B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90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9AFBFF9-7192-461D-9024-2849511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81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Owner confirmation before publishing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C9290FB-E033-4997-ACD2-65761D4A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09DCFA9-CAE5-40DE-A61C-F31EC5F8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765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Inventory-only evidence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A3AE81C-C95C-405A-A81D-B57AA864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81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96E5132-6C72-4FEF-B83B-BF55013A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71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Deterministic quantity, area and price calculations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83948B-D6EE-4987-B825-DCF97AC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76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41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25BB49C-39D1-4107-8120-707BA116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Manual fallback when AI is unavailable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AA25C90-9CDF-470B-86A0-BDEACD13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1">
                <a:solidFill>
                  <a:srgbClr val="9A6700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A6700"/>
                </a:solidFill>
              </a:defRPr>
            </a:pPr>
            <a:r>
              <a:rPr sz="1050" b="1">
                <a:solidFill>
                  <a:srgbClr val="9A6700"/>
                </a:solidFill>
              </a:rPr>
              <a:t>The submission should describe live AI only after Gemini access and end-to-end behavior are verified.</a:t>
            </a:r>
          </a:p>
        </p:txBody>
      </p:sp>
    </p:spTree>
    <p:extLst>
      <p:ext uri="{BB962C8B-B14F-4D97-AF65-F5344CB8AC3E}">
        <p14:creationId xmlns:p14="http://schemas.microsoft.com/office/powerpoint/2010/main" val="8445798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6D936367-3C30-4873-8324-98C6CCB97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c981eeacf945b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22DB4D01-C06C-4304-A967-BE68AED42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a634d5f8a45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7755679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2026-10-17T08:13:50.4250000Z</dcterms:created>
  <dcterms:modified xsi:type="dcterms:W3CDTF">2026-10-17T08:13:50.4260000Z</dcterms:modified>
</coreProperties>
</file>